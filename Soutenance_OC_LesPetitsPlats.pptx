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10"/>
  </p:normalViewPr>
  <p:slideViewPr>
    <p:cSldViewPr snapToGrid="0" snapToObjects="1">
      <p:cViewPr varScale="1">
        <p:scale>
          <a:sx n="146" d="100"/>
          <a:sy n="146" d="100"/>
        </p:scale>
        <p:origin x="13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1431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Bonjour, </a:t>
            </a:r>
            <a:r>
              <a:rPr lang="en-US" dirty="0" err="1"/>
              <a:t>aujourd’hui</a:t>
            </a:r>
            <a:r>
              <a:rPr lang="en-US" dirty="0"/>
              <a:t> je </a:t>
            </a:r>
            <a:r>
              <a:rPr lang="en-US" dirty="0" err="1"/>
              <a:t>vais</a:t>
            </a:r>
            <a:r>
              <a:rPr lang="en-US" dirty="0"/>
              <a:t> vous </a:t>
            </a:r>
            <a:r>
              <a:rPr lang="en-US" dirty="0" err="1"/>
              <a:t>présenter</a:t>
            </a:r>
            <a:r>
              <a:rPr lang="en-US" dirty="0"/>
              <a:t> le </a:t>
            </a:r>
            <a:r>
              <a:rPr lang="en-US" dirty="0" err="1"/>
              <a:t>projet</a:t>
            </a:r>
            <a:r>
              <a:rPr lang="en-US" dirty="0"/>
              <a:t> 7 : Les Petits Plats. La </a:t>
            </a:r>
            <a:r>
              <a:rPr lang="en-US" dirty="0" err="1"/>
              <a:t>soutenance</a:t>
            </a:r>
            <a:r>
              <a:rPr lang="en-US" dirty="0"/>
              <a:t> est </a:t>
            </a:r>
            <a:r>
              <a:rPr lang="en-US" dirty="0" err="1"/>
              <a:t>organisée</a:t>
            </a:r>
            <a:r>
              <a:rPr lang="en-US" dirty="0"/>
              <a:t> </a:t>
            </a:r>
            <a:r>
              <a:rPr lang="en-US" dirty="0" err="1"/>
              <a:t>selon</a:t>
            </a:r>
            <a:r>
              <a:rPr lang="en-US" dirty="0"/>
              <a:t> la </a:t>
            </a:r>
            <a:r>
              <a:rPr lang="en-US" dirty="0" err="1"/>
              <a:t>consigne</a:t>
            </a:r>
            <a:r>
              <a:rPr lang="en-US" dirty="0"/>
              <a:t> : cinq minutes pour </a:t>
            </a:r>
            <a:r>
              <a:rPr lang="en-US" dirty="0" err="1"/>
              <a:t>expliquer</a:t>
            </a:r>
            <a:r>
              <a:rPr lang="en-US" dirty="0"/>
              <a:t> la </a:t>
            </a:r>
            <a:r>
              <a:rPr lang="en-US" dirty="0" err="1"/>
              <a:t>décomposition</a:t>
            </a:r>
            <a:r>
              <a:rPr lang="en-US" dirty="0"/>
              <a:t> avec la fiche </a:t>
            </a:r>
            <a:r>
              <a:rPr lang="en-US" dirty="0" err="1"/>
              <a:t>d’investigation</a:t>
            </a:r>
            <a:r>
              <a:rPr lang="en-US" dirty="0"/>
              <a:t>, </a:t>
            </a:r>
            <a:r>
              <a:rPr lang="en-US" dirty="0" err="1"/>
              <a:t>puis</a:t>
            </a:r>
            <a:r>
              <a:rPr lang="en-US" dirty="0"/>
              <a:t> dix à quinze minutes pour </a:t>
            </a:r>
            <a:r>
              <a:rPr lang="en-US" dirty="0" err="1"/>
              <a:t>montrer</a:t>
            </a:r>
            <a:r>
              <a:rPr lang="en-US" dirty="0"/>
              <a:t> </a:t>
            </a:r>
            <a:r>
              <a:rPr lang="en-US" dirty="0" err="1"/>
              <a:t>l’application</a:t>
            </a:r>
            <a:r>
              <a:rPr lang="en-US" dirty="0"/>
              <a:t> et justifier le </a:t>
            </a:r>
            <a:r>
              <a:rPr lang="en-US" dirty="0" err="1"/>
              <a:t>moteur</a:t>
            </a:r>
            <a:r>
              <a:rPr lang="en-US" dirty="0"/>
              <a:t> de recherche </a:t>
            </a:r>
            <a:r>
              <a:rPr lang="en-US" dirty="0" err="1"/>
              <a:t>retenu</a:t>
            </a:r>
            <a:r>
              <a:rPr lang="en-US"/>
              <a:t> avec des chiffres.</a:t>
            </a:r>
          </a:p>
          <a:p>
            <a:endParaRPr lang="fr-FR" dirty="0"/>
          </a:p>
        </p:txBody>
      </p:sp>
    </p:spTree>
    <p:extLst>
      <p:ext uri="{BB962C8B-B14F-4D97-AF65-F5344CB8AC3E}">
        <p14:creationId xmlns:p14="http://schemas.microsoft.com/office/powerpoint/2010/main" val="1730805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 par une partie investigation : besoin, critères, contraintes et algorithmes. Ensuite je passe à la démonstration de l’application puis aux chiffres du benchmark pour justifier la version retenue.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fiche d’investigation part du besoin utilisateur : retrouver une recette rapidement. J’ai transformé ce besoin en critères de recherche et en contraintes techniques : rapidité, pertinence, synchronisation des tags et maintenabilité du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essentiel est que les deux systèmes se combinent. Si l’utilisateur tape un mot-clé puis ajoute un tag, la liste affichée doit respecter les deux critères. La difficulté du projet est donc la synchronisation entre recherche, tags et affichage.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Ici je montre que je ne suis pas parti directement dans le code. La fiche m’a aidé à définir une séquence claire : récupérer les recettes, appliquer la recherche principale, appliquer les tags, puis afficher seulement les recettes compatibles.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comparé deux approches. La première utilise les méthodes avancées comme filter, every et some. La seconde utilise des boucles natives comme for et while. Le benchmark montre que la version avec boucles est la plus rapide, donc c’est celle que je retiens.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la démo, je peux expliquer l’architecture. Les fichiers ont des responsabilités séparées : données, recherche, tags et affichage. C’est important parce que la consigne n’évalue pas seulement le rendu, mais aussi la capacité à expliquer une organisation technique maintenable.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que la comparaison soit fiable, j’ai isolé les fonctions de recherche. J’ai exclu le DOM et l’affichage, car sinon on mesurerait aussi le rendu visuel. La métrique retenue est le nombre d’opérations par seconde.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résultats du benchmark que j’ai obtenu. Les deux versions retournent exactement les mêmes recettes. Sur les scénarios testés, la version avec boucles natives est environ 17 à 18 % plus rapide en moyenne. L’écart est faible sur une recherche simple, mais plus visible sur les filtres avancés. Je retiens donc l’Option 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code, les boucles permettent de contrôler précisément le parcours. Dès qu’une recette correspond, on peut éviter des vérifications inutiles. Cette version est un peu moins compacte, mais elle est validée par le benchmark et elle retourne les mêmes résultats que l’autre approche.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Pendant la démo, je reste simple. Je tape par exemple poulet ou coco, j’ajoute un tag, je le retire, puis je vide la recherche. Je termine en expliquant que la recherche, les tags et les cartes restent synchronisés.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sert à enrichir l’oral. Je peux expliquer la difficulté principale : la synchronisation. Je peux aussi valoriser l’architecture et proposer des améliorations futures comme une API, une indexation, une pagination ou du lazy loading.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ce projet m’a permis de suivre une démarche complète : analyser un besoin utilisateur, décomposer la problématique avec la fiche d’investigation, développer deux solutions, puis justifier la version retenue avec des mesures de performance. Merci pour votre attention, je suis disponible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est une annexe. Je ne la présente pas forcément dans le temps principal. Elle sert à répondre vite aux questions du jury, notamment sur le choix de l’Option B avec boucles natives.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timing est une aide pour l’entraînement. L’objectif est de tenir environ 15 minutes, mais de garder une marge pour les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5EA"/>
        </a:solidFill>
        <a:effectLst/>
      </p:bgPr>
    </p:bg>
    <p:spTree>
      <p:nvGrpSpPr>
        <p:cNvPr id="1" name=""/>
        <p:cNvGrpSpPr/>
        <p:nvPr/>
      </p:nvGrpSpPr>
      <p:grpSpPr>
        <a:xfrm>
          <a:off x="0" y="0"/>
          <a:ext cx="0" cy="0"/>
          <a:chOff x="0" y="0"/>
          <a:chExt cx="0" cy="0"/>
        </a:xfrm>
      </p:grpSpPr>
      <p:pic>
        <p:nvPicPr>
          <p:cNvPr id="20" name="Image 0">
            <a:extLst>
              <a:ext uri="{FF2B5EF4-FFF2-40B4-BE49-F238E27FC236}">
                <a16:creationId xmlns:a16="http://schemas.microsoft.com/office/drawing/2014/main" id="{AA43E1AE-9DE8-936F-8BC5-583F3183B6B0}"/>
              </a:ext>
              <a:ext uri="{C183D7F6-B498-43B3-948B-1728B52AA6E4}">
                <adec:decorative xmlns:adec="http://schemas.microsoft.com/office/drawing/2017/decorative" val="1"/>
              </a:ext>
            </a:extLst>
          </p:cNvPr>
          <p:cNvPicPr>
            <a:picLocks noChangeAspect="1"/>
          </p:cNvPicPr>
          <p:nvPr/>
        </p:nvPicPr>
        <p:blipFill>
          <a:blip r:embed="rId3"/>
          <a:srcRect l="8828" r="8828"/>
          <a:stretch/>
        </p:blipFill>
        <p:spPr>
          <a:xfrm>
            <a:off x="0" y="0"/>
            <a:ext cx="12191695" cy="6858000"/>
          </a:xfrm>
          <a:prstGeom prst="rect">
            <a:avLst/>
          </a:prstGeom>
        </p:spPr>
      </p:pic>
      <p:sp>
        <p:nvSpPr>
          <p:cNvPr id="21" name="Shape 0">
            <a:extLst>
              <a:ext uri="{FF2B5EF4-FFF2-40B4-BE49-F238E27FC236}">
                <a16:creationId xmlns:a16="http://schemas.microsoft.com/office/drawing/2014/main" id="{C832C287-FB49-8C4B-BD08-207DA7F4623B}"/>
              </a:ext>
            </a:extLst>
          </p:cNvPr>
          <p:cNvSpPr/>
          <p:nvPr/>
        </p:nvSpPr>
        <p:spPr>
          <a:xfrm>
            <a:off x="0" y="0"/>
            <a:ext cx="12191695" cy="6858000"/>
          </a:xfrm>
          <a:prstGeom prst="rect">
            <a:avLst/>
          </a:prstGeom>
          <a:solidFill>
            <a:srgbClr val="101827">
              <a:alpha val="78000"/>
            </a:srgbClr>
          </a:solidFill>
          <a:ln w="12700">
            <a:solidFill>
              <a:srgbClr val="333333">
                <a:alpha val="0"/>
              </a:srgbClr>
            </a:solidFill>
            <a:prstDash val="solid"/>
          </a:ln>
        </p:spPr>
      </p:sp>
      <p:sp>
        <p:nvSpPr>
          <p:cNvPr id="22" name="Shape 1">
            <a:extLst>
              <a:ext uri="{FF2B5EF4-FFF2-40B4-BE49-F238E27FC236}">
                <a16:creationId xmlns:a16="http://schemas.microsoft.com/office/drawing/2014/main" id="{C51F289C-208D-55FF-3C45-3AED081B5045}"/>
              </a:ext>
            </a:extLst>
          </p:cNvPr>
          <p:cNvSpPr/>
          <p:nvPr/>
        </p:nvSpPr>
        <p:spPr>
          <a:xfrm>
            <a:off x="685800" y="1234440"/>
            <a:ext cx="5394960" cy="4069080"/>
          </a:xfrm>
          <a:prstGeom prst="roundRect">
            <a:avLst>
              <a:gd name="adj" fmla="val 4045"/>
            </a:avLst>
          </a:prstGeom>
          <a:solidFill>
            <a:srgbClr val="FFFFFF"/>
          </a:solidFill>
          <a:ln w="12700">
            <a:solidFill>
              <a:srgbClr val="FFFFFF"/>
            </a:solidFill>
            <a:prstDash val="solid"/>
          </a:ln>
        </p:spPr>
      </p:sp>
      <p:pic>
        <p:nvPicPr>
          <p:cNvPr id="23" name="Image 1" descr="/mnt/data/projet7_extracted/Projet7/images/Logo.png">
            <a:extLst>
              <a:ext uri="{FF2B5EF4-FFF2-40B4-BE49-F238E27FC236}">
                <a16:creationId xmlns:a16="http://schemas.microsoft.com/office/drawing/2014/main" id="{F3C30BCB-4058-1000-7521-8D770AAA00AB}"/>
              </a:ext>
            </a:extLst>
          </p:cNvPr>
          <p:cNvPicPr>
            <a:picLocks noChangeAspect="1"/>
          </p:cNvPicPr>
          <p:nvPr/>
        </p:nvPicPr>
        <p:blipFill>
          <a:blip r:embed="rId4"/>
          <a:stretch>
            <a:fillRect/>
          </a:stretch>
        </p:blipFill>
        <p:spPr>
          <a:xfrm>
            <a:off x="987552" y="1572768"/>
            <a:ext cx="2331720" cy="292608"/>
          </a:xfrm>
          <a:prstGeom prst="rect">
            <a:avLst/>
          </a:prstGeom>
        </p:spPr>
      </p:pic>
      <p:sp>
        <p:nvSpPr>
          <p:cNvPr id="24" name="Text 2">
            <a:extLst>
              <a:ext uri="{FF2B5EF4-FFF2-40B4-BE49-F238E27FC236}">
                <a16:creationId xmlns:a16="http://schemas.microsoft.com/office/drawing/2014/main" id="{84A66FDB-045C-07AC-4487-12BE7B0B7152}"/>
              </a:ext>
            </a:extLst>
          </p:cNvPr>
          <p:cNvSpPr/>
          <p:nvPr/>
        </p:nvSpPr>
        <p:spPr>
          <a:xfrm>
            <a:off x="987552" y="2057400"/>
            <a:ext cx="2743200" cy="228600"/>
          </a:xfrm>
          <a:prstGeom prst="rect">
            <a:avLst/>
          </a:prstGeom>
          <a:noFill/>
          <a:ln/>
        </p:spPr>
        <p:txBody>
          <a:bodyPr wrap="square" lIns="0" tIns="0" rIns="0" bIns="0" rtlCol="0" anchor="ctr"/>
          <a:lstStyle/>
          <a:p>
            <a:pPr marL="0" indent="0">
              <a:buNone/>
            </a:pPr>
            <a:r>
              <a:rPr lang="en-US" sz="1000" b="1" dirty="0">
                <a:solidFill>
                  <a:srgbClr val="F97316"/>
                </a:solidFill>
              </a:rPr>
              <a:t>Projet 7</a:t>
            </a:r>
            <a:endParaRPr lang="en-US" sz="1000" dirty="0"/>
          </a:p>
        </p:txBody>
      </p:sp>
      <p:sp>
        <p:nvSpPr>
          <p:cNvPr id="25" name="Text 3">
            <a:extLst>
              <a:ext uri="{FF2B5EF4-FFF2-40B4-BE49-F238E27FC236}">
                <a16:creationId xmlns:a16="http://schemas.microsoft.com/office/drawing/2014/main" id="{664D1D49-E61E-CA5B-704E-E50326309419}"/>
              </a:ext>
            </a:extLst>
          </p:cNvPr>
          <p:cNvSpPr/>
          <p:nvPr/>
        </p:nvSpPr>
        <p:spPr>
          <a:xfrm>
            <a:off x="987552" y="2450592"/>
            <a:ext cx="4389120" cy="685800"/>
          </a:xfrm>
          <a:prstGeom prst="rect">
            <a:avLst/>
          </a:prstGeom>
          <a:noFill/>
          <a:ln/>
        </p:spPr>
        <p:txBody>
          <a:bodyPr wrap="square" lIns="0" tIns="0" rIns="0" bIns="0" rtlCol="0" anchor="ctr"/>
          <a:lstStyle/>
          <a:p>
            <a:pPr marL="0" indent="0">
              <a:buNone/>
            </a:pPr>
            <a:r>
              <a:rPr lang="en-US" sz="3400" b="1" dirty="0">
                <a:solidFill>
                  <a:srgbClr val="101827"/>
                </a:solidFill>
                <a:latin typeface="Aptos Display" pitchFamily="34" charset="0"/>
                <a:ea typeface="Aptos Display" pitchFamily="34" charset="-122"/>
                <a:cs typeface="Aptos Display" pitchFamily="34" charset="-120"/>
              </a:rPr>
              <a:t>Les Petits Plats</a:t>
            </a:r>
            <a:endParaRPr lang="en-US" sz="3400" dirty="0"/>
          </a:p>
        </p:txBody>
      </p:sp>
      <p:sp>
        <p:nvSpPr>
          <p:cNvPr id="26" name="Text 4">
            <a:extLst>
              <a:ext uri="{FF2B5EF4-FFF2-40B4-BE49-F238E27FC236}">
                <a16:creationId xmlns:a16="http://schemas.microsoft.com/office/drawing/2014/main" id="{A1A835CA-2991-DABE-7457-4A570AD13263}"/>
              </a:ext>
            </a:extLst>
          </p:cNvPr>
          <p:cNvSpPr/>
          <p:nvPr/>
        </p:nvSpPr>
        <p:spPr>
          <a:xfrm>
            <a:off x="987552" y="3218688"/>
            <a:ext cx="4480560" cy="292608"/>
          </a:xfrm>
          <a:prstGeom prst="rect">
            <a:avLst/>
          </a:prstGeom>
          <a:noFill/>
          <a:ln/>
        </p:spPr>
        <p:txBody>
          <a:bodyPr wrap="square" lIns="0" tIns="0" rIns="0" bIns="0" rtlCol="0" anchor="ctr"/>
          <a:lstStyle/>
          <a:p>
            <a:pPr marL="0" indent="0">
              <a:buNone/>
            </a:pPr>
            <a:r>
              <a:rPr lang="en-US" sz="1500" b="1" dirty="0">
                <a:solidFill>
                  <a:srgbClr val="1F2937"/>
                </a:solidFill>
              </a:rPr>
              <a:t>Soutenance OpenClassrooms</a:t>
            </a:r>
            <a:endParaRPr lang="en-US" sz="1500" dirty="0"/>
          </a:p>
        </p:txBody>
      </p:sp>
      <p:sp>
        <p:nvSpPr>
          <p:cNvPr id="27" name="Text 5">
            <a:extLst>
              <a:ext uri="{FF2B5EF4-FFF2-40B4-BE49-F238E27FC236}">
                <a16:creationId xmlns:a16="http://schemas.microsoft.com/office/drawing/2014/main" id="{8DA83825-C583-1683-8A3B-E4DED96F1A7F}"/>
              </a:ext>
            </a:extLst>
          </p:cNvPr>
          <p:cNvSpPr/>
          <p:nvPr/>
        </p:nvSpPr>
        <p:spPr>
          <a:xfrm>
            <a:off x="987552" y="3685032"/>
            <a:ext cx="4343400" cy="777240"/>
          </a:xfrm>
          <a:prstGeom prst="rect">
            <a:avLst/>
          </a:prstGeom>
          <a:noFill/>
          <a:ln/>
        </p:spPr>
        <p:txBody>
          <a:bodyPr wrap="square" lIns="0" tIns="0" rIns="0" bIns="0" rtlCol="0" anchor="ctr">
            <a:normAutofit/>
          </a:bodyPr>
          <a:lstStyle/>
          <a:p>
            <a:pPr marL="0" indent="0">
              <a:buNone/>
            </a:pPr>
            <a:r>
              <a:rPr lang="en-US" sz="1350" dirty="0">
                <a:solidFill>
                  <a:srgbClr val="6B7280"/>
                </a:solidFill>
              </a:rPr>
              <a:t>Document d’investigation + démonstration + justification chiffrée du moteur de recherche.</a:t>
            </a:r>
            <a:endParaRPr lang="en-US" sz="1350" dirty="0"/>
          </a:p>
        </p:txBody>
      </p:sp>
      <p:sp>
        <p:nvSpPr>
          <p:cNvPr id="28" name="Shape 6">
            <a:extLst>
              <a:ext uri="{FF2B5EF4-FFF2-40B4-BE49-F238E27FC236}">
                <a16:creationId xmlns:a16="http://schemas.microsoft.com/office/drawing/2014/main" id="{2115C8FC-8DD8-E3D8-9977-AEA3BA2E9651}"/>
              </a:ext>
            </a:extLst>
          </p:cNvPr>
          <p:cNvSpPr/>
          <p:nvPr/>
        </p:nvSpPr>
        <p:spPr>
          <a:xfrm>
            <a:off x="987552" y="4617720"/>
            <a:ext cx="1417320" cy="310896"/>
          </a:xfrm>
          <a:prstGeom prst="roundRect">
            <a:avLst>
              <a:gd name="adj" fmla="val 17647"/>
            </a:avLst>
          </a:prstGeom>
          <a:solidFill>
            <a:srgbClr val="FFF7ED"/>
          </a:solidFill>
          <a:ln w="12700">
            <a:solidFill>
              <a:srgbClr val="FFF7ED"/>
            </a:solidFill>
            <a:prstDash val="solid"/>
          </a:ln>
        </p:spPr>
      </p:sp>
      <p:sp>
        <p:nvSpPr>
          <p:cNvPr id="29" name="Text 7">
            <a:extLst>
              <a:ext uri="{FF2B5EF4-FFF2-40B4-BE49-F238E27FC236}">
                <a16:creationId xmlns:a16="http://schemas.microsoft.com/office/drawing/2014/main" id="{884ACA9B-D03D-0FB9-90DD-8F310FB3F2DC}"/>
              </a:ext>
            </a:extLst>
          </p:cNvPr>
          <p:cNvSpPr/>
          <p:nvPr/>
        </p:nvSpPr>
        <p:spPr>
          <a:xfrm>
            <a:off x="1060704" y="4681728"/>
            <a:ext cx="1271016" cy="146304"/>
          </a:xfrm>
          <a:prstGeom prst="rect">
            <a:avLst/>
          </a:prstGeom>
          <a:noFill/>
          <a:ln/>
        </p:spPr>
        <p:txBody>
          <a:bodyPr wrap="square" lIns="0" tIns="0" rIns="0" bIns="0" rtlCol="0" anchor="ctr"/>
          <a:lstStyle/>
          <a:p>
            <a:pPr marL="0" indent="0" algn="ctr">
              <a:buNone/>
            </a:pPr>
            <a:r>
              <a:rPr lang="en-US" sz="850" b="1" dirty="0">
                <a:solidFill>
                  <a:srgbClr val="F97316"/>
                </a:solidFill>
              </a:rPr>
              <a:t>JavaScript ES6</a:t>
            </a:r>
            <a:endParaRPr lang="en-US" sz="850" dirty="0"/>
          </a:p>
        </p:txBody>
      </p:sp>
      <p:sp>
        <p:nvSpPr>
          <p:cNvPr id="30" name="Shape 8">
            <a:extLst>
              <a:ext uri="{FF2B5EF4-FFF2-40B4-BE49-F238E27FC236}">
                <a16:creationId xmlns:a16="http://schemas.microsoft.com/office/drawing/2014/main" id="{48531F2F-F8BA-EBD8-A78F-A5A38AAA87A7}"/>
              </a:ext>
            </a:extLst>
          </p:cNvPr>
          <p:cNvSpPr/>
          <p:nvPr/>
        </p:nvSpPr>
        <p:spPr>
          <a:xfrm>
            <a:off x="2578608" y="4617720"/>
            <a:ext cx="1143000" cy="310896"/>
          </a:xfrm>
          <a:prstGeom prst="roundRect">
            <a:avLst>
              <a:gd name="adj" fmla="val 17647"/>
            </a:avLst>
          </a:prstGeom>
          <a:solidFill>
            <a:srgbClr val="FFF7ED"/>
          </a:solidFill>
          <a:ln w="12700">
            <a:solidFill>
              <a:srgbClr val="FFF7ED"/>
            </a:solidFill>
            <a:prstDash val="solid"/>
          </a:ln>
        </p:spPr>
      </p:sp>
      <p:sp>
        <p:nvSpPr>
          <p:cNvPr id="31" name="Text 9">
            <a:extLst>
              <a:ext uri="{FF2B5EF4-FFF2-40B4-BE49-F238E27FC236}">
                <a16:creationId xmlns:a16="http://schemas.microsoft.com/office/drawing/2014/main" id="{292E49B1-59F9-FC41-75FA-10F24A7F00E5}"/>
              </a:ext>
            </a:extLst>
          </p:cNvPr>
          <p:cNvSpPr/>
          <p:nvPr/>
        </p:nvSpPr>
        <p:spPr>
          <a:xfrm>
            <a:off x="2651760" y="4681728"/>
            <a:ext cx="996696" cy="146304"/>
          </a:xfrm>
          <a:prstGeom prst="rect">
            <a:avLst/>
          </a:prstGeom>
          <a:noFill/>
          <a:ln/>
        </p:spPr>
        <p:txBody>
          <a:bodyPr wrap="square" lIns="0" tIns="0" rIns="0" bIns="0" rtlCol="0" anchor="ctr"/>
          <a:lstStyle/>
          <a:p>
            <a:pPr marL="0" indent="0" algn="ctr">
              <a:buNone/>
            </a:pPr>
            <a:r>
              <a:rPr lang="en-US" sz="850" b="1" dirty="0">
                <a:solidFill>
                  <a:srgbClr val="F97316"/>
                </a:solidFill>
              </a:rPr>
              <a:t>Benchmark</a:t>
            </a:r>
            <a:endParaRPr lang="en-US" sz="850" dirty="0"/>
          </a:p>
        </p:txBody>
      </p:sp>
      <p:sp>
        <p:nvSpPr>
          <p:cNvPr id="32" name="Shape 10">
            <a:extLst>
              <a:ext uri="{FF2B5EF4-FFF2-40B4-BE49-F238E27FC236}">
                <a16:creationId xmlns:a16="http://schemas.microsoft.com/office/drawing/2014/main" id="{518C50F1-D01D-3FEF-2886-B9F95D63737F}"/>
              </a:ext>
            </a:extLst>
          </p:cNvPr>
          <p:cNvSpPr/>
          <p:nvPr/>
        </p:nvSpPr>
        <p:spPr>
          <a:xfrm>
            <a:off x="3886200" y="4617720"/>
            <a:ext cx="1115568" cy="310896"/>
          </a:xfrm>
          <a:prstGeom prst="roundRect">
            <a:avLst>
              <a:gd name="adj" fmla="val 17647"/>
            </a:avLst>
          </a:prstGeom>
          <a:solidFill>
            <a:srgbClr val="FFF7ED"/>
          </a:solidFill>
          <a:ln w="12700">
            <a:solidFill>
              <a:srgbClr val="FFF7ED"/>
            </a:solidFill>
            <a:prstDash val="solid"/>
          </a:ln>
        </p:spPr>
      </p:sp>
      <p:sp>
        <p:nvSpPr>
          <p:cNvPr id="33" name="Text 11">
            <a:extLst>
              <a:ext uri="{FF2B5EF4-FFF2-40B4-BE49-F238E27FC236}">
                <a16:creationId xmlns:a16="http://schemas.microsoft.com/office/drawing/2014/main" id="{C131D1BC-C6D9-AA16-287E-112799772A26}"/>
              </a:ext>
            </a:extLst>
          </p:cNvPr>
          <p:cNvSpPr/>
          <p:nvPr/>
        </p:nvSpPr>
        <p:spPr>
          <a:xfrm>
            <a:off x="3959352" y="4681728"/>
            <a:ext cx="969264" cy="146304"/>
          </a:xfrm>
          <a:prstGeom prst="rect">
            <a:avLst/>
          </a:prstGeom>
          <a:noFill/>
          <a:ln/>
        </p:spPr>
        <p:txBody>
          <a:bodyPr wrap="square" lIns="0" tIns="0" rIns="0" bIns="0" rtlCol="0" anchor="ctr"/>
          <a:lstStyle/>
          <a:p>
            <a:pPr marL="0" indent="0" algn="ctr">
              <a:buNone/>
            </a:pPr>
            <a:r>
              <a:rPr lang="en-US" sz="850" b="1" dirty="0">
                <a:solidFill>
                  <a:srgbClr val="F97316"/>
                </a:solidFill>
              </a:rPr>
              <a:t>UX Search</a:t>
            </a:r>
            <a:endParaRPr lang="en-US" sz="850" dirty="0"/>
          </a:p>
        </p:txBody>
      </p:sp>
      <p:sp>
        <p:nvSpPr>
          <p:cNvPr id="34" name="Text 12">
            <a:extLst>
              <a:ext uri="{FF2B5EF4-FFF2-40B4-BE49-F238E27FC236}">
                <a16:creationId xmlns:a16="http://schemas.microsoft.com/office/drawing/2014/main" id="{D8CC32CE-A6AF-626B-1141-8A757E783B8F}"/>
              </a:ext>
            </a:extLst>
          </p:cNvPr>
          <p:cNvSpPr/>
          <p:nvPr/>
        </p:nvSpPr>
        <p:spPr>
          <a:xfrm>
            <a:off x="10195560" y="6254496"/>
            <a:ext cx="1234440" cy="274320"/>
          </a:xfrm>
          <a:prstGeom prst="rect">
            <a:avLst/>
          </a:prstGeom>
          <a:noFill/>
          <a:ln/>
        </p:spPr>
        <p:txBody>
          <a:bodyPr wrap="square" lIns="0" tIns="0" rIns="0" bIns="0" rtlCol="0" anchor="ctr"/>
          <a:lstStyle/>
          <a:p>
            <a:pPr marL="0" indent="0" algn="r">
              <a:buNone/>
            </a:pPr>
            <a:r>
              <a:rPr lang="en-US" sz="1200" b="1" dirty="0">
                <a:solidFill>
                  <a:srgbClr val="FFFFFF"/>
                </a:solidFill>
              </a:rPr>
              <a:t>15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DÉROULÉ</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Organisation de la soutenance</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Calée sur la consigne : 5 minutes d’analyse, puis démo + benchmark.</a:t>
            </a:r>
            <a:endParaRPr lang="en-US" sz="1260" dirty="0"/>
          </a:p>
        </p:txBody>
      </p:sp>
      <p:sp>
        <p:nvSpPr>
          <p:cNvPr id="5" name="Shape 3"/>
          <p:cNvSpPr/>
          <p:nvPr/>
        </p:nvSpPr>
        <p:spPr>
          <a:xfrm>
            <a:off x="731520" y="1828800"/>
            <a:ext cx="5212080" cy="3474720"/>
          </a:xfrm>
          <a:prstGeom prst="roundRect">
            <a:avLst>
              <a:gd name="adj" fmla="val 2632"/>
            </a:avLst>
          </a:prstGeom>
          <a:solidFill>
            <a:srgbClr val="FFFFFF"/>
          </a:solidFill>
          <a:ln w="12700">
            <a:solidFill>
              <a:srgbClr val="E5E7EB"/>
            </a:solidFill>
            <a:prstDash val="solid"/>
          </a:ln>
        </p:spPr>
      </p:sp>
      <p:sp>
        <p:nvSpPr>
          <p:cNvPr id="6" name="Text 4"/>
          <p:cNvSpPr/>
          <p:nvPr/>
        </p:nvSpPr>
        <p:spPr>
          <a:xfrm>
            <a:off x="1097280" y="2148840"/>
            <a:ext cx="2286000" cy="274320"/>
          </a:xfrm>
          <a:prstGeom prst="rect">
            <a:avLst/>
          </a:prstGeom>
          <a:noFill/>
          <a:ln/>
        </p:spPr>
        <p:txBody>
          <a:bodyPr wrap="square" lIns="0" tIns="0" rIns="0" bIns="0" rtlCol="0" anchor="ctr"/>
          <a:lstStyle/>
          <a:p>
            <a:pPr marL="0" indent="0">
              <a:buNone/>
            </a:pPr>
            <a:r>
              <a:rPr lang="en-US" sz="1800" b="1" dirty="0">
                <a:solidFill>
                  <a:srgbClr val="101827"/>
                </a:solidFill>
              </a:rPr>
              <a:t>Partie 1 — 5 min</a:t>
            </a:r>
            <a:endParaRPr lang="en-US" sz="1800" dirty="0"/>
          </a:p>
        </p:txBody>
      </p:sp>
      <p:sp>
        <p:nvSpPr>
          <p:cNvPr id="7" name="Text 5"/>
          <p:cNvSpPr/>
          <p:nvPr/>
        </p:nvSpPr>
        <p:spPr>
          <a:xfrm>
            <a:off x="1097280" y="2560320"/>
            <a:ext cx="4023360" cy="320040"/>
          </a:xfrm>
          <a:prstGeom prst="rect">
            <a:avLst/>
          </a:prstGeom>
          <a:noFill/>
          <a:ln/>
        </p:spPr>
        <p:txBody>
          <a:bodyPr wrap="square" lIns="0" tIns="0" rIns="0" bIns="0" rtlCol="0" anchor="ctr"/>
          <a:lstStyle/>
          <a:p>
            <a:pPr marL="0" indent="0">
              <a:buNone/>
            </a:pPr>
            <a:r>
              <a:rPr lang="en-US" sz="1250" dirty="0">
                <a:solidFill>
                  <a:srgbClr val="6B7280"/>
                </a:solidFill>
              </a:rPr>
              <a:t>Décomposition avec le document d’investigation</a:t>
            </a:r>
            <a:endParaRPr lang="en-US" sz="1250" dirty="0"/>
          </a:p>
        </p:txBody>
      </p:sp>
      <p:sp>
        <p:nvSpPr>
          <p:cNvPr id="8" name="Shape 6"/>
          <p:cNvSpPr/>
          <p:nvPr/>
        </p:nvSpPr>
        <p:spPr>
          <a:xfrm>
            <a:off x="1097280" y="3136392"/>
            <a:ext cx="109728" cy="109728"/>
          </a:xfrm>
          <a:prstGeom prst="ellipse">
            <a:avLst/>
          </a:prstGeom>
          <a:solidFill>
            <a:srgbClr val="F97316"/>
          </a:solidFill>
          <a:ln w="12700">
            <a:solidFill>
              <a:srgbClr val="F97316"/>
            </a:solidFill>
            <a:prstDash val="solid"/>
          </a:ln>
        </p:spPr>
      </p:sp>
      <p:sp>
        <p:nvSpPr>
          <p:cNvPr id="9" name="Text 7"/>
          <p:cNvSpPr/>
          <p:nvPr/>
        </p:nvSpPr>
        <p:spPr>
          <a:xfrm>
            <a:off x="1298448" y="3063240"/>
            <a:ext cx="4187952" cy="219456"/>
          </a:xfrm>
          <a:prstGeom prst="rect">
            <a:avLst/>
          </a:prstGeom>
          <a:noFill/>
          <a:ln/>
        </p:spPr>
        <p:txBody>
          <a:bodyPr wrap="square" lIns="0" tIns="0" rIns="0" bIns="0" rtlCol="0" anchor="ctr">
            <a:normAutofit/>
          </a:bodyPr>
          <a:lstStyle/>
          <a:p>
            <a:pPr marL="0" indent="0">
              <a:buNone/>
            </a:pPr>
            <a:r>
              <a:rPr lang="en-US" sz="1250" dirty="0">
                <a:solidFill>
                  <a:srgbClr val="1F2937"/>
                </a:solidFill>
              </a:rPr>
              <a:t>problématique utilisateur</a:t>
            </a:r>
            <a:endParaRPr lang="en-US" sz="1250" dirty="0"/>
          </a:p>
        </p:txBody>
      </p:sp>
      <p:sp>
        <p:nvSpPr>
          <p:cNvPr id="10" name="Shape 8"/>
          <p:cNvSpPr/>
          <p:nvPr/>
        </p:nvSpPr>
        <p:spPr>
          <a:xfrm>
            <a:off x="1097280" y="3529584"/>
            <a:ext cx="109728" cy="109728"/>
          </a:xfrm>
          <a:prstGeom prst="ellipse">
            <a:avLst/>
          </a:prstGeom>
          <a:solidFill>
            <a:srgbClr val="F97316"/>
          </a:solidFill>
          <a:ln w="12700">
            <a:solidFill>
              <a:srgbClr val="F97316"/>
            </a:solidFill>
            <a:prstDash val="solid"/>
          </a:ln>
        </p:spPr>
      </p:sp>
      <p:sp>
        <p:nvSpPr>
          <p:cNvPr id="11" name="Text 9"/>
          <p:cNvSpPr/>
          <p:nvPr/>
        </p:nvSpPr>
        <p:spPr>
          <a:xfrm>
            <a:off x="1298448" y="3456432"/>
            <a:ext cx="4187952" cy="219456"/>
          </a:xfrm>
          <a:prstGeom prst="rect">
            <a:avLst/>
          </a:prstGeom>
          <a:noFill/>
          <a:ln/>
        </p:spPr>
        <p:txBody>
          <a:bodyPr wrap="square" lIns="0" tIns="0" rIns="0" bIns="0" rtlCol="0" anchor="ctr">
            <a:normAutofit/>
          </a:bodyPr>
          <a:lstStyle/>
          <a:p>
            <a:pPr marL="0" indent="0">
              <a:buNone/>
            </a:pPr>
            <a:r>
              <a:rPr lang="en-US" sz="1250" dirty="0">
                <a:solidFill>
                  <a:srgbClr val="1F2937"/>
                </a:solidFill>
              </a:rPr>
              <a:t>recherche principale + tags</a:t>
            </a:r>
            <a:endParaRPr lang="en-US" sz="1250" dirty="0"/>
          </a:p>
        </p:txBody>
      </p:sp>
      <p:sp>
        <p:nvSpPr>
          <p:cNvPr id="12" name="Shape 10"/>
          <p:cNvSpPr/>
          <p:nvPr/>
        </p:nvSpPr>
        <p:spPr>
          <a:xfrm>
            <a:off x="1097280" y="3922776"/>
            <a:ext cx="109728" cy="109728"/>
          </a:xfrm>
          <a:prstGeom prst="ellipse">
            <a:avLst/>
          </a:prstGeom>
          <a:solidFill>
            <a:srgbClr val="F97316"/>
          </a:solidFill>
          <a:ln w="12700">
            <a:solidFill>
              <a:srgbClr val="F97316"/>
            </a:solidFill>
            <a:prstDash val="solid"/>
          </a:ln>
        </p:spPr>
      </p:sp>
      <p:sp>
        <p:nvSpPr>
          <p:cNvPr id="13" name="Text 11"/>
          <p:cNvSpPr/>
          <p:nvPr/>
        </p:nvSpPr>
        <p:spPr>
          <a:xfrm>
            <a:off x="1298448" y="3849624"/>
            <a:ext cx="4187952" cy="219456"/>
          </a:xfrm>
          <a:prstGeom prst="rect">
            <a:avLst/>
          </a:prstGeom>
          <a:noFill/>
          <a:ln/>
        </p:spPr>
        <p:txBody>
          <a:bodyPr wrap="square" lIns="0" tIns="0" rIns="0" bIns="0" rtlCol="0" anchor="ctr">
            <a:normAutofit/>
          </a:bodyPr>
          <a:lstStyle/>
          <a:p>
            <a:pPr marL="0" indent="0">
              <a:buNone/>
            </a:pPr>
            <a:r>
              <a:rPr lang="en-US" sz="1250" dirty="0">
                <a:solidFill>
                  <a:srgbClr val="1F2937"/>
                </a:solidFill>
              </a:rPr>
              <a:t>deux algorithmes étudiés</a:t>
            </a:r>
            <a:endParaRPr lang="en-US" sz="1250" dirty="0"/>
          </a:p>
        </p:txBody>
      </p:sp>
      <p:sp>
        <p:nvSpPr>
          <p:cNvPr id="14" name="Shape 12"/>
          <p:cNvSpPr/>
          <p:nvPr/>
        </p:nvSpPr>
        <p:spPr>
          <a:xfrm>
            <a:off x="1097280" y="4315968"/>
            <a:ext cx="109728" cy="109728"/>
          </a:xfrm>
          <a:prstGeom prst="ellipse">
            <a:avLst/>
          </a:prstGeom>
          <a:solidFill>
            <a:srgbClr val="F97316"/>
          </a:solidFill>
          <a:ln w="12700">
            <a:solidFill>
              <a:srgbClr val="F97316"/>
            </a:solidFill>
            <a:prstDash val="solid"/>
          </a:ln>
        </p:spPr>
      </p:sp>
      <p:sp>
        <p:nvSpPr>
          <p:cNvPr id="15" name="Text 13"/>
          <p:cNvSpPr/>
          <p:nvPr/>
        </p:nvSpPr>
        <p:spPr>
          <a:xfrm>
            <a:off x="1298448" y="4242816"/>
            <a:ext cx="4187952" cy="219456"/>
          </a:xfrm>
          <a:prstGeom prst="rect">
            <a:avLst/>
          </a:prstGeom>
          <a:noFill/>
          <a:ln/>
        </p:spPr>
        <p:txBody>
          <a:bodyPr wrap="square" lIns="0" tIns="0" rIns="0" bIns="0" rtlCol="0" anchor="ctr">
            <a:normAutofit/>
          </a:bodyPr>
          <a:lstStyle/>
          <a:p>
            <a:pPr marL="0" indent="0">
              <a:buNone/>
            </a:pPr>
            <a:r>
              <a:rPr lang="en-US" sz="1250" dirty="0">
                <a:solidFill>
                  <a:srgbClr val="1F2937"/>
                </a:solidFill>
              </a:rPr>
              <a:t>workflow de filtrage</a:t>
            </a:r>
            <a:endParaRPr lang="en-US" sz="1250" dirty="0"/>
          </a:p>
        </p:txBody>
      </p:sp>
      <p:sp>
        <p:nvSpPr>
          <p:cNvPr id="16" name="Shape 14"/>
          <p:cNvSpPr/>
          <p:nvPr/>
        </p:nvSpPr>
        <p:spPr>
          <a:xfrm>
            <a:off x="6263640" y="1828800"/>
            <a:ext cx="5212080" cy="3474720"/>
          </a:xfrm>
          <a:prstGeom prst="roundRect">
            <a:avLst>
              <a:gd name="adj" fmla="val 2632"/>
            </a:avLst>
          </a:prstGeom>
          <a:solidFill>
            <a:srgbClr val="101827"/>
          </a:solidFill>
          <a:ln w="12700">
            <a:solidFill>
              <a:srgbClr val="101827"/>
            </a:solidFill>
            <a:prstDash val="solid"/>
          </a:ln>
        </p:spPr>
      </p:sp>
      <p:sp>
        <p:nvSpPr>
          <p:cNvPr id="17" name="Text 15"/>
          <p:cNvSpPr/>
          <p:nvPr/>
        </p:nvSpPr>
        <p:spPr>
          <a:xfrm>
            <a:off x="6629400" y="2148840"/>
            <a:ext cx="3108960" cy="274320"/>
          </a:xfrm>
          <a:prstGeom prst="rect">
            <a:avLst/>
          </a:prstGeom>
          <a:noFill/>
          <a:ln/>
        </p:spPr>
        <p:txBody>
          <a:bodyPr wrap="square" lIns="0" tIns="0" rIns="0" bIns="0" rtlCol="0" anchor="ctr"/>
          <a:lstStyle/>
          <a:p>
            <a:pPr marL="0" indent="0">
              <a:buNone/>
            </a:pPr>
            <a:r>
              <a:rPr lang="en-US" sz="1800" b="1" dirty="0">
                <a:solidFill>
                  <a:srgbClr val="FFFFFF"/>
                </a:solidFill>
              </a:rPr>
              <a:t>Partie 2 — 10 à 15 min</a:t>
            </a:r>
            <a:endParaRPr lang="en-US" sz="1800" dirty="0"/>
          </a:p>
        </p:txBody>
      </p:sp>
      <p:sp>
        <p:nvSpPr>
          <p:cNvPr id="18" name="Text 16"/>
          <p:cNvSpPr/>
          <p:nvPr/>
        </p:nvSpPr>
        <p:spPr>
          <a:xfrm>
            <a:off x="6629400" y="2560320"/>
            <a:ext cx="4023360" cy="320040"/>
          </a:xfrm>
          <a:prstGeom prst="rect">
            <a:avLst/>
          </a:prstGeom>
          <a:noFill/>
          <a:ln/>
        </p:spPr>
        <p:txBody>
          <a:bodyPr wrap="square" lIns="0" tIns="0" rIns="0" bIns="0" rtlCol="0" anchor="ctr"/>
          <a:lstStyle/>
          <a:p>
            <a:pPr marL="0" indent="0">
              <a:buNone/>
            </a:pPr>
            <a:r>
              <a:rPr lang="en-US" sz="1250" dirty="0">
                <a:solidFill>
                  <a:srgbClr val="CBD5E1"/>
                </a:solidFill>
              </a:rPr>
              <a:t>Rendu de l’application + benchmark</a:t>
            </a:r>
            <a:endParaRPr lang="en-US" sz="1250" dirty="0"/>
          </a:p>
        </p:txBody>
      </p:sp>
      <p:sp>
        <p:nvSpPr>
          <p:cNvPr id="19" name="Shape 17"/>
          <p:cNvSpPr/>
          <p:nvPr/>
        </p:nvSpPr>
        <p:spPr>
          <a:xfrm>
            <a:off x="6629400" y="3136392"/>
            <a:ext cx="109728" cy="109728"/>
          </a:xfrm>
          <a:prstGeom prst="ellipse">
            <a:avLst/>
          </a:prstGeom>
          <a:solidFill>
            <a:srgbClr val="FACC15"/>
          </a:solidFill>
          <a:ln w="12700">
            <a:solidFill>
              <a:srgbClr val="FACC15"/>
            </a:solidFill>
            <a:prstDash val="solid"/>
          </a:ln>
        </p:spPr>
      </p:sp>
      <p:sp>
        <p:nvSpPr>
          <p:cNvPr id="20" name="Text 18"/>
          <p:cNvSpPr/>
          <p:nvPr/>
        </p:nvSpPr>
        <p:spPr>
          <a:xfrm>
            <a:off x="6830568" y="3063240"/>
            <a:ext cx="4279392" cy="219456"/>
          </a:xfrm>
          <a:prstGeom prst="rect">
            <a:avLst/>
          </a:prstGeom>
          <a:noFill/>
          <a:ln/>
        </p:spPr>
        <p:txBody>
          <a:bodyPr wrap="square" lIns="0" tIns="0" rIns="0" bIns="0" rtlCol="0" anchor="ctr">
            <a:normAutofit/>
          </a:bodyPr>
          <a:lstStyle/>
          <a:p>
            <a:pPr marL="0" indent="0">
              <a:buNone/>
            </a:pPr>
            <a:r>
              <a:rPr lang="en-US" sz="1250" dirty="0">
                <a:solidFill>
                  <a:srgbClr val="FFFFFF"/>
                </a:solidFill>
              </a:rPr>
              <a:t>démonstration de recherche</a:t>
            </a:r>
            <a:endParaRPr lang="en-US" sz="1250" dirty="0"/>
          </a:p>
        </p:txBody>
      </p:sp>
      <p:sp>
        <p:nvSpPr>
          <p:cNvPr id="21" name="Shape 19"/>
          <p:cNvSpPr/>
          <p:nvPr/>
        </p:nvSpPr>
        <p:spPr>
          <a:xfrm>
            <a:off x="6629400" y="3529584"/>
            <a:ext cx="109728" cy="109728"/>
          </a:xfrm>
          <a:prstGeom prst="ellipse">
            <a:avLst/>
          </a:prstGeom>
          <a:solidFill>
            <a:srgbClr val="FACC15"/>
          </a:solidFill>
          <a:ln w="12700">
            <a:solidFill>
              <a:srgbClr val="FACC15"/>
            </a:solidFill>
            <a:prstDash val="solid"/>
          </a:ln>
        </p:spPr>
      </p:sp>
      <p:sp>
        <p:nvSpPr>
          <p:cNvPr id="22" name="Text 20"/>
          <p:cNvSpPr/>
          <p:nvPr/>
        </p:nvSpPr>
        <p:spPr>
          <a:xfrm>
            <a:off x="6830568" y="3456432"/>
            <a:ext cx="4279392" cy="219456"/>
          </a:xfrm>
          <a:prstGeom prst="rect">
            <a:avLst/>
          </a:prstGeom>
          <a:noFill/>
          <a:ln/>
        </p:spPr>
        <p:txBody>
          <a:bodyPr wrap="square" lIns="0" tIns="0" rIns="0" bIns="0" rtlCol="0" anchor="ctr">
            <a:normAutofit/>
          </a:bodyPr>
          <a:lstStyle/>
          <a:p>
            <a:pPr marL="0" indent="0">
              <a:buNone/>
            </a:pPr>
            <a:r>
              <a:rPr lang="en-US" sz="1250" dirty="0">
                <a:solidFill>
                  <a:srgbClr val="FFFFFF"/>
                </a:solidFill>
              </a:rPr>
              <a:t>tags et synchronisation</a:t>
            </a:r>
            <a:endParaRPr lang="en-US" sz="1250" dirty="0"/>
          </a:p>
        </p:txBody>
      </p:sp>
      <p:sp>
        <p:nvSpPr>
          <p:cNvPr id="23" name="Shape 21"/>
          <p:cNvSpPr/>
          <p:nvPr/>
        </p:nvSpPr>
        <p:spPr>
          <a:xfrm>
            <a:off x="6629400" y="3922776"/>
            <a:ext cx="109728" cy="109728"/>
          </a:xfrm>
          <a:prstGeom prst="ellipse">
            <a:avLst/>
          </a:prstGeom>
          <a:solidFill>
            <a:srgbClr val="FACC15"/>
          </a:solidFill>
          <a:ln w="12700">
            <a:solidFill>
              <a:srgbClr val="FACC15"/>
            </a:solidFill>
            <a:prstDash val="solid"/>
          </a:ln>
        </p:spPr>
      </p:sp>
      <p:sp>
        <p:nvSpPr>
          <p:cNvPr id="24" name="Text 22"/>
          <p:cNvSpPr/>
          <p:nvPr/>
        </p:nvSpPr>
        <p:spPr>
          <a:xfrm>
            <a:off x="6830568" y="3849624"/>
            <a:ext cx="4279392" cy="219456"/>
          </a:xfrm>
          <a:prstGeom prst="rect">
            <a:avLst/>
          </a:prstGeom>
          <a:noFill/>
          <a:ln/>
        </p:spPr>
        <p:txBody>
          <a:bodyPr wrap="square" lIns="0" tIns="0" rIns="0" bIns="0" rtlCol="0" anchor="ctr">
            <a:normAutofit/>
          </a:bodyPr>
          <a:lstStyle/>
          <a:p>
            <a:pPr marL="0" indent="0">
              <a:buNone/>
            </a:pPr>
            <a:r>
              <a:rPr lang="en-US" sz="1250" dirty="0">
                <a:solidFill>
                  <a:srgbClr val="FFFFFF"/>
                </a:solidFill>
              </a:rPr>
              <a:t>comparaison chiffrée</a:t>
            </a:r>
            <a:endParaRPr lang="en-US" sz="1250" dirty="0"/>
          </a:p>
        </p:txBody>
      </p:sp>
      <p:sp>
        <p:nvSpPr>
          <p:cNvPr id="25" name="Shape 23"/>
          <p:cNvSpPr/>
          <p:nvPr/>
        </p:nvSpPr>
        <p:spPr>
          <a:xfrm>
            <a:off x="6629400" y="4315968"/>
            <a:ext cx="109728" cy="109728"/>
          </a:xfrm>
          <a:prstGeom prst="ellipse">
            <a:avLst/>
          </a:prstGeom>
          <a:solidFill>
            <a:srgbClr val="FACC15"/>
          </a:solidFill>
          <a:ln w="12700">
            <a:solidFill>
              <a:srgbClr val="FACC15"/>
            </a:solidFill>
            <a:prstDash val="solid"/>
          </a:ln>
        </p:spPr>
      </p:sp>
      <p:sp>
        <p:nvSpPr>
          <p:cNvPr id="26" name="Text 24"/>
          <p:cNvSpPr/>
          <p:nvPr/>
        </p:nvSpPr>
        <p:spPr>
          <a:xfrm>
            <a:off x="6830568" y="4242816"/>
            <a:ext cx="4279392" cy="219456"/>
          </a:xfrm>
          <a:prstGeom prst="rect">
            <a:avLst/>
          </a:prstGeom>
          <a:noFill/>
          <a:ln/>
        </p:spPr>
        <p:txBody>
          <a:bodyPr wrap="square" lIns="0" tIns="0" rIns="0" bIns="0" rtlCol="0" anchor="ctr">
            <a:normAutofit/>
          </a:bodyPr>
          <a:lstStyle/>
          <a:p>
            <a:pPr marL="0" indent="0">
              <a:buNone/>
            </a:pPr>
            <a:r>
              <a:rPr lang="en-US" sz="1250" dirty="0">
                <a:solidFill>
                  <a:srgbClr val="FFFFFF"/>
                </a:solidFill>
              </a:rPr>
              <a:t>choix de la version performante</a:t>
            </a:r>
            <a:endParaRPr lang="en-US" sz="1250" dirty="0"/>
          </a:p>
        </p:txBody>
      </p:sp>
      <p:sp>
        <p:nvSpPr>
          <p:cNvPr id="27" name="Shape 25"/>
          <p:cNvSpPr/>
          <p:nvPr/>
        </p:nvSpPr>
        <p:spPr>
          <a:xfrm>
            <a:off x="640080" y="6291072"/>
            <a:ext cx="10881360" cy="0"/>
          </a:xfrm>
          <a:prstGeom prst="line">
            <a:avLst/>
          </a:prstGeom>
          <a:noFill/>
          <a:ln w="12700">
            <a:solidFill>
              <a:srgbClr val="E5E7EB"/>
            </a:solidFill>
            <a:prstDash val="solid"/>
          </a:ln>
        </p:spPr>
      </p:sp>
      <p:sp>
        <p:nvSpPr>
          <p:cNvPr id="28" name="Text 26"/>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29" name="Text 27"/>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INVESTIGATION • 5 MIN</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Problématique décomposée</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Transformer une demande utilisateur simple en logique technique testable.</a:t>
            </a:r>
            <a:endParaRPr lang="en-US" sz="1260" dirty="0"/>
          </a:p>
        </p:txBody>
      </p:sp>
      <p:sp>
        <p:nvSpPr>
          <p:cNvPr id="5" name="Shape 3"/>
          <p:cNvSpPr/>
          <p:nvPr/>
        </p:nvSpPr>
        <p:spPr>
          <a:xfrm>
            <a:off x="731520" y="1920240"/>
            <a:ext cx="3200400" cy="3566160"/>
          </a:xfrm>
          <a:prstGeom prst="roundRect">
            <a:avLst>
              <a:gd name="adj" fmla="val 2857"/>
            </a:avLst>
          </a:prstGeom>
          <a:solidFill>
            <a:srgbClr val="FFFFFF"/>
          </a:solidFill>
          <a:ln w="12700">
            <a:solidFill>
              <a:srgbClr val="E5E7EB"/>
            </a:solidFill>
            <a:prstDash val="solid"/>
          </a:ln>
        </p:spPr>
      </p:sp>
      <p:sp>
        <p:nvSpPr>
          <p:cNvPr id="6" name="Text 4"/>
          <p:cNvSpPr/>
          <p:nvPr/>
        </p:nvSpPr>
        <p:spPr>
          <a:xfrm>
            <a:off x="1051560" y="2240280"/>
            <a:ext cx="2560320" cy="274320"/>
          </a:xfrm>
          <a:prstGeom prst="rect">
            <a:avLst/>
          </a:prstGeom>
          <a:noFill/>
          <a:ln/>
        </p:spPr>
        <p:txBody>
          <a:bodyPr wrap="square" lIns="0" tIns="0" rIns="0" bIns="0" rtlCol="0" anchor="ctr"/>
          <a:lstStyle/>
          <a:p>
            <a:pPr marL="0" indent="0">
              <a:buNone/>
            </a:pPr>
            <a:r>
              <a:rPr lang="en-US" sz="1700" b="1" dirty="0">
                <a:solidFill>
                  <a:srgbClr val="101827"/>
                </a:solidFill>
              </a:rPr>
              <a:t>Besoin utilisateur</a:t>
            </a:r>
            <a:endParaRPr lang="en-US" sz="1700" dirty="0"/>
          </a:p>
        </p:txBody>
      </p:sp>
      <p:sp>
        <p:nvSpPr>
          <p:cNvPr id="7" name="Text 5"/>
          <p:cNvSpPr/>
          <p:nvPr/>
        </p:nvSpPr>
        <p:spPr>
          <a:xfrm>
            <a:off x="1051560" y="2670048"/>
            <a:ext cx="2468880" cy="777240"/>
          </a:xfrm>
          <a:prstGeom prst="rect">
            <a:avLst/>
          </a:prstGeom>
          <a:noFill/>
          <a:ln/>
        </p:spPr>
        <p:txBody>
          <a:bodyPr wrap="square" lIns="0" tIns="0" rIns="0" bIns="0" rtlCol="0" anchor="ctr">
            <a:normAutofit/>
          </a:bodyPr>
          <a:lstStyle/>
          <a:p>
            <a:pPr marL="0" indent="0">
              <a:buNone/>
            </a:pPr>
            <a:r>
              <a:rPr lang="en-US" sz="1320" dirty="0">
                <a:solidFill>
                  <a:srgbClr val="6B7280"/>
                </a:solidFill>
              </a:rPr>
              <a:t>Retrouver rapidement une recette à partir d’un mot-clé ou d’un filtre.</a:t>
            </a:r>
            <a:endParaRPr lang="en-US" sz="1320" dirty="0"/>
          </a:p>
        </p:txBody>
      </p:sp>
      <p:sp>
        <p:nvSpPr>
          <p:cNvPr id="8" name="Shape 6"/>
          <p:cNvSpPr/>
          <p:nvPr/>
        </p:nvSpPr>
        <p:spPr>
          <a:xfrm>
            <a:off x="1051560" y="3703320"/>
            <a:ext cx="914400" cy="310896"/>
          </a:xfrm>
          <a:prstGeom prst="roundRect">
            <a:avLst>
              <a:gd name="adj" fmla="val 17647"/>
            </a:avLst>
          </a:prstGeom>
          <a:solidFill>
            <a:srgbClr val="FFF7ED"/>
          </a:solidFill>
          <a:ln w="12700">
            <a:solidFill>
              <a:srgbClr val="FFF7ED"/>
            </a:solidFill>
            <a:prstDash val="solid"/>
          </a:ln>
        </p:spPr>
      </p:sp>
      <p:sp>
        <p:nvSpPr>
          <p:cNvPr id="9" name="Text 7"/>
          <p:cNvSpPr/>
          <p:nvPr/>
        </p:nvSpPr>
        <p:spPr>
          <a:xfrm>
            <a:off x="1124712" y="3767328"/>
            <a:ext cx="768096" cy="146304"/>
          </a:xfrm>
          <a:prstGeom prst="rect">
            <a:avLst/>
          </a:prstGeom>
          <a:noFill/>
          <a:ln/>
        </p:spPr>
        <p:txBody>
          <a:bodyPr wrap="square" lIns="0" tIns="0" rIns="0" bIns="0" rtlCol="0" anchor="ctr"/>
          <a:lstStyle/>
          <a:p>
            <a:pPr marL="0" indent="0" algn="ctr">
              <a:buNone/>
            </a:pPr>
            <a:r>
              <a:rPr lang="en-US" sz="850" b="1" dirty="0">
                <a:solidFill>
                  <a:srgbClr val="F97316"/>
                </a:solidFill>
              </a:rPr>
              <a:t>rapidité</a:t>
            </a:r>
            <a:endParaRPr lang="en-US" sz="850" dirty="0"/>
          </a:p>
        </p:txBody>
      </p:sp>
      <p:sp>
        <p:nvSpPr>
          <p:cNvPr id="10" name="Shape 8"/>
          <p:cNvSpPr/>
          <p:nvPr/>
        </p:nvSpPr>
        <p:spPr>
          <a:xfrm>
            <a:off x="2084832" y="3703320"/>
            <a:ext cx="1097280" cy="310896"/>
          </a:xfrm>
          <a:prstGeom prst="roundRect">
            <a:avLst>
              <a:gd name="adj" fmla="val 17647"/>
            </a:avLst>
          </a:prstGeom>
          <a:solidFill>
            <a:srgbClr val="FFF7ED"/>
          </a:solidFill>
          <a:ln w="12700">
            <a:solidFill>
              <a:srgbClr val="FFF7ED"/>
            </a:solidFill>
            <a:prstDash val="solid"/>
          </a:ln>
        </p:spPr>
      </p:sp>
      <p:sp>
        <p:nvSpPr>
          <p:cNvPr id="11" name="Text 9"/>
          <p:cNvSpPr/>
          <p:nvPr/>
        </p:nvSpPr>
        <p:spPr>
          <a:xfrm>
            <a:off x="2157984" y="3767328"/>
            <a:ext cx="950976" cy="146304"/>
          </a:xfrm>
          <a:prstGeom prst="rect">
            <a:avLst/>
          </a:prstGeom>
          <a:noFill/>
          <a:ln/>
        </p:spPr>
        <p:txBody>
          <a:bodyPr wrap="square" lIns="0" tIns="0" rIns="0" bIns="0" rtlCol="0" anchor="ctr"/>
          <a:lstStyle/>
          <a:p>
            <a:pPr marL="0" indent="0" algn="ctr">
              <a:buNone/>
            </a:pPr>
            <a:r>
              <a:rPr lang="en-US" sz="850" b="1" dirty="0">
                <a:solidFill>
                  <a:srgbClr val="F97316"/>
                </a:solidFill>
              </a:rPr>
              <a:t>pertinence</a:t>
            </a:r>
            <a:endParaRPr lang="en-US" sz="850" dirty="0"/>
          </a:p>
        </p:txBody>
      </p:sp>
      <p:sp>
        <p:nvSpPr>
          <p:cNvPr id="12" name="Shape 10"/>
          <p:cNvSpPr/>
          <p:nvPr/>
        </p:nvSpPr>
        <p:spPr>
          <a:xfrm>
            <a:off x="4343400" y="1920240"/>
            <a:ext cx="3200400" cy="3566160"/>
          </a:xfrm>
          <a:prstGeom prst="roundRect">
            <a:avLst>
              <a:gd name="adj" fmla="val 2857"/>
            </a:avLst>
          </a:prstGeom>
          <a:solidFill>
            <a:srgbClr val="FFFFFF"/>
          </a:solidFill>
          <a:ln w="12700">
            <a:solidFill>
              <a:srgbClr val="E5E7EB"/>
            </a:solidFill>
            <a:prstDash val="solid"/>
          </a:ln>
        </p:spPr>
      </p:sp>
      <p:sp>
        <p:nvSpPr>
          <p:cNvPr id="13" name="Text 11"/>
          <p:cNvSpPr/>
          <p:nvPr/>
        </p:nvSpPr>
        <p:spPr>
          <a:xfrm>
            <a:off x="4663440" y="2240280"/>
            <a:ext cx="2560320" cy="274320"/>
          </a:xfrm>
          <a:prstGeom prst="rect">
            <a:avLst/>
          </a:prstGeom>
          <a:noFill/>
          <a:ln/>
        </p:spPr>
        <p:txBody>
          <a:bodyPr wrap="square" lIns="0" tIns="0" rIns="0" bIns="0" rtlCol="0" anchor="ctr"/>
          <a:lstStyle/>
          <a:p>
            <a:pPr marL="0" indent="0">
              <a:buNone/>
            </a:pPr>
            <a:r>
              <a:rPr lang="en-US" sz="1700" b="1" dirty="0">
                <a:solidFill>
                  <a:srgbClr val="101827"/>
                </a:solidFill>
              </a:rPr>
              <a:t>Critères de recherche</a:t>
            </a:r>
            <a:endParaRPr lang="en-US" sz="1700" dirty="0"/>
          </a:p>
        </p:txBody>
      </p:sp>
      <p:sp>
        <p:nvSpPr>
          <p:cNvPr id="14" name="Shape 12"/>
          <p:cNvSpPr/>
          <p:nvPr/>
        </p:nvSpPr>
        <p:spPr>
          <a:xfrm>
            <a:off x="4663440" y="2770632"/>
            <a:ext cx="109728" cy="109728"/>
          </a:xfrm>
          <a:prstGeom prst="ellipse">
            <a:avLst/>
          </a:prstGeom>
          <a:solidFill>
            <a:srgbClr val="F97316"/>
          </a:solidFill>
          <a:ln w="12700">
            <a:solidFill>
              <a:srgbClr val="F97316"/>
            </a:solidFill>
            <a:prstDash val="solid"/>
          </a:ln>
        </p:spPr>
      </p:sp>
      <p:sp>
        <p:nvSpPr>
          <p:cNvPr id="15" name="Text 13"/>
          <p:cNvSpPr/>
          <p:nvPr/>
        </p:nvSpPr>
        <p:spPr>
          <a:xfrm>
            <a:off x="4864608" y="2697480"/>
            <a:ext cx="2359152" cy="219456"/>
          </a:xfrm>
          <a:prstGeom prst="rect">
            <a:avLst/>
          </a:prstGeom>
          <a:noFill/>
          <a:ln/>
        </p:spPr>
        <p:txBody>
          <a:bodyPr wrap="square" lIns="0" tIns="0" rIns="0" bIns="0" rtlCol="0" anchor="ctr">
            <a:normAutofit/>
          </a:bodyPr>
          <a:lstStyle/>
          <a:p>
            <a:pPr marL="0" indent="0">
              <a:buNone/>
            </a:pPr>
            <a:r>
              <a:rPr lang="en-US" sz="1250" dirty="0">
                <a:solidFill>
                  <a:srgbClr val="1F2937"/>
                </a:solidFill>
              </a:rPr>
              <a:t>nom de recette</a:t>
            </a:r>
            <a:endParaRPr lang="en-US" sz="1250" dirty="0"/>
          </a:p>
        </p:txBody>
      </p:sp>
      <p:sp>
        <p:nvSpPr>
          <p:cNvPr id="16" name="Shape 14"/>
          <p:cNvSpPr/>
          <p:nvPr/>
        </p:nvSpPr>
        <p:spPr>
          <a:xfrm>
            <a:off x="4663440" y="3118104"/>
            <a:ext cx="109728" cy="109728"/>
          </a:xfrm>
          <a:prstGeom prst="ellipse">
            <a:avLst/>
          </a:prstGeom>
          <a:solidFill>
            <a:srgbClr val="F97316"/>
          </a:solidFill>
          <a:ln w="12700">
            <a:solidFill>
              <a:srgbClr val="F97316"/>
            </a:solidFill>
            <a:prstDash val="solid"/>
          </a:ln>
        </p:spPr>
      </p:sp>
      <p:sp>
        <p:nvSpPr>
          <p:cNvPr id="17" name="Text 15"/>
          <p:cNvSpPr/>
          <p:nvPr/>
        </p:nvSpPr>
        <p:spPr>
          <a:xfrm>
            <a:off x="4864608" y="3044952"/>
            <a:ext cx="2359152" cy="219456"/>
          </a:xfrm>
          <a:prstGeom prst="rect">
            <a:avLst/>
          </a:prstGeom>
          <a:noFill/>
          <a:ln/>
        </p:spPr>
        <p:txBody>
          <a:bodyPr wrap="square" lIns="0" tIns="0" rIns="0" bIns="0" rtlCol="0" anchor="ctr">
            <a:normAutofit/>
          </a:bodyPr>
          <a:lstStyle/>
          <a:p>
            <a:pPr marL="0" indent="0">
              <a:buNone/>
            </a:pPr>
            <a:r>
              <a:rPr lang="en-US" sz="1250" dirty="0">
                <a:solidFill>
                  <a:srgbClr val="1F2937"/>
                </a:solidFill>
              </a:rPr>
              <a:t>description</a:t>
            </a:r>
            <a:endParaRPr lang="en-US" sz="1250" dirty="0"/>
          </a:p>
        </p:txBody>
      </p:sp>
      <p:sp>
        <p:nvSpPr>
          <p:cNvPr id="18" name="Shape 16"/>
          <p:cNvSpPr/>
          <p:nvPr/>
        </p:nvSpPr>
        <p:spPr>
          <a:xfrm>
            <a:off x="4663440" y="3465576"/>
            <a:ext cx="109728" cy="109728"/>
          </a:xfrm>
          <a:prstGeom prst="ellipse">
            <a:avLst/>
          </a:prstGeom>
          <a:solidFill>
            <a:srgbClr val="F97316"/>
          </a:solidFill>
          <a:ln w="12700">
            <a:solidFill>
              <a:srgbClr val="F97316"/>
            </a:solidFill>
            <a:prstDash val="solid"/>
          </a:ln>
        </p:spPr>
      </p:sp>
      <p:sp>
        <p:nvSpPr>
          <p:cNvPr id="19" name="Text 17"/>
          <p:cNvSpPr/>
          <p:nvPr/>
        </p:nvSpPr>
        <p:spPr>
          <a:xfrm>
            <a:off x="4864608" y="3392424"/>
            <a:ext cx="2359152" cy="219456"/>
          </a:xfrm>
          <a:prstGeom prst="rect">
            <a:avLst/>
          </a:prstGeom>
          <a:noFill/>
          <a:ln/>
        </p:spPr>
        <p:txBody>
          <a:bodyPr wrap="square" lIns="0" tIns="0" rIns="0" bIns="0" rtlCol="0" anchor="ctr">
            <a:normAutofit/>
          </a:bodyPr>
          <a:lstStyle/>
          <a:p>
            <a:pPr marL="0" indent="0">
              <a:buNone/>
            </a:pPr>
            <a:r>
              <a:rPr lang="en-US" sz="1250" dirty="0">
                <a:solidFill>
                  <a:srgbClr val="1F2937"/>
                </a:solidFill>
              </a:rPr>
              <a:t>ingrédients</a:t>
            </a:r>
            <a:endParaRPr lang="en-US" sz="1250" dirty="0"/>
          </a:p>
        </p:txBody>
      </p:sp>
      <p:sp>
        <p:nvSpPr>
          <p:cNvPr id="20" name="Shape 18"/>
          <p:cNvSpPr/>
          <p:nvPr/>
        </p:nvSpPr>
        <p:spPr>
          <a:xfrm>
            <a:off x="4663440" y="3813048"/>
            <a:ext cx="109728" cy="109728"/>
          </a:xfrm>
          <a:prstGeom prst="ellipse">
            <a:avLst/>
          </a:prstGeom>
          <a:solidFill>
            <a:srgbClr val="F97316"/>
          </a:solidFill>
          <a:ln w="12700">
            <a:solidFill>
              <a:srgbClr val="F97316"/>
            </a:solidFill>
            <a:prstDash val="solid"/>
          </a:ln>
        </p:spPr>
      </p:sp>
      <p:sp>
        <p:nvSpPr>
          <p:cNvPr id="21" name="Text 19"/>
          <p:cNvSpPr/>
          <p:nvPr/>
        </p:nvSpPr>
        <p:spPr>
          <a:xfrm>
            <a:off x="4864608" y="3739896"/>
            <a:ext cx="2359152" cy="219456"/>
          </a:xfrm>
          <a:prstGeom prst="rect">
            <a:avLst/>
          </a:prstGeom>
          <a:noFill/>
          <a:ln/>
        </p:spPr>
        <p:txBody>
          <a:bodyPr wrap="square" lIns="0" tIns="0" rIns="0" bIns="0" rtlCol="0" anchor="ctr">
            <a:normAutofit/>
          </a:bodyPr>
          <a:lstStyle/>
          <a:p>
            <a:pPr marL="0" indent="0">
              <a:buNone/>
            </a:pPr>
            <a:r>
              <a:rPr lang="en-US" sz="1250" dirty="0">
                <a:solidFill>
                  <a:srgbClr val="1F2937"/>
                </a:solidFill>
              </a:rPr>
              <a:t>appareil</a:t>
            </a:r>
            <a:endParaRPr lang="en-US" sz="1250" dirty="0"/>
          </a:p>
        </p:txBody>
      </p:sp>
      <p:sp>
        <p:nvSpPr>
          <p:cNvPr id="22" name="Shape 20"/>
          <p:cNvSpPr/>
          <p:nvPr/>
        </p:nvSpPr>
        <p:spPr>
          <a:xfrm>
            <a:off x="4663440" y="4160520"/>
            <a:ext cx="109728" cy="109728"/>
          </a:xfrm>
          <a:prstGeom prst="ellipse">
            <a:avLst/>
          </a:prstGeom>
          <a:solidFill>
            <a:srgbClr val="F97316"/>
          </a:solidFill>
          <a:ln w="12700">
            <a:solidFill>
              <a:srgbClr val="F97316"/>
            </a:solidFill>
            <a:prstDash val="solid"/>
          </a:ln>
        </p:spPr>
      </p:sp>
      <p:sp>
        <p:nvSpPr>
          <p:cNvPr id="23" name="Text 21"/>
          <p:cNvSpPr/>
          <p:nvPr/>
        </p:nvSpPr>
        <p:spPr>
          <a:xfrm>
            <a:off x="4864608" y="4087368"/>
            <a:ext cx="2359152" cy="219456"/>
          </a:xfrm>
          <a:prstGeom prst="rect">
            <a:avLst/>
          </a:prstGeom>
          <a:noFill/>
          <a:ln/>
        </p:spPr>
        <p:txBody>
          <a:bodyPr wrap="square" lIns="0" tIns="0" rIns="0" bIns="0" rtlCol="0" anchor="ctr">
            <a:normAutofit/>
          </a:bodyPr>
          <a:lstStyle/>
          <a:p>
            <a:pPr marL="0" indent="0">
              <a:buNone/>
            </a:pPr>
            <a:r>
              <a:rPr lang="en-US" sz="1250" dirty="0">
                <a:solidFill>
                  <a:srgbClr val="1F2937"/>
                </a:solidFill>
              </a:rPr>
              <a:t>ustensiles</a:t>
            </a:r>
            <a:endParaRPr lang="en-US" sz="1250" dirty="0"/>
          </a:p>
        </p:txBody>
      </p:sp>
      <p:sp>
        <p:nvSpPr>
          <p:cNvPr id="24" name="Shape 22"/>
          <p:cNvSpPr/>
          <p:nvPr/>
        </p:nvSpPr>
        <p:spPr>
          <a:xfrm>
            <a:off x="7955280" y="1920240"/>
            <a:ext cx="3520440" cy="3566160"/>
          </a:xfrm>
          <a:prstGeom prst="roundRect">
            <a:avLst>
              <a:gd name="adj" fmla="val 2597"/>
            </a:avLst>
          </a:prstGeom>
          <a:solidFill>
            <a:srgbClr val="101827"/>
          </a:solidFill>
          <a:ln w="12700">
            <a:solidFill>
              <a:srgbClr val="101827"/>
            </a:solidFill>
            <a:prstDash val="solid"/>
          </a:ln>
        </p:spPr>
      </p:sp>
      <p:sp>
        <p:nvSpPr>
          <p:cNvPr id="25" name="Text 23"/>
          <p:cNvSpPr/>
          <p:nvPr/>
        </p:nvSpPr>
        <p:spPr>
          <a:xfrm>
            <a:off x="8275320" y="2240280"/>
            <a:ext cx="2377440" cy="274320"/>
          </a:xfrm>
          <a:prstGeom prst="rect">
            <a:avLst/>
          </a:prstGeom>
          <a:noFill/>
          <a:ln/>
        </p:spPr>
        <p:txBody>
          <a:bodyPr wrap="square" lIns="0" tIns="0" rIns="0" bIns="0" rtlCol="0" anchor="ctr"/>
          <a:lstStyle/>
          <a:p>
            <a:pPr marL="0" indent="0">
              <a:buNone/>
            </a:pPr>
            <a:r>
              <a:rPr lang="en-US" sz="1700" b="1" dirty="0">
                <a:solidFill>
                  <a:srgbClr val="FFFFFF"/>
                </a:solidFill>
              </a:rPr>
              <a:t>Contraintes</a:t>
            </a:r>
            <a:endParaRPr lang="en-US" sz="1700" dirty="0"/>
          </a:p>
        </p:txBody>
      </p:sp>
      <p:sp>
        <p:nvSpPr>
          <p:cNvPr id="26" name="Shape 24"/>
          <p:cNvSpPr/>
          <p:nvPr/>
        </p:nvSpPr>
        <p:spPr>
          <a:xfrm>
            <a:off x="8275320" y="2798064"/>
            <a:ext cx="109728" cy="109728"/>
          </a:xfrm>
          <a:prstGeom prst="ellipse">
            <a:avLst/>
          </a:prstGeom>
          <a:solidFill>
            <a:srgbClr val="FACC15"/>
          </a:solidFill>
          <a:ln w="12700">
            <a:solidFill>
              <a:srgbClr val="FACC15"/>
            </a:solidFill>
            <a:prstDash val="solid"/>
          </a:ln>
        </p:spPr>
      </p:sp>
      <p:sp>
        <p:nvSpPr>
          <p:cNvPr id="27" name="Text 25"/>
          <p:cNvSpPr/>
          <p:nvPr/>
        </p:nvSpPr>
        <p:spPr>
          <a:xfrm>
            <a:off x="8476488" y="2724912"/>
            <a:ext cx="2450592" cy="219456"/>
          </a:xfrm>
          <a:prstGeom prst="rect">
            <a:avLst/>
          </a:prstGeom>
          <a:noFill/>
          <a:ln/>
        </p:spPr>
        <p:txBody>
          <a:bodyPr wrap="square" lIns="0" tIns="0" rIns="0" bIns="0" rtlCol="0" anchor="ctr">
            <a:normAutofit/>
          </a:bodyPr>
          <a:lstStyle/>
          <a:p>
            <a:pPr marL="0" indent="0">
              <a:buNone/>
            </a:pPr>
            <a:r>
              <a:rPr lang="en-US" sz="1250" dirty="0">
                <a:solidFill>
                  <a:srgbClr val="FFFFFF"/>
                </a:solidFill>
              </a:rPr>
              <a:t>réponse immédiate</a:t>
            </a:r>
            <a:endParaRPr lang="en-US" sz="1250" dirty="0"/>
          </a:p>
        </p:txBody>
      </p:sp>
      <p:sp>
        <p:nvSpPr>
          <p:cNvPr id="28" name="Shape 26"/>
          <p:cNvSpPr/>
          <p:nvPr/>
        </p:nvSpPr>
        <p:spPr>
          <a:xfrm>
            <a:off x="8275320" y="3191256"/>
            <a:ext cx="109728" cy="109728"/>
          </a:xfrm>
          <a:prstGeom prst="ellipse">
            <a:avLst/>
          </a:prstGeom>
          <a:solidFill>
            <a:srgbClr val="FACC15"/>
          </a:solidFill>
          <a:ln w="12700">
            <a:solidFill>
              <a:srgbClr val="FACC15"/>
            </a:solidFill>
            <a:prstDash val="solid"/>
          </a:ln>
        </p:spPr>
      </p:sp>
      <p:sp>
        <p:nvSpPr>
          <p:cNvPr id="29" name="Text 27"/>
          <p:cNvSpPr/>
          <p:nvPr/>
        </p:nvSpPr>
        <p:spPr>
          <a:xfrm>
            <a:off x="8476488" y="3118104"/>
            <a:ext cx="2450592" cy="219456"/>
          </a:xfrm>
          <a:prstGeom prst="rect">
            <a:avLst/>
          </a:prstGeom>
          <a:noFill/>
          <a:ln/>
        </p:spPr>
        <p:txBody>
          <a:bodyPr wrap="square" lIns="0" tIns="0" rIns="0" bIns="0" rtlCol="0" anchor="ctr">
            <a:normAutofit/>
          </a:bodyPr>
          <a:lstStyle/>
          <a:p>
            <a:pPr marL="0" indent="0">
              <a:buNone/>
            </a:pPr>
            <a:r>
              <a:rPr lang="en-US" sz="1250" dirty="0">
                <a:solidFill>
                  <a:srgbClr val="FFFFFF"/>
                </a:solidFill>
              </a:rPr>
              <a:t>tags synchronisés</a:t>
            </a:r>
            <a:endParaRPr lang="en-US" sz="1250" dirty="0"/>
          </a:p>
        </p:txBody>
      </p:sp>
      <p:sp>
        <p:nvSpPr>
          <p:cNvPr id="30" name="Shape 28"/>
          <p:cNvSpPr/>
          <p:nvPr/>
        </p:nvSpPr>
        <p:spPr>
          <a:xfrm>
            <a:off x="8275320" y="3584448"/>
            <a:ext cx="109728" cy="109728"/>
          </a:xfrm>
          <a:prstGeom prst="ellipse">
            <a:avLst/>
          </a:prstGeom>
          <a:solidFill>
            <a:srgbClr val="FACC15"/>
          </a:solidFill>
          <a:ln w="12700">
            <a:solidFill>
              <a:srgbClr val="FACC15"/>
            </a:solidFill>
            <a:prstDash val="solid"/>
          </a:ln>
        </p:spPr>
      </p:sp>
      <p:sp>
        <p:nvSpPr>
          <p:cNvPr id="31" name="Text 29"/>
          <p:cNvSpPr/>
          <p:nvPr/>
        </p:nvSpPr>
        <p:spPr>
          <a:xfrm>
            <a:off x="8476488" y="3511296"/>
            <a:ext cx="2450592" cy="219456"/>
          </a:xfrm>
          <a:prstGeom prst="rect">
            <a:avLst/>
          </a:prstGeom>
          <a:noFill/>
          <a:ln/>
        </p:spPr>
        <p:txBody>
          <a:bodyPr wrap="square" lIns="0" tIns="0" rIns="0" bIns="0" rtlCol="0" anchor="ctr">
            <a:normAutofit/>
          </a:bodyPr>
          <a:lstStyle/>
          <a:p>
            <a:pPr marL="0" indent="0">
              <a:buNone/>
            </a:pPr>
            <a:r>
              <a:rPr lang="en-US" sz="1250" dirty="0">
                <a:solidFill>
                  <a:srgbClr val="FFFFFF"/>
                </a:solidFill>
              </a:rPr>
              <a:t>résultats cohérents</a:t>
            </a:r>
            <a:endParaRPr lang="en-US" sz="1250" dirty="0"/>
          </a:p>
        </p:txBody>
      </p:sp>
      <p:sp>
        <p:nvSpPr>
          <p:cNvPr id="32" name="Shape 30"/>
          <p:cNvSpPr/>
          <p:nvPr/>
        </p:nvSpPr>
        <p:spPr>
          <a:xfrm>
            <a:off x="8275320" y="3977640"/>
            <a:ext cx="109728" cy="109728"/>
          </a:xfrm>
          <a:prstGeom prst="ellipse">
            <a:avLst/>
          </a:prstGeom>
          <a:solidFill>
            <a:srgbClr val="FACC15"/>
          </a:solidFill>
          <a:ln w="12700">
            <a:solidFill>
              <a:srgbClr val="FACC15"/>
            </a:solidFill>
            <a:prstDash val="solid"/>
          </a:ln>
        </p:spPr>
      </p:sp>
      <p:sp>
        <p:nvSpPr>
          <p:cNvPr id="33" name="Text 31"/>
          <p:cNvSpPr/>
          <p:nvPr/>
        </p:nvSpPr>
        <p:spPr>
          <a:xfrm>
            <a:off x="8476488" y="3904488"/>
            <a:ext cx="2450592" cy="219456"/>
          </a:xfrm>
          <a:prstGeom prst="rect">
            <a:avLst/>
          </a:prstGeom>
          <a:noFill/>
          <a:ln/>
        </p:spPr>
        <p:txBody>
          <a:bodyPr wrap="square" lIns="0" tIns="0" rIns="0" bIns="0" rtlCol="0" anchor="ctr">
            <a:normAutofit/>
          </a:bodyPr>
          <a:lstStyle/>
          <a:p>
            <a:pPr marL="0" indent="0">
              <a:buNone/>
            </a:pPr>
            <a:r>
              <a:rPr lang="en-US" sz="1250" dirty="0">
                <a:solidFill>
                  <a:srgbClr val="FFFFFF"/>
                </a:solidFill>
              </a:rPr>
              <a:t>code maintenable</a:t>
            </a:r>
            <a:endParaRPr lang="en-US" sz="1250" dirty="0"/>
          </a:p>
        </p:txBody>
      </p:sp>
      <p:sp>
        <p:nvSpPr>
          <p:cNvPr id="34" name="Text 32"/>
          <p:cNvSpPr/>
          <p:nvPr/>
        </p:nvSpPr>
        <p:spPr>
          <a:xfrm>
            <a:off x="868680" y="5715000"/>
            <a:ext cx="10241280" cy="256032"/>
          </a:xfrm>
          <a:prstGeom prst="rect">
            <a:avLst/>
          </a:prstGeom>
          <a:noFill/>
          <a:ln/>
        </p:spPr>
        <p:txBody>
          <a:bodyPr wrap="square" lIns="0" tIns="0" rIns="0" bIns="0" rtlCol="0" anchor="ctr"/>
          <a:lstStyle/>
          <a:p>
            <a:pPr marL="0" indent="0" algn="ctr">
              <a:buNone/>
            </a:pPr>
            <a:r>
              <a:rPr lang="en-US" sz="1450" b="1" dirty="0">
                <a:solidFill>
                  <a:srgbClr val="F97316"/>
                </a:solidFill>
              </a:rPr>
              <a:t>Message clé : chercher vite + garder la cohérence des filtres.</a:t>
            </a:r>
            <a:endParaRPr lang="en-US" sz="1450" dirty="0"/>
          </a:p>
        </p:txBody>
      </p:sp>
      <p:sp>
        <p:nvSpPr>
          <p:cNvPr id="35" name="Shape 33"/>
          <p:cNvSpPr/>
          <p:nvPr/>
        </p:nvSpPr>
        <p:spPr>
          <a:xfrm>
            <a:off x="640080" y="6291072"/>
            <a:ext cx="10881360" cy="0"/>
          </a:xfrm>
          <a:prstGeom prst="line">
            <a:avLst/>
          </a:prstGeom>
          <a:noFill/>
          <a:ln w="12700">
            <a:solidFill>
              <a:srgbClr val="E5E7EB"/>
            </a:solidFill>
            <a:prstDash val="solid"/>
          </a:ln>
        </p:spPr>
      </p:sp>
      <p:sp>
        <p:nvSpPr>
          <p:cNvPr id="36" name="Text 34"/>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37" name="Text 35"/>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INVESTIGATION</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fontScale="92500"/>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Deux systèmes à faire travailler ensemble</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fontScale="92500"/>
          </a:bodyPr>
          <a:lstStyle/>
          <a:p>
            <a:pPr marL="0" indent="0">
              <a:buNone/>
            </a:pPr>
            <a:r>
              <a:rPr lang="en-US" sz="1260" dirty="0">
                <a:solidFill>
                  <a:srgbClr val="6B7280"/>
                </a:solidFill>
              </a:rPr>
              <a:t>La recherche principale et les tags doivent produire un résultat unique et cohérent.</a:t>
            </a:r>
            <a:endParaRPr lang="en-US" sz="1260" dirty="0"/>
          </a:p>
        </p:txBody>
      </p:sp>
      <p:sp>
        <p:nvSpPr>
          <p:cNvPr id="5" name="Shape 3"/>
          <p:cNvSpPr/>
          <p:nvPr/>
        </p:nvSpPr>
        <p:spPr>
          <a:xfrm>
            <a:off x="822960" y="1783080"/>
            <a:ext cx="4617720" cy="3429000"/>
          </a:xfrm>
          <a:prstGeom prst="roundRect">
            <a:avLst>
              <a:gd name="adj" fmla="val 2667"/>
            </a:avLst>
          </a:prstGeom>
          <a:solidFill>
            <a:srgbClr val="FFFFFF"/>
          </a:solidFill>
          <a:ln w="12700">
            <a:solidFill>
              <a:srgbClr val="E5E7EB"/>
            </a:solidFill>
            <a:prstDash val="solid"/>
          </a:ln>
        </p:spPr>
      </p:sp>
      <p:sp>
        <p:nvSpPr>
          <p:cNvPr id="6" name="Text 4"/>
          <p:cNvSpPr/>
          <p:nvPr/>
        </p:nvSpPr>
        <p:spPr>
          <a:xfrm>
            <a:off x="1188720" y="2130552"/>
            <a:ext cx="3108960" cy="292608"/>
          </a:xfrm>
          <a:prstGeom prst="rect">
            <a:avLst/>
          </a:prstGeom>
          <a:noFill/>
          <a:ln/>
        </p:spPr>
        <p:txBody>
          <a:bodyPr wrap="square" lIns="0" tIns="0" rIns="0" bIns="0" rtlCol="0" anchor="ctr"/>
          <a:lstStyle/>
          <a:p>
            <a:pPr marL="0" indent="0">
              <a:buNone/>
            </a:pPr>
            <a:r>
              <a:rPr lang="en-US" sz="1800" b="1" dirty="0">
                <a:solidFill>
                  <a:srgbClr val="101827"/>
                </a:solidFill>
              </a:rPr>
              <a:t>1. Recherche principale</a:t>
            </a:r>
            <a:endParaRPr lang="en-US" sz="1800" dirty="0"/>
          </a:p>
        </p:txBody>
      </p:sp>
      <p:sp>
        <p:nvSpPr>
          <p:cNvPr id="7" name="Text 5"/>
          <p:cNvSpPr/>
          <p:nvPr/>
        </p:nvSpPr>
        <p:spPr>
          <a:xfrm>
            <a:off x="1188720" y="2560320"/>
            <a:ext cx="3566160" cy="329184"/>
          </a:xfrm>
          <a:prstGeom prst="rect">
            <a:avLst/>
          </a:prstGeom>
          <a:noFill/>
          <a:ln/>
        </p:spPr>
        <p:txBody>
          <a:bodyPr wrap="square" lIns="0" tIns="0" rIns="0" bIns="0" rtlCol="0" anchor="ctr"/>
          <a:lstStyle/>
          <a:p>
            <a:pPr marL="0" indent="0">
              <a:buNone/>
            </a:pPr>
            <a:r>
              <a:rPr lang="en-US" sz="1270" dirty="0">
                <a:solidFill>
                  <a:srgbClr val="6B7280"/>
                </a:solidFill>
              </a:rPr>
              <a:t>Elle filtre dès que la saisie atteint 3 caractères.</a:t>
            </a:r>
            <a:endParaRPr lang="en-US" sz="1270" dirty="0"/>
          </a:p>
        </p:txBody>
      </p:sp>
      <p:sp>
        <p:nvSpPr>
          <p:cNvPr id="8" name="Shape 6"/>
          <p:cNvSpPr/>
          <p:nvPr/>
        </p:nvSpPr>
        <p:spPr>
          <a:xfrm>
            <a:off x="1188720" y="3136392"/>
            <a:ext cx="109728" cy="109728"/>
          </a:xfrm>
          <a:prstGeom prst="ellipse">
            <a:avLst/>
          </a:prstGeom>
          <a:solidFill>
            <a:srgbClr val="F97316"/>
          </a:solidFill>
          <a:ln w="12700">
            <a:solidFill>
              <a:srgbClr val="F97316"/>
            </a:solidFill>
            <a:prstDash val="solid"/>
          </a:ln>
        </p:spPr>
      </p:sp>
      <p:sp>
        <p:nvSpPr>
          <p:cNvPr id="9" name="Text 7"/>
          <p:cNvSpPr/>
          <p:nvPr/>
        </p:nvSpPr>
        <p:spPr>
          <a:xfrm>
            <a:off x="1389888" y="3063240"/>
            <a:ext cx="3273552" cy="219456"/>
          </a:xfrm>
          <a:prstGeom prst="rect">
            <a:avLst/>
          </a:prstGeom>
          <a:noFill/>
          <a:ln/>
        </p:spPr>
        <p:txBody>
          <a:bodyPr wrap="square" lIns="0" tIns="0" rIns="0" bIns="0" rtlCol="0" anchor="ctr">
            <a:normAutofit/>
          </a:bodyPr>
          <a:lstStyle/>
          <a:p>
            <a:pPr marL="0" indent="0">
              <a:buNone/>
            </a:pPr>
            <a:r>
              <a:rPr lang="en-US" sz="1400" dirty="0">
                <a:solidFill>
                  <a:srgbClr val="1F2937"/>
                </a:solidFill>
              </a:rPr>
              <a:t>nom</a:t>
            </a:r>
            <a:endParaRPr lang="en-US" sz="1400" dirty="0"/>
          </a:p>
        </p:txBody>
      </p:sp>
      <p:sp>
        <p:nvSpPr>
          <p:cNvPr id="10" name="Shape 8"/>
          <p:cNvSpPr/>
          <p:nvPr/>
        </p:nvSpPr>
        <p:spPr>
          <a:xfrm>
            <a:off x="1188720" y="3557016"/>
            <a:ext cx="109728" cy="109728"/>
          </a:xfrm>
          <a:prstGeom prst="ellipse">
            <a:avLst/>
          </a:prstGeom>
          <a:solidFill>
            <a:srgbClr val="F97316"/>
          </a:solidFill>
          <a:ln w="12700">
            <a:solidFill>
              <a:srgbClr val="F97316"/>
            </a:solidFill>
            <a:prstDash val="solid"/>
          </a:ln>
        </p:spPr>
      </p:sp>
      <p:sp>
        <p:nvSpPr>
          <p:cNvPr id="11" name="Text 9"/>
          <p:cNvSpPr/>
          <p:nvPr/>
        </p:nvSpPr>
        <p:spPr>
          <a:xfrm>
            <a:off x="1389888" y="3483864"/>
            <a:ext cx="3273552" cy="219456"/>
          </a:xfrm>
          <a:prstGeom prst="rect">
            <a:avLst/>
          </a:prstGeom>
          <a:noFill/>
          <a:ln/>
        </p:spPr>
        <p:txBody>
          <a:bodyPr wrap="square" lIns="0" tIns="0" rIns="0" bIns="0" rtlCol="0" anchor="ctr">
            <a:normAutofit/>
          </a:bodyPr>
          <a:lstStyle/>
          <a:p>
            <a:pPr marL="0" indent="0">
              <a:buNone/>
            </a:pPr>
            <a:r>
              <a:rPr lang="en-US" sz="1400" dirty="0">
                <a:solidFill>
                  <a:srgbClr val="1F2937"/>
                </a:solidFill>
              </a:rPr>
              <a:t>description</a:t>
            </a:r>
            <a:endParaRPr lang="en-US" sz="1400" dirty="0"/>
          </a:p>
        </p:txBody>
      </p:sp>
      <p:sp>
        <p:nvSpPr>
          <p:cNvPr id="12" name="Shape 10"/>
          <p:cNvSpPr/>
          <p:nvPr/>
        </p:nvSpPr>
        <p:spPr>
          <a:xfrm>
            <a:off x="1188720" y="3977640"/>
            <a:ext cx="109728" cy="109728"/>
          </a:xfrm>
          <a:prstGeom prst="ellipse">
            <a:avLst/>
          </a:prstGeom>
          <a:solidFill>
            <a:srgbClr val="F97316"/>
          </a:solidFill>
          <a:ln w="12700">
            <a:solidFill>
              <a:srgbClr val="F97316"/>
            </a:solidFill>
            <a:prstDash val="solid"/>
          </a:ln>
        </p:spPr>
      </p:sp>
      <p:sp>
        <p:nvSpPr>
          <p:cNvPr id="13" name="Text 11"/>
          <p:cNvSpPr/>
          <p:nvPr/>
        </p:nvSpPr>
        <p:spPr>
          <a:xfrm>
            <a:off x="1389888" y="3904488"/>
            <a:ext cx="3273552" cy="219456"/>
          </a:xfrm>
          <a:prstGeom prst="rect">
            <a:avLst/>
          </a:prstGeom>
          <a:noFill/>
          <a:ln/>
        </p:spPr>
        <p:txBody>
          <a:bodyPr wrap="square" lIns="0" tIns="0" rIns="0" bIns="0" rtlCol="0" anchor="ctr">
            <a:normAutofit/>
          </a:bodyPr>
          <a:lstStyle/>
          <a:p>
            <a:pPr marL="0" indent="0">
              <a:buNone/>
            </a:pPr>
            <a:r>
              <a:rPr lang="en-US" sz="1400" dirty="0">
                <a:solidFill>
                  <a:srgbClr val="1F2937"/>
                </a:solidFill>
              </a:rPr>
              <a:t>ingrédients</a:t>
            </a:r>
            <a:endParaRPr lang="en-US" sz="1400" dirty="0"/>
          </a:p>
        </p:txBody>
      </p:sp>
      <p:sp>
        <p:nvSpPr>
          <p:cNvPr id="14" name="Shape 12"/>
          <p:cNvSpPr/>
          <p:nvPr/>
        </p:nvSpPr>
        <p:spPr>
          <a:xfrm>
            <a:off x="6766560" y="1783080"/>
            <a:ext cx="4617720" cy="3429000"/>
          </a:xfrm>
          <a:prstGeom prst="roundRect">
            <a:avLst>
              <a:gd name="adj" fmla="val 2667"/>
            </a:avLst>
          </a:prstGeom>
          <a:solidFill>
            <a:srgbClr val="FFFFFF"/>
          </a:solidFill>
          <a:ln w="12700">
            <a:solidFill>
              <a:srgbClr val="E5E7EB"/>
            </a:solidFill>
            <a:prstDash val="solid"/>
          </a:ln>
        </p:spPr>
      </p:sp>
      <p:sp>
        <p:nvSpPr>
          <p:cNvPr id="15" name="Text 13"/>
          <p:cNvSpPr/>
          <p:nvPr/>
        </p:nvSpPr>
        <p:spPr>
          <a:xfrm>
            <a:off x="7132320" y="2130552"/>
            <a:ext cx="3108960" cy="292608"/>
          </a:xfrm>
          <a:prstGeom prst="rect">
            <a:avLst/>
          </a:prstGeom>
          <a:noFill/>
          <a:ln/>
        </p:spPr>
        <p:txBody>
          <a:bodyPr wrap="square" lIns="0" tIns="0" rIns="0" bIns="0" rtlCol="0" anchor="ctr"/>
          <a:lstStyle/>
          <a:p>
            <a:pPr marL="0" indent="0">
              <a:buNone/>
            </a:pPr>
            <a:r>
              <a:rPr lang="en-US" sz="1800" b="1" dirty="0">
                <a:solidFill>
                  <a:srgbClr val="101827"/>
                </a:solidFill>
              </a:rPr>
              <a:t>2. Recherche par tags</a:t>
            </a:r>
            <a:endParaRPr lang="en-US" sz="1800" dirty="0"/>
          </a:p>
        </p:txBody>
      </p:sp>
      <p:sp>
        <p:nvSpPr>
          <p:cNvPr id="16" name="Text 14"/>
          <p:cNvSpPr/>
          <p:nvPr/>
        </p:nvSpPr>
        <p:spPr>
          <a:xfrm>
            <a:off x="7132320" y="2560320"/>
            <a:ext cx="3566160" cy="329184"/>
          </a:xfrm>
          <a:prstGeom prst="rect">
            <a:avLst/>
          </a:prstGeom>
          <a:noFill/>
          <a:ln/>
        </p:spPr>
        <p:txBody>
          <a:bodyPr wrap="square" lIns="0" tIns="0" rIns="0" bIns="0" rtlCol="0" anchor="ctr"/>
          <a:lstStyle/>
          <a:p>
            <a:pPr marL="0" indent="0">
              <a:buNone/>
            </a:pPr>
            <a:r>
              <a:rPr lang="en-US" sz="1270" dirty="0">
                <a:solidFill>
                  <a:srgbClr val="6B7280"/>
                </a:solidFill>
              </a:rPr>
              <a:t>Elle affine progressivement les résultats compatibles.</a:t>
            </a:r>
            <a:endParaRPr lang="en-US" sz="1270" dirty="0"/>
          </a:p>
        </p:txBody>
      </p:sp>
      <p:sp>
        <p:nvSpPr>
          <p:cNvPr id="17" name="Shape 15"/>
          <p:cNvSpPr/>
          <p:nvPr/>
        </p:nvSpPr>
        <p:spPr>
          <a:xfrm>
            <a:off x="7132320" y="3136392"/>
            <a:ext cx="109728" cy="109728"/>
          </a:xfrm>
          <a:prstGeom prst="ellipse">
            <a:avLst/>
          </a:prstGeom>
          <a:solidFill>
            <a:srgbClr val="F97316"/>
          </a:solidFill>
          <a:ln w="12700">
            <a:solidFill>
              <a:srgbClr val="F97316"/>
            </a:solidFill>
            <a:prstDash val="solid"/>
          </a:ln>
        </p:spPr>
      </p:sp>
      <p:sp>
        <p:nvSpPr>
          <p:cNvPr id="18" name="Text 16"/>
          <p:cNvSpPr/>
          <p:nvPr/>
        </p:nvSpPr>
        <p:spPr>
          <a:xfrm>
            <a:off x="7333488" y="3063240"/>
            <a:ext cx="3273552" cy="219456"/>
          </a:xfrm>
          <a:prstGeom prst="rect">
            <a:avLst/>
          </a:prstGeom>
          <a:noFill/>
          <a:ln/>
        </p:spPr>
        <p:txBody>
          <a:bodyPr wrap="square" lIns="0" tIns="0" rIns="0" bIns="0" rtlCol="0" anchor="ctr">
            <a:normAutofit/>
          </a:bodyPr>
          <a:lstStyle/>
          <a:p>
            <a:pPr marL="0" indent="0">
              <a:buNone/>
            </a:pPr>
            <a:r>
              <a:rPr lang="en-US" sz="1400" dirty="0">
                <a:solidFill>
                  <a:srgbClr val="1F2937"/>
                </a:solidFill>
              </a:rPr>
              <a:t>ingrédients</a:t>
            </a:r>
            <a:endParaRPr lang="en-US" sz="1400" dirty="0"/>
          </a:p>
        </p:txBody>
      </p:sp>
      <p:sp>
        <p:nvSpPr>
          <p:cNvPr id="19" name="Shape 17"/>
          <p:cNvSpPr/>
          <p:nvPr/>
        </p:nvSpPr>
        <p:spPr>
          <a:xfrm>
            <a:off x="7132320" y="3557016"/>
            <a:ext cx="109728" cy="109728"/>
          </a:xfrm>
          <a:prstGeom prst="ellipse">
            <a:avLst/>
          </a:prstGeom>
          <a:solidFill>
            <a:srgbClr val="F97316"/>
          </a:solidFill>
          <a:ln w="12700">
            <a:solidFill>
              <a:srgbClr val="F97316"/>
            </a:solidFill>
            <a:prstDash val="solid"/>
          </a:ln>
        </p:spPr>
      </p:sp>
      <p:sp>
        <p:nvSpPr>
          <p:cNvPr id="20" name="Text 18"/>
          <p:cNvSpPr/>
          <p:nvPr/>
        </p:nvSpPr>
        <p:spPr>
          <a:xfrm>
            <a:off x="7333488" y="3483864"/>
            <a:ext cx="3273552" cy="219456"/>
          </a:xfrm>
          <a:prstGeom prst="rect">
            <a:avLst/>
          </a:prstGeom>
          <a:noFill/>
          <a:ln/>
        </p:spPr>
        <p:txBody>
          <a:bodyPr wrap="square" lIns="0" tIns="0" rIns="0" bIns="0" rtlCol="0" anchor="ctr">
            <a:normAutofit/>
          </a:bodyPr>
          <a:lstStyle/>
          <a:p>
            <a:pPr marL="0" indent="0">
              <a:buNone/>
            </a:pPr>
            <a:r>
              <a:rPr lang="en-US" sz="1400" dirty="0">
                <a:solidFill>
                  <a:srgbClr val="1F2937"/>
                </a:solidFill>
              </a:rPr>
              <a:t>appareils</a:t>
            </a:r>
            <a:endParaRPr lang="en-US" sz="1400" dirty="0"/>
          </a:p>
        </p:txBody>
      </p:sp>
      <p:sp>
        <p:nvSpPr>
          <p:cNvPr id="21" name="Shape 19"/>
          <p:cNvSpPr/>
          <p:nvPr/>
        </p:nvSpPr>
        <p:spPr>
          <a:xfrm>
            <a:off x="7132320" y="3977640"/>
            <a:ext cx="109728" cy="109728"/>
          </a:xfrm>
          <a:prstGeom prst="ellipse">
            <a:avLst/>
          </a:prstGeom>
          <a:solidFill>
            <a:srgbClr val="F97316"/>
          </a:solidFill>
          <a:ln w="12700">
            <a:solidFill>
              <a:srgbClr val="F97316"/>
            </a:solidFill>
            <a:prstDash val="solid"/>
          </a:ln>
        </p:spPr>
      </p:sp>
      <p:sp>
        <p:nvSpPr>
          <p:cNvPr id="22" name="Text 20"/>
          <p:cNvSpPr/>
          <p:nvPr/>
        </p:nvSpPr>
        <p:spPr>
          <a:xfrm>
            <a:off x="7333488" y="3904488"/>
            <a:ext cx="3273552" cy="219456"/>
          </a:xfrm>
          <a:prstGeom prst="rect">
            <a:avLst/>
          </a:prstGeom>
          <a:noFill/>
          <a:ln/>
        </p:spPr>
        <p:txBody>
          <a:bodyPr wrap="square" lIns="0" tIns="0" rIns="0" bIns="0" rtlCol="0" anchor="ctr">
            <a:normAutofit/>
          </a:bodyPr>
          <a:lstStyle/>
          <a:p>
            <a:pPr marL="0" indent="0">
              <a:buNone/>
            </a:pPr>
            <a:r>
              <a:rPr lang="en-US" sz="1400" dirty="0">
                <a:solidFill>
                  <a:srgbClr val="1F2937"/>
                </a:solidFill>
              </a:rPr>
              <a:t>ustensiles</a:t>
            </a:r>
            <a:endParaRPr lang="en-US" sz="1400" dirty="0"/>
          </a:p>
        </p:txBody>
      </p:sp>
      <p:sp>
        <p:nvSpPr>
          <p:cNvPr id="23" name="Shape 21"/>
          <p:cNvSpPr/>
          <p:nvPr/>
        </p:nvSpPr>
        <p:spPr>
          <a:xfrm>
            <a:off x="5440680" y="3337560"/>
            <a:ext cx="1325880" cy="0"/>
          </a:xfrm>
          <a:prstGeom prst="line">
            <a:avLst/>
          </a:prstGeom>
          <a:noFill/>
          <a:ln w="38100">
            <a:solidFill>
              <a:srgbClr val="F97316"/>
            </a:solidFill>
            <a:prstDash val="solid"/>
            <a:headEnd type="none"/>
            <a:tailEnd type="triangle"/>
          </a:ln>
        </p:spPr>
      </p:sp>
      <p:sp>
        <p:nvSpPr>
          <p:cNvPr id="24" name="Shape 22"/>
          <p:cNvSpPr/>
          <p:nvPr/>
        </p:nvSpPr>
        <p:spPr>
          <a:xfrm>
            <a:off x="6766560" y="3657600"/>
            <a:ext cx="0" cy="0"/>
          </a:xfrm>
          <a:prstGeom prst="line">
            <a:avLst/>
          </a:prstGeom>
          <a:noFill/>
          <a:ln w="38100">
            <a:solidFill>
              <a:srgbClr val="F97316"/>
            </a:solidFill>
            <a:prstDash val="solid"/>
            <a:headEnd type="none"/>
            <a:tailEnd type="triangle"/>
          </a:ln>
        </p:spPr>
      </p:sp>
      <p:sp>
        <p:nvSpPr>
          <p:cNvPr id="25" name="Shape 23"/>
          <p:cNvSpPr/>
          <p:nvPr/>
        </p:nvSpPr>
        <p:spPr>
          <a:xfrm>
            <a:off x="5010912" y="2971800"/>
            <a:ext cx="2157984" cy="310896"/>
          </a:xfrm>
          <a:prstGeom prst="roundRect">
            <a:avLst>
              <a:gd name="adj" fmla="val 17647"/>
            </a:avLst>
          </a:prstGeom>
          <a:solidFill>
            <a:srgbClr val="FFF7ED"/>
          </a:solidFill>
          <a:ln w="12700">
            <a:solidFill>
              <a:srgbClr val="FFF7ED"/>
            </a:solidFill>
            <a:prstDash val="solid"/>
          </a:ln>
        </p:spPr>
      </p:sp>
      <p:sp>
        <p:nvSpPr>
          <p:cNvPr id="26" name="Text 24"/>
          <p:cNvSpPr/>
          <p:nvPr/>
        </p:nvSpPr>
        <p:spPr>
          <a:xfrm>
            <a:off x="5084064" y="3035808"/>
            <a:ext cx="2011680" cy="146304"/>
          </a:xfrm>
          <a:prstGeom prst="rect">
            <a:avLst/>
          </a:prstGeom>
          <a:noFill/>
          <a:ln/>
        </p:spPr>
        <p:txBody>
          <a:bodyPr wrap="square" lIns="0" tIns="0" rIns="0" bIns="0" rtlCol="0" anchor="ctr"/>
          <a:lstStyle/>
          <a:p>
            <a:pPr marL="0" indent="0" algn="ctr">
              <a:buNone/>
            </a:pPr>
            <a:r>
              <a:rPr lang="en-US" sz="850" b="1" dirty="0">
                <a:solidFill>
                  <a:srgbClr val="F97316"/>
                </a:solidFill>
              </a:rPr>
              <a:t>SYNCHRONISATION</a:t>
            </a:r>
            <a:endParaRPr lang="en-US" sz="850" dirty="0"/>
          </a:p>
        </p:txBody>
      </p:sp>
      <p:sp>
        <p:nvSpPr>
          <p:cNvPr id="27" name="Text 25"/>
          <p:cNvSpPr/>
          <p:nvPr/>
        </p:nvSpPr>
        <p:spPr>
          <a:xfrm>
            <a:off x="1920240" y="5623560"/>
            <a:ext cx="8321040" cy="256032"/>
          </a:xfrm>
          <a:prstGeom prst="rect">
            <a:avLst/>
          </a:prstGeom>
          <a:noFill/>
          <a:ln/>
        </p:spPr>
        <p:txBody>
          <a:bodyPr wrap="square" lIns="0" tIns="0" rIns="0" bIns="0" rtlCol="0" anchor="ctr"/>
          <a:lstStyle/>
          <a:p>
            <a:pPr marL="0" indent="0" algn="ctr">
              <a:buNone/>
            </a:pPr>
            <a:r>
              <a:rPr lang="en-US" sz="1360" b="1" dirty="0">
                <a:solidFill>
                  <a:srgbClr val="101827"/>
                </a:solidFill>
              </a:rPr>
              <a:t>Exemple : “poulet” + tag “four” = recettes qui respectent les deux conditions.</a:t>
            </a:r>
            <a:endParaRPr lang="en-US" sz="1360" dirty="0"/>
          </a:p>
        </p:txBody>
      </p:sp>
      <p:sp>
        <p:nvSpPr>
          <p:cNvPr id="28" name="Shape 26"/>
          <p:cNvSpPr/>
          <p:nvPr/>
        </p:nvSpPr>
        <p:spPr>
          <a:xfrm>
            <a:off x="640080" y="6291072"/>
            <a:ext cx="10881360" cy="0"/>
          </a:xfrm>
          <a:prstGeom prst="line">
            <a:avLst/>
          </a:prstGeom>
          <a:noFill/>
          <a:ln w="12700">
            <a:solidFill>
              <a:srgbClr val="E5E7EB"/>
            </a:solidFill>
            <a:prstDash val="solid"/>
          </a:ln>
        </p:spPr>
      </p:sp>
      <p:sp>
        <p:nvSpPr>
          <p:cNvPr id="29" name="Text 27"/>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30" name="Text 28"/>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DOCUMENT D’INVESTIGATION</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Workflow validé par la fiche</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Le document formalise la logique avant de passer au code.</a:t>
            </a:r>
            <a:endParaRPr lang="en-US" sz="1260" dirty="0"/>
          </a:p>
        </p:txBody>
      </p:sp>
      <p:sp>
        <p:nvSpPr>
          <p:cNvPr id="5" name="Shape 3"/>
          <p:cNvSpPr/>
          <p:nvPr/>
        </p:nvSpPr>
        <p:spPr>
          <a:xfrm>
            <a:off x="731520" y="1828800"/>
            <a:ext cx="5577840" cy="3246120"/>
          </a:xfrm>
          <a:prstGeom prst="roundRect">
            <a:avLst>
              <a:gd name="adj" fmla="val 2817"/>
            </a:avLst>
          </a:prstGeom>
          <a:solidFill>
            <a:srgbClr val="FFFFFF"/>
          </a:solidFill>
          <a:ln w="12700">
            <a:solidFill>
              <a:srgbClr val="E5E7EB"/>
            </a:solidFill>
            <a:prstDash val="solid"/>
          </a:ln>
        </p:spPr>
      </p:sp>
      <p:sp>
        <p:nvSpPr>
          <p:cNvPr id="6" name="Shape 4"/>
          <p:cNvSpPr/>
          <p:nvPr/>
        </p:nvSpPr>
        <p:spPr>
          <a:xfrm>
            <a:off x="1051560" y="2240280"/>
            <a:ext cx="420624" cy="420624"/>
          </a:xfrm>
          <a:prstGeom prst="ellipse">
            <a:avLst/>
          </a:prstGeom>
          <a:solidFill>
            <a:srgbClr val="101827"/>
          </a:solidFill>
          <a:ln w="12700">
            <a:solidFill>
              <a:srgbClr val="101827"/>
            </a:solidFill>
            <a:prstDash val="solid"/>
          </a:ln>
        </p:spPr>
      </p:sp>
      <p:sp>
        <p:nvSpPr>
          <p:cNvPr id="7" name="Text 5"/>
          <p:cNvSpPr/>
          <p:nvPr/>
        </p:nvSpPr>
        <p:spPr>
          <a:xfrm>
            <a:off x="1051560" y="2340864"/>
            <a:ext cx="420624" cy="164592"/>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8" name="Text 6"/>
          <p:cNvSpPr/>
          <p:nvPr/>
        </p:nvSpPr>
        <p:spPr>
          <a:xfrm>
            <a:off x="1600200" y="2258568"/>
            <a:ext cx="1737360" cy="228600"/>
          </a:xfrm>
          <a:prstGeom prst="rect">
            <a:avLst/>
          </a:prstGeom>
          <a:noFill/>
          <a:ln/>
        </p:spPr>
        <p:txBody>
          <a:bodyPr wrap="square" lIns="0" tIns="0" rIns="0" bIns="0" rtlCol="0" anchor="ctr"/>
          <a:lstStyle/>
          <a:p>
            <a:pPr marL="0" indent="0">
              <a:buNone/>
            </a:pPr>
            <a:r>
              <a:rPr lang="en-US" sz="1250" b="1" dirty="0">
                <a:solidFill>
                  <a:srgbClr val="101827"/>
                </a:solidFill>
              </a:rPr>
              <a:t>Récupérer</a:t>
            </a:r>
            <a:endParaRPr lang="en-US" sz="1250" dirty="0"/>
          </a:p>
        </p:txBody>
      </p:sp>
      <p:sp>
        <p:nvSpPr>
          <p:cNvPr id="9" name="Text 7"/>
          <p:cNvSpPr/>
          <p:nvPr/>
        </p:nvSpPr>
        <p:spPr>
          <a:xfrm>
            <a:off x="1600200" y="2532888"/>
            <a:ext cx="1737360" cy="548640"/>
          </a:xfrm>
          <a:prstGeom prst="rect">
            <a:avLst/>
          </a:prstGeom>
          <a:noFill/>
          <a:ln/>
        </p:spPr>
        <p:txBody>
          <a:bodyPr wrap="square" lIns="0" tIns="0" rIns="0" bIns="0" rtlCol="0" anchor="ctr">
            <a:normAutofit/>
          </a:bodyPr>
          <a:lstStyle/>
          <a:p>
            <a:pPr marL="0" indent="0">
              <a:buNone/>
            </a:pPr>
            <a:r>
              <a:rPr lang="en-US" sz="950" dirty="0">
                <a:solidFill>
                  <a:srgbClr val="6B7280"/>
                </a:solidFill>
              </a:rPr>
              <a:t>la liste complète des recettes</a:t>
            </a:r>
            <a:endParaRPr lang="en-US" sz="950" dirty="0"/>
          </a:p>
        </p:txBody>
      </p:sp>
      <p:sp>
        <p:nvSpPr>
          <p:cNvPr id="10" name="Shape 8"/>
          <p:cNvSpPr/>
          <p:nvPr/>
        </p:nvSpPr>
        <p:spPr>
          <a:xfrm>
            <a:off x="1051560" y="3063240"/>
            <a:ext cx="420624" cy="420624"/>
          </a:xfrm>
          <a:prstGeom prst="ellipse">
            <a:avLst/>
          </a:prstGeom>
          <a:solidFill>
            <a:srgbClr val="101827"/>
          </a:solidFill>
          <a:ln w="12700">
            <a:solidFill>
              <a:srgbClr val="101827"/>
            </a:solidFill>
            <a:prstDash val="solid"/>
          </a:ln>
        </p:spPr>
      </p:sp>
      <p:sp>
        <p:nvSpPr>
          <p:cNvPr id="11" name="Text 9"/>
          <p:cNvSpPr/>
          <p:nvPr/>
        </p:nvSpPr>
        <p:spPr>
          <a:xfrm>
            <a:off x="1051560" y="3163824"/>
            <a:ext cx="420624" cy="164592"/>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2" name="Text 10"/>
          <p:cNvSpPr/>
          <p:nvPr/>
        </p:nvSpPr>
        <p:spPr>
          <a:xfrm>
            <a:off x="1600200" y="3081528"/>
            <a:ext cx="1737360" cy="228600"/>
          </a:xfrm>
          <a:prstGeom prst="rect">
            <a:avLst/>
          </a:prstGeom>
          <a:noFill/>
          <a:ln/>
        </p:spPr>
        <p:txBody>
          <a:bodyPr wrap="square" lIns="0" tIns="0" rIns="0" bIns="0" rtlCol="0" anchor="ctr"/>
          <a:lstStyle/>
          <a:p>
            <a:pPr marL="0" indent="0">
              <a:buNone/>
            </a:pPr>
            <a:r>
              <a:rPr lang="en-US" sz="1250" b="1" dirty="0">
                <a:solidFill>
                  <a:srgbClr val="101827"/>
                </a:solidFill>
              </a:rPr>
              <a:t>Rechercher</a:t>
            </a:r>
            <a:endParaRPr lang="en-US" sz="1250" dirty="0"/>
          </a:p>
        </p:txBody>
      </p:sp>
      <p:sp>
        <p:nvSpPr>
          <p:cNvPr id="13" name="Text 11"/>
          <p:cNvSpPr/>
          <p:nvPr/>
        </p:nvSpPr>
        <p:spPr>
          <a:xfrm>
            <a:off x="1600200" y="3355848"/>
            <a:ext cx="1737360" cy="548640"/>
          </a:xfrm>
          <a:prstGeom prst="rect">
            <a:avLst/>
          </a:prstGeom>
          <a:noFill/>
          <a:ln/>
        </p:spPr>
        <p:txBody>
          <a:bodyPr wrap="square" lIns="0" tIns="0" rIns="0" bIns="0" rtlCol="0" anchor="ctr">
            <a:normAutofit/>
          </a:bodyPr>
          <a:lstStyle/>
          <a:p>
            <a:pPr marL="0" indent="0">
              <a:buNone/>
            </a:pPr>
            <a:r>
              <a:rPr lang="en-US" sz="950" dirty="0">
                <a:solidFill>
                  <a:srgbClr val="6B7280"/>
                </a:solidFill>
              </a:rPr>
              <a:t>nom, description, ingrédients</a:t>
            </a:r>
            <a:endParaRPr lang="en-US" sz="950" dirty="0"/>
          </a:p>
        </p:txBody>
      </p:sp>
      <p:sp>
        <p:nvSpPr>
          <p:cNvPr id="14" name="Shape 12"/>
          <p:cNvSpPr/>
          <p:nvPr/>
        </p:nvSpPr>
        <p:spPr>
          <a:xfrm>
            <a:off x="3611880" y="2240280"/>
            <a:ext cx="420624" cy="420624"/>
          </a:xfrm>
          <a:prstGeom prst="ellipse">
            <a:avLst/>
          </a:prstGeom>
          <a:solidFill>
            <a:srgbClr val="101827"/>
          </a:solidFill>
          <a:ln w="12700">
            <a:solidFill>
              <a:srgbClr val="101827"/>
            </a:solidFill>
            <a:prstDash val="solid"/>
          </a:ln>
        </p:spPr>
      </p:sp>
      <p:sp>
        <p:nvSpPr>
          <p:cNvPr id="15" name="Text 13"/>
          <p:cNvSpPr/>
          <p:nvPr/>
        </p:nvSpPr>
        <p:spPr>
          <a:xfrm>
            <a:off x="3611880" y="2340864"/>
            <a:ext cx="420624" cy="164592"/>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6" name="Text 14"/>
          <p:cNvSpPr/>
          <p:nvPr/>
        </p:nvSpPr>
        <p:spPr>
          <a:xfrm>
            <a:off x="4160520" y="2258568"/>
            <a:ext cx="1920240" cy="228600"/>
          </a:xfrm>
          <a:prstGeom prst="rect">
            <a:avLst/>
          </a:prstGeom>
          <a:noFill/>
          <a:ln/>
        </p:spPr>
        <p:txBody>
          <a:bodyPr wrap="square" lIns="0" tIns="0" rIns="0" bIns="0" rtlCol="0" anchor="ctr"/>
          <a:lstStyle/>
          <a:p>
            <a:pPr marL="0" indent="0">
              <a:buNone/>
            </a:pPr>
            <a:r>
              <a:rPr lang="en-US" sz="1250" b="1" dirty="0">
                <a:solidFill>
                  <a:srgbClr val="101827"/>
                </a:solidFill>
              </a:rPr>
              <a:t>Filtrer</a:t>
            </a:r>
            <a:endParaRPr lang="en-US" sz="1250" dirty="0"/>
          </a:p>
        </p:txBody>
      </p:sp>
      <p:sp>
        <p:nvSpPr>
          <p:cNvPr id="17" name="Text 15"/>
          <p:cNvSpPr/>
          <p:nvPr/>
        </p:nvSpPr>
        <p:spPr>
          <a:xfrm>
            <a:off x="4160520" y="2532888"/>
            <a:ext cx="1920240" cy="548640"/>
          </a:xfrm>
          <a:prstGeom prst="rect">
            <a:avLst/>
          </a:prstGeom>
          <a:noFill/>
          <a:ln/>
        </p:spPr>
        <p:txBody>
          <a:bodyPr wrap="square" lIns="0" tIns="0" rIns="0" bIns="0" rtlCol="0" anchor="ctr">
            <a:normAutofit/>
          </a:bodyPr>
          <a:lstStyle/>
          <a:p>
            <a:pPr marL="0" indent="0">
              <a:buNone/>
            </a:pPr>
            <a:r>
              <a:rPr lang="en-US" sz="950" dirty="0">
                <a:solidFill>
                  <a:srgbClr val="6B7280"/>
                </a:solidFill>
              </a:rPr>
              <a:t>tags ingrédients, appareils, ustensiles</a:t>
            </a:r>
            <a:endParaRPr lang="en-US" sz="950" dirty="0"/>
          </a:p>
        </p:txBody>
      </p:sp>
      <p:sp>
        <p:nvSpPr>
          <p:cNvPr id="18" name="Shape 16"/>
          <p:cNvSpPr/>
          <p:nvPr/>
        </p:nvSpPr>
        <p:spPr>
          <a:xfrm>
            <a:off x="3611880" y="3063240"/>
            <a:ext cx="420624" cy="420624"/>
          </a:xfrm>
          <a:prstGeom prst="ellipse">
            <a:avLst/>
          </a:prstGeom>
          <a:solidFill>
            <a:srgbClr val="101827"/>
          </a:solidFill>
          <a:ln w="12700">
            <a:solidFill>
              <a:srgbClr val="101827"/>
            </a:solidFill>
            <a:prstDash val="solid"/>
          </a:ln>
        </p:spPr>
      </p:sp>
      <p:sp>
        <p:nvSpPr>
          <p:cNvPr id="19" name="Text 17"/>
          <p:cNvSpPr/>
          <p:nvPr/>
        </p:nvSpPr>
        <p:spPr>
          <a:xfrm>
            <a:off x="3611880" y="3163824"/>
            <a:ext cx="420624" cy="164592"/>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0" name="Text 18"/>
          <p:cNvSpPr/>
          <p:nvPr/>
        </p:nvSpPr>
        <p:spPr>
          <a:xfrm>
            <a:off x="4160520" y="3081528"/>
            <a:ext cx="1920240" cy="228600"/>
          </a:xfrm>
          <a:prstGeom prst="rect">
            <a:avLst/>
          </a:prstGeom>
          <a:noFill/>
          <a:ln/>
        </p:spPr>
        <p:txBody>
          <a:bodyPr wrap="square" lIns="0" tIns="0" rIns="0" bIns="0" rtlCol="0" anchor="ctr"/>
          <a:lstStyle/>
          <a:p>
            <a:pPr marL="0" indent="0">
              <a:buNone/>
            </a:pPr>
            <a:r>
              <a:rPr lang="en-US" sz="1250" b="1" dirty="0">
                <a:solidFill>
                  <a:srgbClr val="101827"/>
                </a:solidFill>
              </a:rPr>
              <a:t>Afficher</a:t>
            </a:r>
            <a:endParaRPr lang="en-US" sz="1250" dirty="0"/>
          </a:p>
        </p:txBody>
      </p:sp>
      <p:sp>
        <p:nvSpPr>
          <p:cNvPr id="21" name="Text 19"/>
          <p:cNvSpPr/>
          <p:nvPr/>
        </p:nvSpPr>
        <p:spPr>
          <a:xfrm>
            <a:off x="4160520" y="3355848"/>
            <a:ext cx="1920240" cy="548640"/>
          </a:xfrm>
          <a:prstGeom prst="rect">
            <a:avLst/>
          </a:prstGeom>
          <a:noFill/>
          <a:ln/>
        </p:spPr>
        <p:txBody>
          <a:bodyPr wrap="square" lIns="0" tIns="0" rIns="0" bIns="0" rtlCol="0" anchor="ctr">
            <a:normAutofit/>
          </a:bodyPr>
          <a:lstStyle/>
          <a:p>
            <a:pPr marL="0" indent="0">
              <a:buNone/>
            </a:pPr>
            <a:r>
              <a:rPr lang="en-US" sz="950" dirty="0">
                <a:solidFill>
                  <a:srgbClr val="6B7280"/>
                </a:solidFill>
              </a:rPr>
              <a:t>cartes + listes de tags mises à jour</a:t>
            </a:r>
            <a:endParaRPr lang="en-US" sz="950" dirty="0"/>
          </a:p>
        </p:txBody>
      </p:sp>
      <p:sp>
        <p:nvSpPr>
          <p:cNvPr id="22" name="Text 20"/>
          <p:cNvSpPr/>
          <p:nvPr/>
        </p:nvSpPr>
        <p:spPr>
          <a:xfrm>
            <a:off x="1051560" y="4389120"/>
            <a:ext cx="1920240" cy="228600"/>
          </a:xfrm>
          <a:prstGeom prst="rect">
            <a:avLst/>
          </a:prstGeom>
          <a:noFill/>
          <a:ln/>
        </p:spPr>
        <p:txBody>
          <a:bodyPr wrap="square" lIns="0" tIns="0" rIns="0" bIns="0" rtlCol="0" anchor="ctr"/>
          <a:lstStyle/>
          <a:p>
            <a:pPr marL="0" indent="0">
              <a:buNone/>
            </a:pPr>
            <a:r>
              <a:rPr lang="en-US" sz="1150" b="1" dirty="0">
                <a:solidFill>
                  <a:srgbClr val="F97316"/>
                </a:solidFill>
              </a:rPr>
              <a:t>À expliquer au jury</a:t>
            </a:r>
            <a:endParaRPr lang="en-US" sz="1150" dirty="0"/>
          </a:p>
        </p:txBody>
      </p:sp>
      <p:sp>
        <p:nvSpPr>
          <p:cNvPr id="23" name="Text 21"/>
          <p:cNvSpPr/>
          <p:nvPr/>
        </p:nvSpPr>
        <p:spPr>
          <a:xfrm>
            <a:off x="2651760" y="4352544"/>
            <a:ext cx="3108960" cy="411480"/>
          </a:xfrm>
          <a:prstGeom prst="rect">
            <a:avLst/>
          </a:prstGeom>
          <a:noFill/>
          <a:ln/>
        </p:spPr>
        <p:txBody>
          <a:bodyPr wrap="square" lIns="0" tIns="0" rIns="0" bIns="0" rtlCol="0" anchor="ctr">
            <a:normAutofit fontScale="92500"/>
          </a:bodyPr>
          <a:lstStyle/>
          <a:p>
            <a:pPr marL="0" indent="0">
              <a:buNone/>
            </a:pPr>
            <a:r>
              <a:rPr lang="en-US" sz="1050" dirty="0">
                <a:solidFill>
                  <a:srgbClr val="6B7280"/>
                </a:solidFill>
              </a:rPr>
              <a:t>La fiche d’investigation permet de justifier la logique avant l’implémentation et d’éviter un code “au feeling”.</a:t>
            </a:r>
            <a:endParaRPr lang="en-US" sz="1050" dirty="0"/>
          </a:p>
        </p:txBody>
      </p:sp>
      <p:sp>
        <p:nvSpPr>
          <p:cNvPr id="24" name="Shape 22"/>
          <p:cNvSpPr/>
          <p:nvPr/>
        </p:nvSpPr>
        <p:spPr>
          <a:xfrm>
            <a:off x="6675120" y="1371600"/>
            <a:ext cx="4800600" cy="4480560"/>
          </a:xfrm>
          <a:prstGeom prst="roundRect">
            <a:avLst>
              <a:gd name="adj" fmla="val 2041"/>
            </a:avLst>
          </a:prstGeom>
          <a:solidFill>
            <a:srgbClr val="FFFFFF"/>
          </a:solidFill>
          <a:ln w="12700">
            <a:solidFill>
              <a:srgbClr val="E5E7EB"/>
            </a:solidFill>
            <a:prstDash val="solid"/>
          </a:ln>
        </p:spPr>
      </p:sp>
      <p:pic>
        <p:nvPicPr>
          <p:cNvPr id="25" name="Image 0" descr="/mnt/data/pdf_render/page-2.png"/>
          <p:cNvPicPr>
            <a:picLocks noChangeAspect="1"/>
          </p:cNvPicPr>
          <p:nvPr/>
        </p:nvPicPr>
        <p:blipFill>
          <a:blip r:embed="rId3"/>
          <a:srcRect t="17625" b="17625"/>
          <a:stretch/>
        </p:blipFill>
        <p:spPr>
          <a:xfrm>
            <a:off x="6903720" y="1627632"/>
            <a:ext cx="4343400" cy="3977640"/>
          </a:xfrm>
          <a:prstGeom prst="rect">
            <a:avLst/>
          </a:prstGeom>
        </p:spPr>
      </p:pic>
      <p:sp>
        <p:nvSpPr>
          <p:cNvPr id="26" name="Shape 23"/>
          <p:cNvSpPr/>
          <p:nvPr/>
        </p:nvSpPr>
        <p:spPr>
          <a:xfrm>
            <a:off x="640080" y="6291072"/>
            <a:ext cx="10881360" cy="0"/>
          </a:xfrm>
          <a:prstGeom prst="line">
            <a:avLst/>
          </a:prstGeom>
          <a:noFill/>
          <a:ln w="12700">
            <a:solidFill>
              <a:srgbClr val="E5E7EB"/>
            </a:solidFill>
            <a:prstDash val="solid"/>
          </a:ln>
        </p:spPr>
      </p:sp>
      <p:sp>
        <p:nvSpPr>
          <p:cNvPr id="27" name="Text 24"/>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28" name="Text 25"/>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ALGORITHMIE</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Deux approches comparées</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La consigne demande de développer deux versions puis de justifier la meilleure.</a:t>
            </a:r>
            <a:endParaRPr lang="en-US" sz="1260" dirty="0"/>
          </a:p>
        </p:txBody>
      </p:sp>
      <p:sp>
        <p:nvSpPr>
          <p:cNvPr id="5" name="Shape 3"/>
          <p:cNvSpPr/>
          <p:nvPr/>
        </p:nvSpPr>
        <p:spPr>
          <a:xfrm>
            <a:off x="777240" y="1664208"/>
            <a:ext cx="5166360" cy="4160520"/>
          </a:xfrm>
          <a:prstGeom prst="roundRect">
            <a:avLst>
              <a:gd name="adj" fmla="val 2198"/>
            </a:avLst>
          </a:prstGeom>
          <a:solidFill>
            <a:srgbClr val="FFFFFF"/>
          </a:solidFill>
          <a:ln w="12700">
            <a:solidFill>
              <a:srgbClr val="E5E7EB"/>
            </a:solidFill>
            <a:prstDash val="solid"/>
          </a:ln>
        </p:spPr>
      </p:sp>
      <p:sp>
        <p:nvSpPr>
          <p:cNvPr id="6" name="Text 4"/>
          <p:cNvSpPr/>
          <p:nvPr/>
        </p:nvSpPr>
        <p:spPr>
          <a:xfrm>
            <a:off x="1143000" y="2057400"/>
            <a:ext cx="3474720" cy="274320"/>
          </a:xfrm>
          <a:prstGeom prst="rect">
            <a:avLst/>
          </a:prstGeom>
          <a:noFill/>
          <a:ln/>
        </p:spPr>
        <p:txBody>
          <a:bodyPr wrap="square" lIns="0" tIns="0" rIns="0" bIns="0" rtlCol="0" anchor="ctr"/>
          <a:lstStyle/>
          <a:p>
            <a:pPr marL="0" indent="0">
              <a:buNone/>
            </a:pPr>
            <a:r>
              <a:rPr lang="en-US" sz="1720" b="1" dirty="0">
                <a:solidFill>
                  <a:srgbClr val="101827"/>
                </a:solidFill>
              </a:rPr>
              <a:t>Option A — Méthodes avancées</a:t>
            </a:r>
            <a:endParaRPr lang="en-US" sz="1720" dirty="0"/>
          </a:p>
        </p:txBody>
      </p:sp>
      <p:sp>
        <p:nvSpPr>
          <p:cNvPr id="7" name="Text 5"/>
          <p:cNvSpPr/>
          <p:nvPr/>
        </p:nvSpPr>
        <p:spPr>
          <a:xfrm>
            <a:off x="1143000" y="2487168"/>
            <a:ext cx="4297680" cy="256032"/>
          </a:xfrm>
          <a:prstGeom prst="rect">
            <a:avLst/>
          </a:prstGeom>
          <a:noFill/>
          <a:ln/>
        </p:spPr>
        <p:txBody>
          <a:bodyPr wrap="square" lIns="0" tIns="0" rIns="0" bIns="0" rtlCol="0" anchor="ctr"/>
          <a:lstStyle/>
          <a:p>
            <a:pPr marL="0" indent="0">
              <a:buNone/>
            </a:pPr>
            <a:r>
              <a:rPr lang="en-US" sz="1240" b="1" dirty="0">
                <a:solidFill>
                  <a:srgbClr val="F97316"/>
                </a:solidFill>
              </a:rPr>
              <a:t>filter() • map() • forEach() • every() • some()</a:t>
            </a:r>
            <a:endParaRPr lang="en-US" sz="1240" dirty="0"/>
          </a:p>
        </p:txBody>
      </p:sp>
      <p:sp>
        <p:nvSpPr>
          <p:cNvPr id="8" name="Shape 6"/>
          <p:cNvSpPr/>
          <p:nvPr/>
        </p:nvSpPr>
        <p:spPr>
          <a:xfrm>
            <a:off x="1143000" y="3072384"/>
            <a:ext cx="109728" cy="109728"/>
          </a:xfrm>
          <a:prstGeom prst="ellipse">
            <a:avLst/>
          </a:prstGeom>
          <a:solidFill>
            <a:srgbClr val="F97316"/>
          </a:solidFill>
          <a:ln w="12700">
            <a:solidFill>
              <a:srgbClr val="F97316"/>
            </a:solidFill>
            <a:prstDash val="solid"/>
          </a:ln>
        </p:spPr>
      </p:sp>
      <p:sp>
        <p:nvSpPr>
          <p:cNvPr id="9" name="Text 7"/>
          <p:cNvSpPr/>
          <p:nvPr/>
        </p:nvSpPr>
        <p:spPr>
          <a:xfrm>
            <a:off x="1344168" y="2999232"/>
            <a:ext cx="3913632" cy="219456"/>
          </a:xfrm>
          <a:prstGeom prst="rect">
            <a:avLst/>
          </a:prstGeom>
          <a:noFill/>
          <a:ln/>
        </p:spPr>
        <p:txBody>
          <a:bodyPr wrap="square" lIns="0" tIns="0" rIns="0" bIns="0" rtlCol="0" anchor="ctr">
            <a:normAutofit/>
          </a:bodyPr>
          <a:lstStyle/>
          <a:p>
            <a:pPr marL="0" indent="0">
              <a:buNone/>
            </a:pPr>
            <a:r>
              <a:rPr lang="en-US" sz="1350" dirty="0">
                <a:solidFill>
                  <a:srgbClr val="1F2937"/>
                </a:solidFill>
              </a:rPr>
              <a:t>code plus lisible</a:t>
            </a:r>
            <a:endParaRPr lang="en-US" sz="1350" dirty="0"/>
          </a:p>
        </p:txBody>
      </p:sp>
      <p:sp>
        <p:nvSpPr>
          <p:cNvPr id="10" name="Shape 8"/>
          <p:cNvSpPr/>
          <p:nvPr/>
        </p:nvSpPr>
        <p:spPr>
          <a:xfrm>
            <a:off x="1143000" y="3511296"/>
            <a:ext cx="109728" cy="109728"/>
          </a:xfrm>
          <a:prstGeom prst="ellipse">
            <a:avLst/>
          </a:prstGeom>
          <a:solidFill>
            <a:srgbClr val="F97316"/>
          </a:solidFill>
          <a:ln w="12700">
            <a:solidFill>
              <a:srgbClr val="F97316"/>
            </a:solidFill>
            <a:prstDash val="solid"/>
          </a:ln>
        </p:spPr>
      </p:sp>
      <p:sp>
        <p:nvSpPr>
          <p:cNvPr id="11" name="Text 9"/>
          <p:cNvSpPr/>
          <p:nvPr/>
        </p:nvSpPr>
        <p:spPr>
          <a:xfrm>
            <a:off x="1344168" y="3438144"/>
            <a:ext cx="3913632" cy="219456"/>
          </a:xfrm>
          <a:prstGeom prst="rect">
            <a:avLst/>
          </a:prstGeom>
          <a:noFill/>
          <a:ln/>
        </p:spPr>
        <p:txBody>
          <a:bodyPr wrap="square" lIns="0" tIns="0" rIns="0" bIns="0" rtlCol="0" anchor="ctr">
            <a:normAutofit/>
          </a:bodyPr>
          <a:lstStyle/>
          <a:p>
            <a:pPr marL="0" indent="0">
              <a:buNone/>
            </a:pPr>
            <a:r>
              <a:rPr lang="en-US" sz="1350" dirty="0">
                <a:solidFill>
                  <a:srgbClr val="1F2937"/>
                </a:solidFill>
              </a:rPr>
              <a:t>maintenance plus simple</a:t>
            </a:r>
            <a:endParaRPr lang="en-US" sz="1350" dirty="0"/>
          </a:p>
        </p:txBody>
      </p:sp>
      <p:sp>
        <p:nvSpPr>
          <p:cNvPr id="12" name="Shape 10"/>
          <p:cNvSpPr/>
          <p:nvPr/>
        </p:nvSpPr>
        <p:spPr>
          <a:xfrm>
            <a:off x="1143000" y="3950208"/>
            <a:ext cx="109728" cy="109728"/>
          </a:xfrm>
          <a:prstGeom prst="ellipse">
            <a:avLst/>
          </a:prstGeom>
          <a:solidFill>
            <a:srgbClr val="F97316"/>
          </a:solidFill>
          <a:ln w="12700">
            <a:solidFill>
              <a:srgbClr val="F97316"/>
            </a:solidFill>
            <a:prstDash val="solid"/>
          </a:ln>
        </p:spPr>
      </p:sp>
      <p:sp>
        <p:nvSpPr>
          <p:cNvPr id="13" name="Text 11"/>
          <p:cNvSpPr/>
          <p:nvPr/>
        </p:nvSpPr>
        <p:spPr>
          <a:xfrm>
            <a:off x="1344168" y="3877056"/>
            <a:ext cx="3913632" cy="219456"/>
          </a:xfrm>
          <a:prstGeom prst="rect">
            <a:avLst/>
          </a:prstGeom>
          <a:noFill/>
          <a:ln/>
        </p:spPr>
        <p:txBody>
          <a:bodyPr wrap="square" lIns="0" tIns="0" rIns="0" bIns="0" rtlCol="0" anchor="ctr">
            <a:normAutofit/>
          </a:bodyPr>
          <a:lstStyle/>
          <a:p>
            <a:pPr marL="0" indent="0">
              <a:buNone/>
            </a:pPr>
            <a:r>
              <a:rPr lang="en-US" sz="1350" dirty="0">
                <a:solidFill>
                  <a:srgbClr val="1F2937"/>
                </a:solidFill>
              </a:rPr>
              <a:t>logique de filtrage compacte</a:t>
            </a:r>
            <a:endParaRPr lang="en-US" sz="1350" dirty="0"/>
          </a:p>
        </p:txBody>
      </p:sp>
      <p:sp>
        <p:nvSpPr>
          <p:cNvPr id="14" name="Shape 12"/>
          <p:cNvSpPr/>
          <p:nvPr/>
        </p:nvSpPr>
        <p:spPr>
          <a:xfrm>
            <a:off x="1143000" y="5074920"/>
            <a:ext cx="1645920" cy="310896"/>
          </a:xfrm>
          <a:prstGeom prst="roundRect">
            <a:avLst>
              <a:gd name="adj" fmla="val 17647"/>
            </a:avLst>
          </a:prstGeom>
          <a:solidFill>
            <a:srgbClr val="FFF7ED"/>
          </a:solidFill>
          <a:ln w="12700">
            <a:solidFill>
              <a:srgbClr val="FFF7ED"/>
            </a:solidFill>
            <a:prstDash val="solid"/>
          </a:ln>
        </p:spPr>
      </p:sp>
      <p:sp>
        <p:nvSpPr>
          <p:cNvPr id="15" name="Text 13"/>
          <p:cNvSpPr/>
          <p:nvPr/>
        </p:nvSpPr>
        <p:spPr>
          <a:xfrm>
            <a:off x="1216152" y="5138928"/>
            <a:ext cx="1499616" cy="146304"/>
          </a:xfrm>
          <a:prstGeom prst="rect">
            <a:avLst/>
          </a:prstGeom>
          <a:noFill/>
          <a:ln/>
        </p:spPr>
        <p:txBody>
          <a:bodyPr wrap="square" lIns="0" tIns="0" rIns="0" bIns="0" rtlCol="0" anchor="ctr"/>
          <a:lstStyle/>
          <a:p>
            <a:pPr marL="0" indent="0" algn="ctr">
              <a:buNone/>
            </a:pPr>
            <a:r>
              <a:rPr lang="en-US" sz="850" b="1" dirty="0">
                <a:solidFill>
                  <a:srgbClr val="F97316"/>
                </a:solidFill>
              </a:rPr>
              <a:t>version étudiée</a:t>
            </a:r>
            <a:endParaRPr lang="en-US" sz="850" dirty="0"/>
          </a:p>
        </p:txBody>
      </p:sp>
      <p:sp>
        <p:nvSpPr>
          <p:cNvPr id="16" name="Shape 14"/>
          <p:cNvSpPr/>
          <p:nvPr/>
        </p:nvSpPr>
        <p:spPr>
          <a:xfrm>
            <a:off x="6263640" y="1664208"/>
            <a:ext cx="5166360" cy="4160520"/>
          </a:xfrm>
          <a:prstGeom prst="roundRect">
            <a:avLst>
              <a:gd name="adj" fmla="val 2198"/>
            </a:avLst>
          </a:prstGeom>
          <a:solidFill>
            <a:srgbClr val="101827"/>
          </a:solidFill>
          <a:ln w="12700">
            <a:solidFill>
              <a:srgbClr val="101827"/>
            </a:solidFill>
            <a:prstDash val="solid"/>
          </a:ln>
        </p:spPr>
      </p:sp>
      <p:sp>
        <p:nvSpPr>
          <p:cNvPr id="17" name="Text 15"/>
          <p:cNvSpPr/>
          <p:nvPr/>
        </p:nvSpPr>
        <p:spPr>
          <a:xfrm>
            <a:off x="6629400" y="2057400"/>
            <a:ext cx="3474720" cy="274320"/>
          </a:xfrm>
          <a:prstGeom prst="rect">
            <a:avLst/>
          </a:prstGeom>
          <a:noFill/>
          <a:ln/>
        </p:spPr>
        <p:txBody>
          <a:bodyPr wrap="square" lIns="0" tIns="0" rIns="0" bIns="0" rtlCol="0" anchor="ctr"/>
          <a:lstStyle/>
          <a:p>
            <a:pPr marL="0" indent="0">
              <a:buNone/>
            </a:pPr>
            <a:r>
              <a:rPr lang="en-US" sz="1720" b="1" dirty="0">
                <a:solidFill>
                  <a:srgbClr val="FFFFFF"/>
                </a:solidFill>
              </a:rPr>
              <a:t>Option B — Boucles natives</a:t>
            </a:r>
            <a:endParaRPr lang="en-US" sz="1720" dirty="0"/>
          </a:p>
        </p:txBody>
      </p:sp>
      <p:sp>
        <p:nvSpPr>
          <p:cNvPr id="18" name="Text 16"/>
          <p:cNvSpPr/>
          <p:nvPr/>
        </p:nvSpPr>
        <p:spPr>
          <a:xfrm>
            <a:off x="6629400" y="2487168"/>
            <a:ext cx="4297680" cy="256032"/>
          </a:xfrm>
          <a:prstGeom prst="rect">
            <a:avLst/>
          </a:prstGeom>
          <a:noFill/>
          <a:ln/>
        </p:spPr>
        <p:txBody>
          <a:bodyPr wrap="square" lIns="0" tIns="0" rIns="0" bIns="0" rtlCol="0" anchor="ctr"/>
          <a:lstStyle/>
          <a:p>
            <a:pPr marL="0" indent="0">
              <a:buNone/>
            </a:pPr>
            <a:r>
              <a:rPr lang="en-US" sz="1240" b="1" dirty="0">
                <a:solidFill>
                  <a:srgbClr val="FACC15"/>
                </a:solidFill>
              </a:rPr>
              <a:t>for • while • break</a:t>
            </a:r>
            <a:endParaRPr lang="en-US" sz="1240" dirty="0"/>
          </a:p>
        </p:txBody>
      </p:sp>
      <p:sp>
        <p:nvSpPr>
          <p:cNvPr id="19" name="Shape 17"/>
          <p:cNvSpPr/>
          <p:nvPr/>
        </p:nvSpPr>
        <p:spPr>
          <a:xfrm>
            <a:off x="6629400" y="3072384"/>
            <a:ext cx="109728" cy="109728"/>
          </a:xfrm>
          <a:prstGeom prst="ellipse">
            <a:avLst/>
          </a:prstGeom>
          <a:solidFill>
            <a:srgbClr val="FACC15"/>
          </a:solidFill>
          <a:ln w="12700">
            <a:solidFill>
              <a:srgbClr val="FACC15"/>
            </a:solidFill>
            <a:prstDash val="solid"/>
          </a:ln>
        </p:spPr>
      </p:sp>
      <p:sp>
        <p:nvSpPr>
          <p:cNvPr id="20" name="Text 18"/>
          <p:cNvSpPr/>
          <p:nvPr/>
        </p:nvSpPr>
        <p:spPr>
          <a:xfrm>
            <a:off x="6830568" y="2999232"/>
            <a:ext cx="3913632" cy="219456"/>
          </a:xfrm>
          <a:prstGeom prst="rect">
            <a:avLst/>
          </a:prstGeom>
          <a:noFill/>
          <a:ln/>
        </p:spPr>
        <p:txBody>
          <a:bodyPr wrap="square" lIns="0" tIns="0" rIns="0" bIns="0" rtlCol="0" anchor="ctr">
            <a:normAutofit/>
          </a:bodyPr>
          <a:lstStyle/>
          <a:p>
            <a:pPr marL="0" indent="0">
              <a:buNone/>
            </a:pPr>
            <a:r>
              <a:rPr lang="en-US" sz="1350" dirty="0">
                <a:solidFill>
                  <a:srgbClr val="FFFFFF"/>
                </a:solidFill>
              </a:rPr>
              <a:t>plus rapide au benchmark</a:t>
            </a:r>
            <a:endParaRPr lang="en-US" sz="1350" dirty="0"/>
          </a:p>
        </p:txBody>
      </p:sp>
      <p:sp>
        <p:nvSpPr>
          <p:cNvPr id="21" name="Shape 19"/>
          <p:cNvSpPr/>
          <p:nvPr/>
        </p:nvSpPr>
        <p:spPr>
          <a:xfrm>
            <a:off x="6629400" y="3511296"/>
            <a:ext cx="109728" cy="109728"/>
          </a:xfrm>
          <a:prstGeom prst="ellipse">
            <a:avLst/>
          </a:prstGeom>
          <a:solidFill>
            <a:srgbClr val="FACC15"/>
          </a:solidFill>
          <a:ln w="12700">
            <a:solidFill>
              <a:srgbClr val="FACC15"/>
            </a:solidFill>
            <a:prstDash val="solid"/>
          </a:ln>
        </p:spPr>
      </p:sp>
      <p:sp>
        <p:nvSpPr>
          <p:cNvPr id="22" name="Text 20"/>
          <p:cNvSpPr/>
          <p:nvPr/>
        </p:nvSpPr>
        <p:spPr>
          <a:xfrm>
            <a:off x="6830568" y="3438144"/>
            <a:ext cx="3913632" cy="219456"/>
          </a:xfrm>
          <a:prstGeom prst="rect">
            <a:avLst/>
          </a:prstGeom>
          <a:noFill/>
          <a:ln/>
        </p:spPr>
        <p:txBody>
          <a:bodyPr wrap="square" lIns="0" tIns="0" rIns="0" bIns="0" rtlCol="0" anchor="ctr">
            <a:normAutofit/>
          </a:bodyPr>
          <a:lstStyle/>
          <a:p>
            <a:pPr marL="0" indent="0">
              <a:buNone/>
            </a:pPr>
            <a:r>
              <a:rPr lang="en-US" sz="1350" dirty="0">
                <a:solidFill>
                  <a:srgbClr val="FFFFFF"/>
                </a:solidFill>
              </a:rPr>
              <a:t>arrêt possible avec break</a:t>
            </a:r>
            <a:endParaRPr lang="en-US" sz="1350" dirty="0"/>
          </a:p>
        </p:txBody>
      </p:sp>
      <p:sp>
        <p:nvSpPr>
          <p:cNvPr id="23" name="Shape 21"/>
          <p:cNvSpPr/>
          <p:nvPr/>
        </p:nvSpPr>
        <p:spPr>
          <a:xfrm>
            <a:off x="6629400" y="3950208"/>
            <a:ext cx="109728" cy="109728"/>
          </a:xfrm>
          <a:prstGeom prst="ellipse">
            <a:avLst/>
          </a:prstGeom>
          <a:solidFill>
            <a:srgbClr val="FACC15"/>
          </a:solidFill>
          <a:ln w="12700">
            <a:solidFill>
              <a:srgbClr val="FACC15"/>
            </a:solidFill>
            <a:prstDash val="solid"/>
          </a:ln>
        </p:spPr>
      </p:sp>
      <p:sp>
        <p:nvSpPr>
          <p:cNvPr id="24" name="Text 22"/>
          <p:cNvSpPr/>
          <p:nvPr/>
        </p:nvSpPr>
        <p:spPr>
          <a:xfrm>
            <a:off x="6830568" y="3877056"/>
            <a:ext cx="3913632" cy="219456"/>
          </a:xfrm>
          <a:prstGeom prst="rect">
            <a:avLst/>
          </a:prstGeom>
          <a:noFill/>
          <a:ln/>
        </p:spPr>
        <p:txBody>
          <a:bodyPr wrap="square" lIns="0" tIns="0" rIns="0" bIns="0" rtlCol="0" anchor="ctr">
            <a:normAutofit/>
          </a:bodyPr>
          <a:lstStyle/>
          <a:p>
            <a:pPr marL="0" indent="0">
              <a:buNone/>
            </a:pPr>
            <a:r>
              <a:rPr lang="en-US" sz="1350" dirty="0">
                <a:solidFill>
                  <a:srgbClr val="FFFFFF"/>
                </a:solidFill>
              </a:rPr>
              <a:t>code un peu plus long</a:t>
            </a:r>
            <a:endParaRPr lang="en-US" sz="1350" dirty="0"/>
          </a:p>
        </p:txBody>
      </p:sp>
      <p:sp>
        <p:nvSpPr>
          <p:cNvPr id="25" name="Shape 23"/>
          <p:cNvSpPr/>
          <p:nvPr/>
        </p:nvSpPr>
        <p:spPr>
          <a:xfrm>
            <a:off x="6629400" y="5074920"/>
            <a:ext cx="1783080" cy="310896"/>
          </a:xfrm>
          <a:prstGeom prst="roundRect">
            <a:avLst>
              <a:gd name="adj" fmla="val 17647"/>
            </a:avLst>
          </a:prstGeom>
          <a:solidFill>
            <a:srgbClr val="334155"/>
          </a:solidFill>
          <a:ln w="12700">
            <a:solidFill>
              <a:srgbClr val="334155"/>
            </a:solidFill>
            <a:prstDash val="solid"/>
          </a:ln>
        </p:spPr>
      </p:sp>
      <p:sp>
        <p:nvSpPr>
          <p:cNvPr id="26" name="Text 24"/>
          <p:cNvSpPr/>
          <p:nvPr/>
        </p:nvSpPr>
        <p:spPr>
          <a:xfrm>
            <a:off x="6702552" y="5138928"/>
            <a:ext cx="1636776" cy="146304"/>
          </a:xfrm>
          <a:prstGeom prst="rect">
            <a:avLst/>
          </a:prstGeom>
          <a:noFill/>
          <a:ln/>
        </p:spPr>
        <p:txBody>
          <a:bodyPr wrap="square" lIns="0" tIns="0" rIns="0" bIns="0" rtlCol="0" anchor="ctr"/>
          <a:lstStyle/>
          <a:p>
            <a:pPr marL="0" indent="0" algn="ctr">
              <a:buNone/>
            </a:pPr>
            <a:r>
              <a:rPr lang="en-US" sz="850" b="1" dirty="0">
                <a:solidFill>
                  <a:srgbClr val="FFFFFF"/>
                </a:solidFill>
              </a:rPr>
              <a:t>version retenue</a:t>
            </a:r>
            <a:endParaRPr lang="en-US" sz="850" dirty="0"/>
          </a:p>
        </p:txBody>
      </p:sp>
      <p:sp>
        <p:nvSpPr>
          <p:cNvPr id="27" name="Shape 25"/>
          <p:cNvSpPr/>
          <p:nvPr/>
        </p:nvSpPr>
        <p:spPr>
          <a:xfrm>
            <a:off x="640080" y="6291072"/>
            <a:ext cx="10881360" cy="0"/>
          </a:xfrm>
          <a:prstGeom prst="line">
            <a:avLst/>
          </a:prstGeom>
          <a:noFill/>
          <a:ln w="12700">
            <a:solidFill>
              <a:srgbClr val="E5E7EB"/>
            </a:solidFill>
            <a:prstDash val="solid"/>
          </a:ln>
        </p:spPr>
      </p:sp>
      <p:sp>
        <p:nvSpPr>
          <p:cNvPr id="28" name="Text 26"/>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29" name="Text 27"/>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APPLICATION</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Architecture front-end</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Séparer les responsabilités pour rester maintenable pendant la démo.</a:t>
            </a:r>
            <a:endParaRPr lang="en-US" sz="1260" dirty="0"/>
          </a:p>
        </p:txBody>
      </p:sp>
      <p:sp>
        <p:nvSpPr>
          <p:cNvPr id="5" name="Shape 3"/>
          <p:cNvSpPr/>
          <p:nvPr/>
        </p:nvSpPr>
        <p:spPr>
          <a:xfrm>
            <a:off x="822960" y="1828800"/>
            <a:ext cx="2331720" cy="1691640"/>
          </a:xfrm>
          <a:prstGeom prst="roundRect">
            <a:avLst>
              <a:gd name="adj" fmla="val 5405"/>
            </a:avLst>
          </a:prstGeom>
          <a:solidFill>
            <a:srgbClr val="FFFFFF"/>
          </a:solidFill>
          <a:ln w="12700">
            <a:solidFill>
              <a:srgbClr val="E5E7EB"/>
            </a:solidFill>
            <a:prstDash val="solid"/>
          </a:ln>
        </p:spPr>
      </p:sp>
      <p:sp>
        <p:nvSpPr>
          <p:cNvPr id="6" name="Text 4"/>
          <p:cNvSpPr/>
          <p:nvPr/>
        </p:nvSpPr>
        <p:spPr>
          <a:xfrm>
            <a:off x="1051560" y="2148840"/>
            <a:ext cx="1874520" cy="256032"/>
          </a:xfrm>
          <a:prstGeom prst="rect">
            <a:avLst/>
          </a:prstGeom>
          <a:noFill/>
          <a:ln/>
        </p:spPr>
        <p:txBody>
          <a:bodyPr wrap="square" lIns="0" tIns="0" rIns="0" bIns="0" rtlCol="0" anchor="ctr"/>
          <a:lstStyle/>
          <a:p>
            <a:pPr marL="0" indent="0" algn="ctr">
              <a:buNone/>
            </a:pPr>
            <a:r>
              <a:rPr lang="en-US" sz="1450" b="1" dirty="0">
                <a:solidFill>
                  <a:srgbClr val="101827"/>
                </a:solidFill>
              </a:rPr>
              <a:t>recipes.js</a:t>
            </a:r>
            <a:endParaRPr lang="en-US" sz="1450" dirty="0"/>
          </a:p>
        </p:txBody>
      </p:sp>
      <p:sp>
        <p:nvSpPr>
          <p:cNvPr id="7" name="Text 5"/>
          <p:cNvSpPr/>
          <p:nvPr/>
        </p:nvSpPr>
        <p:spPr>
          <a:xfrm>
            <a:off x="1051560" y="2587752"/>
            <a:ext cx="1874520" cy="329184"/>
          </a:xfrm>
          <a:prstGeom prst="rect">
            <a:avLst/>
          </a:prstGeom>
          <a:noFill/>
          <a:ln/>
        </p:spPr>
        <p:txBody>
          <a:bodyPr wrap="square" lIns="0" tIns="0" rIns="0" bIns="0" rtlCol="0" anchor="ctr"/>
          <a:lstStyle/>
          <a:p>
            <a:pPr marL="0" indent="0" algn="ctr">
              <a:buNone/>
            </a:pPr>
            <a:r>
              <a:rPr lang="en-US" sz="1040" dirty="0">
                <a:solidFill>
                  <a:srgbClr val="6B7280"/>
                </a:solidFill>
              </a:rPr>
              <a:t>données recettes</a:t>
            </a:r>
            <a:endParaRPr lang="en-US" sz="1040" dirty="0"/>
          </a:p>
        </p:txBody>
      </p:sp>
      <p:sp>
        <p:nvSpPr>
          <p:cNvPr id="8" name="Shape 6"/>
          <p:cNvSpPr/>
          <p:nvPr/>
        </p:nvSpPr>
        <p:spPr>
          <a:xfrm>
            <a:off x="3611880" y="1828800"/>
            <a:ext cx="2331720" cy="1691640"/>
          </a:xfrm>
          <a:prstGeom prst="roundRect">
            <a:avLst>
              <a:gd name="adj" fmla="val 5405"/>
            </a:avLst>
          </a:prstGeom>
          <a:solidFill>
            <a:srgbClr val="101827"/>
          </a:solidFill>
          <a:ln w="12700">
            <a:solidFill>
              <a:srgbClr val="101827"/>
            </a:solidFill>
            <a:prstDash val="solid"/>
          </a:ln>
        </p:spPr>
      </p:sp>
      <p:sp>
        <p:nvSpPr>
          <p:cNvPr id="9" name="Text 7"/>
          <p:cNvSpPr/>
          <p:nvPr/>
        </p:nvSpPr>
        <p:spPr>
          <a:xfrm>
            <a:off x="3840480" y="2148840"/>
            <a:ext cx="1874520" cy="256032"/>
          </a:xfrm>
          <a:prstGeom prst="rect">
            <a:avLst/>
          </a:prstGeom>
          <a:noFill/>
          <a:ln/>
        </p:spPr>
        <p:txBody>
          <a:bodyPr wrap="square" lIns="0" tIns="0" rIns="0" bIns="0" rtlCol="0" anchor="ctr"/>
          <a:lstStyle/>
          <a:p>
            <a:pPr marL="0" indent="0" algn="ctr">
              <a:buNone/>
            </a:pPr>
            <a:r>
              <a:rPr lang="en-US" sz="1450" b="1" dirty="0">
                <a:solidFill>
                  <a:srgbClr val="FFFFFF"/>
                </a:solidFill>
              </a:rPr>
              <a:t>mainSearch.js</a:t>
            </a:r>
            <a:endParaRPr lang="en-US" sz="1450" dirty="0"/>
          </a:p>
        </p:txBody>
      </p:sp>
      <p:sp>
        <p:nvSpPr>
          <p:cNvPr id="10" name="Text 8"/>
          <p:cNvSpPr/>
          <p:nvPr/>
        </p:nvSpPr>
        <p:spPr>
          <a:xfrm>
            <a:off x="3840480" y="2587752"/>
            <a:ext cx="1874520" cy="329184"/>
          </a:xfrm>
          <a:prstGeom prst="rect">
            <a:avLst/>
          </a:prstGeom>
          <a:noFill/>
          <a:ln/>
        </p:spPr>
        <p:txBody>
          <a:bodyPr wrap="square" lIns="0" tIns="0" rIns="0" bIns="0" rtlCol="0" anchor="ctr"/>
          <a:lstStyle/>
          <a:p>
            <a:pPr marL="0" indent="0" algn="ctr">
              <a:buNone/>
            </a:pPr>
            <a:r>
              <a:rPr lang="en-US" sz="1040" dirty="0">
                <a:solidFill>
                  <a:srgbClr val="CBD5E1"/>
                </a:solidFill>
              </a:rPr>
              <a:t>recherche principale</a:t>
            </a:r>
            <a:endParaRPr lang="en-US" sz="1040" dirty="0"/>
          </a:p>
        </p:txBody>
      </p:sp>
      <p:sp>
        <p:nvSpPr>
          <p:cNvPr id="11" name="Shape 9"/>
          <p:cNvSpPr/>
          <p:nvPr/>
        </p:nvSpPr>
        <p:spPr>
          <a:xfrm>
            <a:off x="6400800" y="1828800"/>
            <a:ext cx="2331720" cy="1691640"/>
          </a:xfrm>
          <a:prstGeom prst="roundRect">
            <a:avLst>
              <a:gd name="adj" fmla="val 5405"/>
            </a:avLst>
          </a:prstGeom>
          <a:solidFill>
            <a:srgbClr val="FFFFFF"/>
          </a:solidFill>
          <a:ln w="12700">
            <a:solidFill>
              <a:srgbClr val="E5E7EB"/>
            </a:solidFill>
            <a:prstDash val="solid"/>
          </a:ln>
        </p:spPr>
      </p:sp>
      <p:sp>
        <p:nvSpPr>
          <p:cNvPr id="12" name="Text 10"/>
          <p:cNvSpPr/>
          <p:nvPr/>
        </p:nvSpPr>
        <p:spPr>
          <a:xfrm>
            <a:off x="6629400" y="2148840"/>
            <a:ext cx="1874520" cy="256032"/>
          </a:xfrm>
          <a:prstGeom prst="rect">
            <a:avLst/>
          </a:prstGeom>
          <a:noFill/>
          <a:ln/>
        </p:spPr>
        <p:txBody>
          <a:bodyPr wrap="square" lIns="0" tIns="0" rIns="0" bIns="0" rtlCol="0" anchor="ctr"/>
          <a:lstStyle/>
          <a:p>
            <a:pPr marL="0" indent="0" algn="ctr">
              <a:buNone/>
            </a:pPr>
            <a:r>
              <a:rPr lang="en-US" sz="1450" b="1" dirty="0">
                <a:solidFill>
                  <a:srgbClr val="101827"/>
                </a:solidFill>
              </a:rPr>
              <a:t>selectedFilters.js</a:t>
            </a:r>
            <a:endParaRPr lang="en-US" sz="1450" dirty="0"/>
          </a:p>
        </p:txBody>
      </p:sp>
      <p:sp>
        <p:nvSpPr>
          <p:cNvPr id="13" name="Text 11"/>
          <p:cNvSpPr/>
          <p:nvPr/>
        </p:nvSpPr>
        <p:spPr>
          <a:xfrm>
            <a:off x="6629400" y="2587752"/>
            <a:ext cx="1874520" cy="329184"/>
          </a:xfrm>
          <a:prstGeom prst="rect">
            <a:avLst/>
          </a:prstGeom>
          <a:noFill/>
          <a:ln/>
        </p:spPr>
        <p:txBody>
          <a:bodyPr wrap="square" lIns="0" tIns="0" rIns="0" bIns="0" rtlCol="0" anchor="ctr"/>
          <a:lstStyle/>
          <a:p>
            <a:pPr marL="0" indent="0" algn="ctr">
              <a:buNone/>
            </a:pPr>
            <a:r>
              <a:rPr lang="en-US" sz="1040" dirty="0">
                <a:solidFill>
                  <a:srgbClr val="6B7280"/>
                </a:solidFill>
              </a:rPr>
              <a:t>tags sélectionnés</a:t>
            </a:r>
            <a:endParaRPr lang="en-US" sz="1040" dirty="0"/>
          </a:p>
        </p:txBody>
      </p:sp>
      <p:sp>
        <p:nvSpPr>
          <p:cNvPr id="14" name="Shape 12"/>
          <p:cNvSpPr/>
          <p:nvPr/>
        </p:nvSpPr>
        <p:spPr>
          <a:xfrm>
            <a:off x="9189720" y="1828800"/>
            <a:ext cx="2331720" cy="1691640"/>
          </a:xfrm>
          <a:prstGeom prst="roundRect">
            <a:avLst>
              <a:gd name="adj" fmla="val 5405"/>
            </a:avLst>
          </a:prstGeom>
          <a:solidFill>
            <a:srgbClr val="FFFFFF"/>
          </a:solidFill>
          <a:ln w="12700">
            <a:solidFill>
              <a:srgbClr val="E5E7EB"/>
            </a:solidFill>
            <a:prstDash val="solid"/>
          </a:ln>
        </p:spPr>
      </p:sp>
      <p:sp>
        <p:nvSpPr>
          <p:cNvPr id="15" name="Text 13"/>
          <p:cNvSpPr/>
          <p:nvPr/>
        </p:nvSpPr>
        <p:spPr>
          <a:xfrm>
            <a:off x="9418320" y="2148840"/>
            <a:ext cx="1874520" cy="256032"/>
          </a:xfrm>
          <a:prstGeom prst="rect">
            <a:avLst/>
          </a:prstGeom>
          <a:noFill/>
          <a:ln/>
        </p:spPr>
        <p:txBody>
          <a:bodyPr wrap="square" lIns="0" tIns="0" rIns="0" bIns="0" rtlCol="0" anchor="ctr"/>
          <a:lstStyle/>
          <a:p>
            <a:pPr marL="0" indent="0" algn="ctr">
              <a:buNone/>
            </a:pPr>
            <a:r>
              <a:rPr lang="en-US" sz="1450" b="1" dirty="0">
                <a:solidFill>
                  <a:srgbClr val="101827"/>
                </a:solidFill>
              </a:rPr>
              <a:t>populateCards.js</a:t>
            </a:r>
            <a:endParaRPr lang="en-US" sz="1450" dirty="0"/>
          </a:p>
        </p:txBody>
      </p:sp>
      <p:sp>
        <p:nvSpPr>
          <p:cNvPr id="16" name="Text 14"/>
          <p:cNvSpPr/>
          <p:nvPr/>
        </p:nvSpPr>
        <p:spPr>
          <a:xfrm>
            <a:off x="9418320" y="2587752"/>
            <a:ext cx="1874520" cy="329184"/>
          </a:xfrm>
          <a:prstGeom prst="rect">
            <a:avLst/>
          </a:prstGeom>
          <a:noFill/>
          <a:ln/>
        </p:spPr>
        <p:txBody>
          <a:bodyPr wrap="square" lIns="0" tIns="0" rIns="0" bIns="0" rtlCol="0" anchor="ctr"/>
          <a:lstStyle/>
          <a:p>
            <a:pPr marL="0" indent="0" algn="ctr">
              <a:buNone/>
            </a:pPr>
            <a:r>
              <a:rPr lang="en-US" sz="1040" dirty="0">
                <a:solidFill>
                  <a:srgbClr val="6B7280"/>
                </a:solidFill>
              </a:rPr>
              <a:t>affichage cartes</a:t>
            </a:r>
            <a:endParaRPr lang="en-US" sz="1040" dirty="0"/>
          </a:p>
        </p:txBody>
      </p:sp>
      <p:sp>
        <p:nvSpPr>
          <p:cNvPr id="17" name="Shape 15"/>
          <p:cNvSpPr/>
          <p:nvPr/>
        </p:nvSpPr>
        <p:spPr>
          <a:xfrm>
            <a:off x="3154680" y="2670048"/>
            <a:ext cx="457200" cy="0"/>
          </a:xfrm>
          <a:prstGeom prst="line">
            <a:avLst/>
          </a:prstGeom>
          <a:noFill/>
          <a:ln w="25400">
            <a:solidFill>
              <a:srgbClr val="F97316"/>
            </a:solidFill>
            <a:prstDash val="solid"/>
            <a:tailEnd type="triangle"/>
          </a:ln>
        </p:spPr>
      </p:sp>
      <p:sp>
        <p:nvSpPr>
          <p:cNvPr id="18" name="Shape 16"/>
          <p:cNvSpPr/>
          <p:nvPr/>
        </p:nvSpPr>
        <p:spPr>
          <a:xfrm>
            <a:off x="5943600" y="2670048"/>
            <a:ext cx="457200" cy="0"/>
          </a:xfrm>
          <a:prstGeom prst="line">
            <a:avLst/>
          </a:prstGeom>
          <a:noFill/>
          <a:ln w="25400">
            <a:solidFill>
              <a:srgbClr val="F97316"/>
            </a:solidFill>
            <a:prstDash val="solid"/>
            <a:tailEnd type="triangle"/>
          </a:ln>
        </p:spPr>
      </p:sp>
      <p:sp>
        <p:nvSpPr>
          <p:cNvPr id="19" name="Shape 17"/>
          <p:cNvSpPr/>
          <p:nvPr/>
        </p:nvSpPr>
        <p:spPr>
          <a:xfrm>
            <a:off x="8732520" y="2670048"/>
            <a:ext cx="457200" cy="0"/>
          </a:xfrm>
          <a:prstGeom prst="line">
            <a:avLst/>
          </a:prstGeom>
          <a:noFill/>
          <a:ln w="25400">
            <a:solidFill>
              <a:srgbClr val="F97316"/>
            </a:solidFill>
            <a:prstDash val="solid"/>
            <a:tailEnd type="triangle"/>
          </a:ln>
        </p:spPr>
      </p:sp>
      <p:sp>
        <p:nvSpPr>
          <p:cNvPr id="20" name="Shape 18"/>
          <p:cNvSpPr/>
          <p:nvPr/>
        </p:nvSpPr>
        <p:spPr>
          <a:xfrm>
            <a:off x="1005840" y="4297680"/>
            <a:ext cx="4480560" cy="1097280"/>
          </a:xfrm>
          <a:prstGeom prst="roundRect">
            <a:avLst>
              <a:gd name="adj" fmla="val 8333"/>
            </a:avLst>
          </a:prstGeom>
          <a:solidFill>
            <a:srgbClr val="FFF7ED"/>
          </a:solidFill>
          <a:ln w="12700">
            <a:solidFill>
              <a:srgbClr val="FDBA74"/>
            </a:solidFill>
            <a:prstDash val="solid"/>
          </a:ln>
        </p:spPr>
      </p:sp>
      <p:sp>
        <p:nvSpPr>
          <p:cNvPr id="21" name="Text 19"/>
          <p:cNvSpPr/>
          <p:nvPr/>
        </p:nvSpPr>
        <p:spPr>
          <a:xfrm>
            <a:off x="1280160" y="4553712"/>
            <a:ext cx="1463040" cy="201168"/>
          </a:xfrm>
          <a:prstGeom prst="rect">
            <a:avLst/>
          </a:prstGeom>
          <a:noFill/>
          <a:ln/>
        </p:spPr>
        <p:txBody>
          <a:bodyPr wrap="square" lIns="0" tIns="0" rIns="0" bIns="0" rtlCol="0" anchor="ctr"/>
          <a:lstStyle/>
          <a:p>
            <a:pPr marL="0" indent="0">
              <a:buNone/>
            </a:pPr>
            <a:r>
              <a:rPr lang="en-US" sz="1220" b="1" dirty="0">
                <a:solidFill>
                  <a:srgbClr val="F97316"/>
                </a:solidFill>
              </a:rPr>
              <a:t>Contrôles UX</a:t>
            </a:r>
            <a:endParaRPr lang="en-US" sz="1220" dirty="0"/>
          </a:p>
        </p:txBody>
      </p:sp>
      <p:sp>
        <p:nvSpPr>
          <p:cNvPr id="22" name="Text 20"/>
          <p:cNvSpPr/>
          <p:nvPr/>
        </p:nvSpPr>
        <p:spPr>
          <a:xfrm>
            <a:off x="2468880" y="4535424"/>
            <a:ext cx="2651760" cy="256032"/>
          </a:xfrm>
          <a:prstGeom prst="rect">
            <a:avLst/>
          </a:prstGeom>
          <a:noFill/>
          <a:ln/>
        </p:spPr>
        <p:txBody>
          <a:bodyPr wrap="square" lIns="0" tIns="0" rIns="0" bIns="0" rtlCol="0" anchor="ctr">
            <a:normAutofit fontScale="92500" lnSpcReduction="10000"/>
          </a:bodyPr>
          <a:lstStyle/>
          <a:p>
            <a:pPr marL="0" indent="0">
              <a:buNone/>
            </a:pPr>
            <a:r>
              <a:rPr lang="en-US" sz="980" dirty="0">
                <a:solidFill>
                  <a:srgbClr val="1F2937"/>
                </a:solidFill>
              </a:rPr>
              <a:t>seuil 3 caractères • compteur recettes • listes actualisées</a:t>
            </a:r>
            <a:endParaRPr lang="en-US" sz="980" dirty="0"/>
          </a:p>
        </p:txBody>
      </p:sp>
      <p:sp>
        <p:nvSpPr>
          <p:cNvPr id="23" name="Shape 21"/>
          <p:cNvSpPr/>
          <p:nvPr/>
        </p:nvSpPr>
        <p:spPr>
          <a:xfrm>
            <a:off x="6126480" y="4297680"/>
            <a:ext cx="4526280" cy="1097280"/>
          </a:xfrm>
          <a:prstGeom prst="roundRect">
            <a:avLst>
              <a:gd name="adj" fmla="val 8333"/>
            </a:avLst>
          </a:prstGeom>
          <a:solidFill>
            <a:srgbClr val="FFFFFF"/>
          </a:solidFill>
          <a:ln w="12700">
            <a:solidFill>
              <a:srgbClr val="E5E7EB"/>
            </a:solidFill>
            <a:prstDash val="solid"/>
          </a:ln>
        </p:spPr>
      </p:sp>
      <p:sp>
        <p:nvSpPr>
          <p:cNvPr id="24" name="Text 22"/>
          <p:cNvSpPr/>
          <p:nvPr/>
        </p:nvSpPr>
        <p:spPr>
          <a:xfrm>
            <a:off x="6400800" y="4553712"/>
            <a:ext cx="1600200" cy="201168"/>
          </a:xfrm>
          <a:prstGeom prst="rect">
            <a:avLst/>
          </a:prstGeom>
          <a:noFill/>
          <a:ln/>
        </p:spPr>
        <p:txBody>
          <a:bodyPr wrap="square" lIns="0" tIns="0" rIns="0" bIns="0" rtlCol="0" anchor="ctr"/>
          <a:lstStyle/>
          <a:p>
            <a:pPr marL="0" indent="0">
              <a:buNone/>
            </a:pPr>
            <a:r>
              <a:rPr lang="en-US" sz="1220" b="1" dirty="0">
                <a:solidFill>
                  <a:srgbClr val="101827"/>
                </a:solidFill>
              </a:rPr>
              <a:t>Idée à défendre</a:t>
            </a:r>
            <a:endParaRPr lang="en-US" sz="1220" dirty="0"/>
          </a:p>
        </p:txBody>
      </p:sp>
      <p:sp>
        <p:nvSpPr>
          <p:cNvPr id="25" name="Text 23"/>
          <p:cNvSpPr/>
          <p:nvPr/>
        </p:nvSpPr>
        <p:spPr>
          <a:xfrm>
            <a:off x="7818120" y="4535424"/>
            <a:ext cx="2468880" cy="256032"/>
          </a:xfrm>
          <a:prstGeom prst="rect">
            <a:avLst/>
          </a:prstGeom>
          <a:noFill/>
          <a:ln/>
        </p:spPr>
        <p:txBody>
          <a:bodyPr wrap="square" lIns="0" tIns="0" rIns="0" bIns="0" rtlCol="0" anchor="ctr">
            <a:normAutofit fontScale="92500" lnSpcReduction="10000"/>
          </a:bodyPr>
          <a:lstStyle/>
          <a:p>
            <a:pPr marL="0" indent="0">
              <a:buNone/>
            </a:pPr>
            <a:r>
              <a:rPr lang="en-US" sz="980" dirty="0">
                <a:solidFill>
                  <a:srgbClr val="6B7280"/>
                </a:solidFill>
              </a:rPr>
              <a:t>éviter un fichier monolithique et rendre le projet évolutif</a:t>
            </a:r>
            <a:endParaRPr lang="en-US" sz="980" dirty="0"/>
          </a:p>
        </p:txBody>
      </p:sp>
      <p:sp>
        <p:nvSpPr>
          <p:cNvPr id="26" name="Shape 24"/>
          <p:cNvSpPr/>
          <p:nvPr/>
        </p:nvSpPr>
        <p:spPr>
          <a:xfrm>
            <a:off x="640080" y="6291072"/>
            <a:ext cx="10881360" cy="0"/>
          </a:xfrm>
          <a:prstGeom prst="line">
            <a:avLst/>
          </a:prstGeom>
          <a:noFill/>
          <a:ln w="12700">
            <a:solidFill>
              <a:srgbClr val="E5E7EB"/>
            </a:solidFill>
            <a:prstDash val="solid"/>
          </a:ln>
        </p:spPr>
      </p:sp>
      <p:sp>
        <p:nvSpPr>
          <p:cNvPr id="27" name="Text 25"/>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28" name="Text 26"/>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PERFORMANCE</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Protocole de benchmark</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Mesurer uniquement l’algorithme, sans polluer le résultat avec le DOM.</a:t>
            </a:r>
            <a:endParaRPr lang="en-US" sz="1260" dirty="0"/>
          </a:p>
        </p:txBody>
      </p:sp>
      <p:sp>
        <p:nvSpPr>
          <p:cNvPr id="5" name="Shape 3"/>
          <p:cNvSpPr/>
          <p:nvPr/>
        </p:nvSpPr>
        <p:spPr>
          <a:xfrm>
            <a:off x="822960" y="1828800"/>
            <a:ext cx="4892040" cy="3383280"/>
          </a:xfrm>
          <a:prstGeom prst="roundRect">
            <a:avLst>
              <a:gd name="adj" fmla="val 2703"/>
            </a:avLst>
          </a:prstGeom>
          <a:solidFill>
            <a:srgbClr val="FFFFFF"/>
          </a:solidFill>
          <a:ln w="12700">
            <a:solidFill>
              <a:srgbClr val="E5E7EB"/>
            </a:solidFill>
            <a:prstDash val="solid"/>
          </a:ln>
        </p:spPr>
      </p:sp>
      <p:sp>
        <p:nvSpPr>
          <p:cNvPr id="6" name="Text 4"/>
          <p:cNvSpPr/>
          <p:nvPr/>
        </p:nvSpPr>
        <p:spPr>
          <a:xfrm>
            <a:off x="1143000" y="2148840"/>
            <a:ext cx="1828800" cy="256032"/>
          </a:xfrm>
          <a:prstGeom prst="rect">
            <a:avLst/>
          </a:prstGeom>
          <a:noFill/>
          <a:ln/>
        </p:spPr>
        <p:txBody>
          <a:bodyPr wrap="square" lIns="0" tIns="0" rIns="0" bIns="0" rtlCol="0" anchor="ctr"/>
          <a:lstStyle/>
          <a:p>
            <a:pPr marL="0" indent="0">
              <a:buNone/>
            </a:pPr>
            <a:r>
              <a:rPr lang="en-US" sz="1800" b="1" dirty="0">
                <a:solidFill>
                  <a:srgbClr val="101827"/>
                </a:solidFill>
              </a:rPr>
              <a:t>Testé</a:t>
            </a:r>
            <a:endParaRPr lang="en-US" sz="1800" dirty="0"/>
          </a:p>
        </p:txBody>
      </p:sp>
      <p:sp>
        <p:nvSpPr>
          <p:cNvPr id="7" name="Shape 5"/>
          <p:cNvSpPr/>
          <p:nvPr/>
        </p:nvSpPr>
        <p:spPr>
          <a:xfrm>
            <a:off x="1143000" y="2770632"/>
            <a:ext cx="109728" cy="109728"/>
          </a:xfrm>
          <a:prstGeom prst="ellipse">
            <a:avLst/>
          </a:prstGeom>
          <a:solidFill>
            <a:srgbClr val="F97316"/>
          </a:solidFill>
          <a:ln w="12700">
            <a:solidFill>
              <a:srgbClr val="F97316"/>
            </a:solidFill>
            <a:prstDash val="solid"/>
          </a:ln>
        </p:spPr>
      </p:sp>
      <p:sp>
        <p:nvSpPr>
          <p:cNvPr id="8" name="Text 6"/>
          <p:cNvSpPr/>
          <p:nvPr/>
        </p:nvSpPr>
        <p:spPr>
          <a:xfrm>
            <a:off x="1344168" y="2697480"/>
            <a:ext cx="3273552" cy="219456"/>
          </a:xfrm>
          <a:prstGeom prst="rect">
            <a:avLst/>
          </a:prstGeom>
          <a:noFill/>
          <a:ln/>
        </p:spPr>
        <p:txBody>
          <a:bodyPr wrap="square" lIns="0" tIns="0" rIns="0" bIns="0" rtlCol="0" anchor="ctr">
            <a:normAutofit/>
          </a:bodyPr>
          <a:lstStyle/>
          <a:p>
            <a:pPr marL="0" indent="0">
              <a:buNone/>
            </a:pPr>
            <a:r>
              <a:rPr lang="en-US" sz="1300" dirty="0">
                <a:solidFill>
                  <a:srgbClr val="1F2937"/>
                </a:solidFill>
              </a:rPr>
              <a:t>recherche principale</a:t>
            </a:r>
            <a:endParaRPr lang="en-US" sz="1300" dirty="0"/>
          </a:p>
        </p:txBody>
      </p:sp>
      <p:sp>
        <p:nvSpPr>
          <p:cNvPr id="9" name="Shape 7"/>
          <p:cNvSpPr/>
          <p:nvPr/>
        </p:nvSpPr>
        <p:spPr>
          <a:xfrm>
            <a:off x="1143000" y="3163824"/>
            <a:ext cx="109728" cy="109728"/>
          </a:xfrm>
          <a:prstGeom prst="ellipse">
            <a:avLst/>
          </a:prstGeom>
          <a:solidFill>
            <a:srgbClr val="F97316"/>
          </a:solidFill>
          <a:ln w="12700">
            <a:solidFill>
              <a:srgbClr val="F97316"/>
            </a:solidFill>
            <a:prstDash val="solid"/>
          </a:ln>
        </p:spPr>
      </p:sp>
      <p:sp>
        <p:nvSpPr>
          <p:cNvPr id="10" name="Text 8"/>
          <p:cNvSpPr/>
          <p:nvPr/>
        </p:nvSpPr>
        <p:spPr>
          <a:xfrm>
            <a:off x="1344168" y="3090672"/>
            <a:ext cx="3273552" cy="219456"/>
          </a:xfrm>
          <a:prstGeom prst="rect">
            <a:avLst/>
          </a:prstGeom>
          <a:noFill/>
          <a:ln/>
        </p:spPr>
        <p:txBody>
          <a:bodyPr wrap="square" lIns="0" tIns="0" rIns="0" bIns="0" rtlCol="0" anchor="ctr">
            <a:normAutofit/>
          </a:bodyPr>
          <a:lstStyle/>
          <a:p>
            <a:pPr marL="0" indent="0">
              <a:buNone/>
            </a:pPr>
            <a:r>
              <a:rPr lang="en-US" sz="1300" dirty="0">
                <a:solidFill>
                  <a:srgbClr val="1F2937"/>
                </a:solidFill>
              </a:rPr>
              <a:t>recherche par filtres</a:t>
            </a:r>
            <a:endParaRPr lang="en-US" sz="1300" dirty="0"/>
          </a:p>
        </p:txBody>
      </p:sp>
      <p:sp>
        <p:nvSpPr>
          <p:cNvPr id="11" name="Shape 9"/>
          <p:cNvSpPr/>
          <p:nvPr/>
        </p:nvSpPr>
        <p:spPr>
          <a:xfrm>
            <a:off x="1143000" y="3557016"/>
            <a:ext cx="109728" cy="109728"/>
          </a:xfrm>
          <a:prstGeom prst="ellipse">
            <a:avLst/>
          </a:prstGeom>
          <a:solidFill>
            <a:srgbClr val="F97316"/>
          </a:solidFill>
          <a:ln w="12700">
            <a:solidFill>
              <a:srgbClr val="F97316"/>
            </a:solidFill>
            <a:prstDash val="solid"/>
          </a:ln>
        </p:spPr>
      </p:sp>
      <p:sp>
        <p:nvSpPr>
          <p:cNvPr id="12" name="Text 10"/>
          <p:cNvSpPr/>
          <p:nvPr/>
        </p:nvSpPr>
        <p:spPr>
          <a:xfrm>
            <a:off x="1344168" y="3483864"/>
            <a:ext cx="3273552" cy="219456"/>
          </a:xfrm>
          <a:prstGeom prst="rect">
            <a:avLst/>
          </a:prstGeom>
          <a:noFill/>
          <a:ln/>
        </p:spPr>
        <p:txBody>
          <a:bodyPr wrap="square" lIns="0" tIns="0" rIns="0" bIns="0" rtlCol="0" anchor="ctr">
            <a:normAutofit/>
          </a:bodyPr>
          <a:lstStyle/>
          <a:p>
            <a:pPr marL="0" indent="0">
              <a:buNone/>
            </a:pPr>
            <a:r>
              <a:rPr lang="en-US" sz="1300" dirty="0">
                <a:solidFill>
                  <a:srgbClr val="1F2937"/>
                </a:solidFill>
              </a:rPr>
              <a:t>mêmes données recettes</a:t>
            </a:r>
            <a:endParaRPr lang="en-US" sz="1300" dirty="0"/>
          </a:p>
        </p:txBody>
      </p:sp>
      <p:sp>
        <p:nvSpPr>
          <p:cNvPr id="13" name="Shape 11"/>
          <p:cNvSpPr/>
          <p:nvPr/>
        </p:nvSpPr>
        <p:spPr>
          <a:xfrm>
            <a:off x="1143000" y="3950208"/>
            <a:ext cx="109728" cy="109728"/>
          </a:xfrm>
          <a:prstGeom prst="ellipse">
            <a:avLst/>
          </a:prstGeom>
          <a:solidFill>
            <a:srgbClr val="F97316"/>
          </a:solidFill>
          <a:ln w="12700">
            <a:solidFill>
              <a:srgbClr val="F97316"/>
            </a:solidFill>
            <a:prstDash val="solid"/>
          </a:ln>
        </p:spPr>
      </p:sp>
      <p:sp>
        <p:nvSpPr>
          <p:cNvPr id="14" name="Text 12"/>
          <p:cNvSpPr/>
          <p:nvPr/>
        </p:nvSpPr>
        <p:spPr>
          <a:xfrm>
            <a:off x="1344168" y="3877056"/>
            <a:ext cx="3273552" cy="219456"/>
          </a:xfrm>
          <a:prstGeom prst="rect">
            <a:avLst/>
          </a:prstGeom>
          <a:noFill/>
          <a:ln/>
        </p:spPr>
        <p:txBody>
          <a:bodyPr wrap="square" lIns="0" tIns="0" rIns="0" bIns="0" rtlCol="0" anchor="ctr">
            <a:normAutofit/>
          </a:bodyPr>
          <a:lstStyle/>
          <a:p>
            <a:pPr marL="0" indent="0">
              <a:buNone/>
            </a:pPr>
            <a:r>
              <a:rPr lang="en-US" sz="1300" dirty="0">
                <a:solidFill>
                  <a:srgbClr val="1F2937"/>
                </a:solidFill>
              </a:rPr>
              <a:t>mêmes termes de test</a:t>
            </a:r>
            <a:endParaRPr lang="en-US" sz="1300" dirty="0"/>
          </a:p>
        </p:txBody>
      </p:sp>
      <p:sp>
        <p:nvSpPr>
          <p:cNvPr id="15" name="Shape 13"/>
          <p:cNvSpPr/>
          <p:nvPr/>
        </p:nvSpPr>
        <p:spPr>
          <a:xfrm>
            <a:off x="6446520" y="1828800"/>
            <a:ext cx="4892040" cy="3383280"/>
          </a:xfrm>
          <a:prstGeom prst="roundRect">
            <a:avLst>
              <a:gd name="adj" fmla="val 2703"/>
            </a:avLst>
          </a:prstGeom>
          <a:solidFill>
            <a:srgbClr val="101827"/>
          </a:solidFill>
          <a:ln w="12700">
            <a:solidFill>
              <a:srgbClr val="101827"/>
            </a:solidFill>
            <a:prstDash val="solid"/>
          </a:ln>
        </p:spPr>
      </p:sp>
      <p:sp>
        <p:nvSpPr>
          <p:cNvPr id="16" name="Text 14"/>
          <p:cNvSpPr/>
          <p:nvPr/>
        </p:nvSpPr>
        <p:spPr>
          <a:xfrm>
            <a:off x="6766560" y="2148840"/>
            <a:ext cx="2194560" cy="256032"/>
          </a:xfrm>
          <a:prstGeom prst="rect">
            <a:avLst/>
          </a:prstGeom>
          <a:noFill/>
          <a:ln/>
        </p:spPr>
        <p:txBody>
          <a:bodyPr wrap="square" lIns="0" tIns="0" rIns="0" bIns="0" rtlCol="0" anchor="ctr"/>
          <a:lstStyle/>
          <a:p>
            <a:pPr marL="0" indent="0">
              <a:buNone/>
            </a:pPr>
            <a:r>
              <a:rPr lang="en-US" sz="1800" b="1" dirty="0">
                <a:solidFill>
                  <a:srgbClr val="FFFFFF"/>
                </a:solidFill>
              </a:rPr>
              <a:t>Exclu du test</a:t>
            </a:r>
            <a:endParaRPr lang="en-US" sz="1800" dirty="0"/>
          </a:p>
        </p:txBody>
      </p:sp>
      <p:sp>
        <p:nvSpPr>
          <p:cNvPr id="17" name="Shape 15"/>
          <p:cNvSpPr/>
          <p:nvPr/>
        </p:nvSpPr>
        <p:spPr>
          <a:xfrm>
            <a:off x="6766560" y="2770632"/>
            <a:ext cx="109728" cy="109728"/>
          </a:xfrm>
          <a:prstGeom prst="ellipse">
            <a:avLst/>
          </a:prstGeom>
          <a:solidFill>
            <a:srgbClr val="FACC15"/>
          </a:solidFill>
          <a:ln w="12700">
            <a:solidFill>
              <a:srgbClr val="FACC15"/>
            </a:solidFill>
            <a:prstDash val="solid"/>
          </a:ln>
        </p:spPr>
      </p:sp>
      <p:sp>
        <p:nvSpPr>
          <p:cNvPr id="18" name="Text 16"/>
          <p:cNvSpPr/>
          <p:nvPr/>
        </p:nvSpPr>
        <p:spPr>
          <a:xfrm>
            <a:off x="6967728" y="2697480"/>
            <a:ext cx="3273552" cy="219456"/>
          </a:xfrm>
          <a:prstGeom prst="rect">
            <a:avLst/>
          </a:prstGeom>
          <a:noFill/>
          <a:ln/>
        </p:spPr>
        <p:txBody>
          <a:bodyPr wrap="square" lIns="0" tIns="0" rIns="0" bIns="0" rtlCol="0" anchor="ctr">
            <a:normAutofit/>
          </a:bodyPr>
          <a:lstStyle/>
          <a:p>
            <a:pPr marL="0" indent="0">
              <a:buNone/>
            </a:pPr>
            <a:r>
              <a:rPr lang="en-US" sz="1300" dirty="0">
                <a:solidFill>
                  <a:srgbClr val="FFFFFF"/>
                </a:solidFill>
              </a:rPr>
              <a:t>mise à jour du DOM</a:t>
            </a:r>
            <a:endParaRPr lang="en-US" sz="1300" dirty="0"/>
          </a:p>
        </p:txBody>
      </p:sp>
      <p:sp>
        <p:nvSpPr>
          <p:cNvPr id="19" name="Shape 17"/>
          <p:cNvSpPr/>
          <p:nvPr/>
        </p:nvSpPr>
        <p:spPr>
          <a:xfrm>
            <a:off x="6766560" y="3163824"/>
            <a:ext cx="109728" cy="109728"/>
          </a:xfrm>
          <a:prstGeom prst="ellipse">
            <a:avLst/>
          </a:prstGeom>
          <a:solidFill>
            <a:srgbClr val="FACC15"/>
          </a:solidFill>
          <a:ln w="12700">
            <a:solidFill>
              <a:srgbClr val="FACC15"/>
            </a:solidFill>
            <a:prstDash val="solid"/>
          </a:ln>
        </p:spPr>
      </p:sp>
      <p:sp>
        <p:nvSpPr>
          <p:cNvPr id="20" name="Text 18"/>
          <p:cNvSpPr/>
          <p:nvPr/>
        </p:nvSpPr>
        <p:spPr>
          <a:xfrm>
            <a:off x="6967728" y="3090672"/>
            <a:ext cx="3273552" cy="219456"/>
          </a:xfrm>
          <a:prstGeom prst="rect">
            <a:avLst/>
          </a:prstGeom>
          <a:noFill/>
          <a:ln/>
        </p:spPr>
        <p:txBody>
          <a:bodyPr wrap="square" lIns="0" tIns="0" rIns="0" bIns="0" rtlCol="0" anchor="ctr">
            <a:normAutofit/>
          </a:bodyPr>
          <a:lstStyle/>
          <a:p>
            <a:pPr marL="0" indent="0">
              <a:buNone/>
            </a:pPr>
            <a:r>
              <a:rPr lang="en-US" sz="1300" dirty="0">
                <a:solidFill>
                  <a:srgbClr val="FFFFFF"/>
                </a:solidFill>
              </a:rPr>
              <a:t>affichage des cartes</a:t>
            </a:r>
            <a:endParaRPr lang="en-US" sz="1300" dirty="0"/>
          </a:p>
        </p:txBody>
      </p:sp>
      <p:sp>
        <p:nvSpPr>
          <p:cNvPr id="21" name="Shape 19"/>
          <p:cNvSpPr/>
          <p:nvPr/>
        </p:nvSpPr>
        <p:spPr>
          <a:xfrm>
            <a:off x="6766560" y="3557016"/>
            <a:ext cx="109728" cy="109728"/>
          </a:xfrm>
          <a:prstGeom prst="ellipse">
            <a:avLst/>
          </a:prstGeom>
          <a:solidFill>
            <a:srgbClr val="FACC15"/>
          </a:solidFill>
          <a:ln w="12700">
            <a:solidFill>
              <a:srgbClr val="FACC15"/>
            </a:solidFill>
            <a:prstDash val="solid"/>
          </a:ln>
        </p:spPr>
      </p:sp>
      <p:sp>
        <p:nvSpPr>
          <p:cNvPr id="22" name="Text 20"/>
          <p:cNvSpPr/>
          <p:nvPr/>
        </p:nvSpPr>
        <p:spPr>
          <a:xfrm>
            <a:off x="6967728" y="3483864"/>
            <a:ext cx="3273552" cy="219456"/>
          </a:xfrm>
          <a:prstGeom prst="rect">
            <a:avLst/>
          </a:prstGeom>
          <a:noFill/>
          <a:ln/>
        </p:spPr>
        <p:txBody>
          <a:bodyPr wrap="square" lIns="0" tIns="0" rIns="0" bIns="0" rtlCol="0" anchor="ctr">
            <a:normAutofit/>
          </a:bodyPr>
          <a:lstStyle/>
          <a:p>
            <a:pPr marL="0" indent="0">
              <a:buNone/>
            </a:pPr>
            <a:r>
              <a:rPr lang="en-US" sz="1300" dirty="0">
                <a:solidFill>
                  <a:srgbClr val="FFFFFF"/>
                </a:solidFill>
              </a:rPr>
              <a:t>listeners / événements</a:t>
            </a:r>
            <a:endParaRPr lang="en-US" sz="1300" dirty="0"/>
          </a:p>
        </p:txBody>
      </p:sp>
      <p:sp>
        <p:nvSpPr>
          <p:cNvPr id="23" name="Shape 21"/>
          <p:cNvSpPr/>
          <p:nvPr/>
        </p:nvSpPr>
        <p:spPr>
          <a:xfrm>
            <a:off x="6766560" y="3950208"/>
            <a:ext cx="109728" cy="109728"/>
          </a:xfrm>
          <a:prstGeom prst="ellipse">
            <a:avLst/>
          </a:prstGeom>
          <a:solidFill>
            <a:srgbClr val="FACC15"/>
          </a:solidFill>
          <a:ln w="12700">
            <a:solidFill>
              <a:srgbClr val="FACC15"/>
            </a:solidFill>
            <a:prstDash val="solid"/>
          </a:ln>
        </p:spPr>
      </p:sp>
      <p:sp>
        <p:nvSpPr>
          <p:cNvPr id="24" name="Text 22"/>
          <p:cNvSpPr/>
          <p:nvPr/>
        </p:nvSpPr>
        <p:spPr>
          <a:xfrm>
            <a:off x="6967728" y="3877056"/>
            <a:ext cx="3273552" cy="219456"/>
          </a:xfrm>
          <a:prstGeom prst="rect">
            <a:avLst/>
          </a:prstGeom>
          <a:noFill/>
          <a:ln/>
        </p:spPr>
        <p:txBody>
          <a:bodyPr wrap="square" lIns="0" tIns="0" rIns="0" bIns="0" rtlCol="0" anchor="ctr">
            <a:normAutofit/>
          </a:bodyPr>
          <a:lstStyle/>
          <a:p>
            <a:pPr marL="0" indent="0">
              <a:buNone/>
            </a:pPr>
            <a:r>
              <a:rPr lang="en-US" sz="1300" dirty="0">
                <a:solidFill>
                  <a:srgbClr val="FFFFFF"/>
                </a:solidFill>
              </a:rPr>
              <a:t>style CSS</a:t>
            </a:r>
            <a:endParaRPr lang="en-US" sz="1300" dirty="0"/>
          </a:p>
        </p:txBody>
      </p:sp>
      <p:sp>
        <p:nvSpPr>
          <p:cNvPr id="25" name="Shape 23"/>
          <p:cNvSpPr/>
          <p:nvPr/>
        </p:nvSpPr>
        <p:spPr>
          <a:xfrm>
            <a:off x="2331720" y="5486400"/>
            <a:ext cx="7498080" cy="530352"/>
          </a:xfrm>
          <a:prstGeom prst="roundRect">
            <a:avLst>
              <a:gd name="adj" fmla="val 17241"/>
            </a:avLst>
          </a:prstGeom>
          <a:solidFill>
            <a:srgbClr val="FFF7ED"/>
          </a:solidFill>
          <a:ln w="12700">
            <a:solidFill>
              <a:srgbClr val="FDBA74"/>
            </a:solidFill>
            <a:prstDash val="solid"/>
          </a:ln>
        </p:spPr>
      </p:sp>
      <p:sp>
        <p:nvSpPr>
          <p:cNvPr id="26" name="Text 24"/>
          <p:cNvSpPr/>
          <p:nvPr/>
        </p:nvSpPr>
        <p:spPr>
          <a:xfrm>
            <a:off x="2606040" y="5650992"/>
            <a:ext cx="6949440" cy="164592"/>
          </a:xfrm>
          <a:prstGeom prst="rect">
            <a:avLst/>
          </a:prstGeom>
          <a:noFill/>
          <a:ln/>
        </p:spPr>
        <p:txBody>
          <a:bodyPr wrap="square" lIns="0" tIns="0" rIns="0" bIns="0" rtlCol="0" anchor="ctr"/>
          <a:lstStyle/>
          <a:p>
            <a:pPr marL="0" indent="0" algn="ctr">
              <a:buNone/>
            </a:pPr>
            <a:r>
              <a:rPr lang="en-US" sz="1080" b="1" dirty="0">
                <a:solidFill>
                  <a:srgbClr val="F97316"/>
                </a:solidFill>
              </a:rPr>
              <a:t>Métrique utilisée : opérations par seconde (ops/s). Plus le chiffre est élevé, plus l’algorithme est rapide.</a:t>
            </a:r>
            <a:endParaRPr lang="en-US" sz="1080" dirty="0"/>
          </a:p>
        </p:txBody>
      </p:sp>
      <p:sp>
        <p:nvSpPr>
          <p:cNvPr id="27" name="Shape 25"/>
          <p:cNvSpPr/>
          <p:nvPr/>
        </p:nvSpPr>
        <p:spPr>
          <a:xfrm>
            <a:off x="640080" y="6291072"/>
            <a:ext cx="10881360" cy="0"/>
          </a:xfrm>
          <a:prstGeom prst="line">
            <a:avLst/>
          </a:prstGeom>
          <a:noFill/>
          <a:ln w="12700">
            <a:solidFill>
              <a:srgbClr val="E5E7EB"/>
            </a:solidFill>
            <a:prstDash val="solid"/>
          </a:ln>
        </p:spPr>
      </p:sp>
      <p:sp>
        <p:nvSpPr>
          <p:cNvPr id="28" name="Text 26"/>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29" name="Text 27"/>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RÉSULTATS CHIFFRÉS</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fontScale="92500" lnSpcReduction="20000"/>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Boucles natives plus rapides</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Mesure locale sur fonctions réelles, DOM retiré.</a:t>
            </a:r>
            <a:endParaRPr lang="en-US" sz="1260" dirty="0"/>
          </a:p>
        </p:txBody>
      </p:sp>
      <p:sp>
        <p:nvSpPr>
          <p:cNvPr id="5" name="Shape 3"/>
          <p:cNvSpPr/>
          <p:nvPr/>
        </p:nvSpPr>
        <p:spPr>
          <a:xfrm>
            <a:off x="822960" y="1828800"/>
            <a:ext cx="4983480" cy="3429000"/>
          </a:xfrm>
          <a:prstGeom prst="roundRect">
            <a:avLst>
              <a:gd name="adj" fmla="val 2667"/>
            </a:avLst>
          </a:prstGeom>
          <a:solidFill>
            <a:srgbClr val="FFFFFF"/>
          </a:solidFill>
          <a:ln w="12700">
            <a:solidFill>
              <a:srgbClr val="E5E7EB"/>
            </a:solidFill>
            <a:prstDash val="solid"/>
          </a:ln>
        </p:spPr>
      </p:sp>
      <p:sp>
        <p:nvSpPr>
          <p:cNvPr id="6" name="Text 4"/>
          <p:cNvSpPr/>
          <p:nvPr/>
        </p:nvSpPr>
        <p:spPr>
          <a:xfrm>
            <a:off x="1188720" y="2148840"/>
            <a:ext cx="1645920" cy="502920"/>
          </a:xfrm>
          <a:prstGeom prst="rect">
            <a:avLst/>
          </a:prstGeom>
          <a:noFill/>
          <a:ln/>
        </p:spPr>
        <p:txBody>
          <a:bodyPr wrap="square" lIns="0" tIns="0" rIns="0" bIns="0" rtlCol="0" anchor="ctr"/>
          <a:lstStyle/>
          <a:p>
            <a:pPr marL="0" indent="0">
              <a:buNone/>
            </a:pPr>
            <a:r>
              <a:rPr lang="en-US" sz="3000" b="1" dirty="0">
                <a:solidFill>
                  <a:srgbClr val="F97316"/>
                </a:solidFill>
              </a:rPr>
              <a:t>+17%</a:t>
            </a:r>
            <a:endParaRPr lang="en-US" sz="3000" dirty="0"/>
          </a:p>
        </p:txBody>
      </p:sp>
      <p:sp>
        <p:nvSpPr>
          <p:cNvPr id="7" name="Text 5"/>
          <p:cNvSpPr/>
          <p:nvPr/>
        </p:nvSpPr>
        <p:spPr>
          <a:xfrm>
            <a:off x="2788920" y="2331720"/>
            <a:ext cx="2377440" cy="228600"/>
          </a:xfrm>
          <a:prstGeom prst="rect">
            <a:avLst/>
          </a:prstGeom>
          <a:noFill/>
          <a:ln/>
        </p:spPr>
        <p:txBody>
          <a:bodyPr wrap="square" lIns="0" tIns="0" rIns="0" bIns="0" rtlCol="0" anchor="ctr"/>
          <a:lstStyle/>
          <a:p>
            <a:pPr marL="0" indent="0">
              <a:buNone/>
            </a:pPr>
            <a:r>
              <a:rPr lang="en-US" sz="1220" b="1" dirty="0">
                <a:solidFill>
                  <a:srgbClr val="101827"/>
                </a:solidFill>
              </a:rPr>
              <a:t>en moyenne générale</a:t>
            </a:r>
            <a:endParaRPr lang="en-US" sz="1220" dirty="0"/>
          </a:p>
        </p:txBody>
      </p:sp>
      <p:sp>
        <p:nvSpPr>
          <p:cNvPr id="8" name="Text 6"/>
          <p:cNvSpPr/>
          <p:nvPr/>
        </p:nvSpPr>
        <p:spPr>
          <a:xfrm>
            <a:off x="1188720" y="2898648"/>
            <a:ext cx="4114800" cy="201168"/>
          </a:xfrm>
          <a:prstGeom prst="rect">
            <a:avLst/>
          </a:prstGeom>
          <a:noFill/>
          <a:ln/>
        </p:spPr>
        <p:txBody>
          <a:bodyPr wrap="square" lIns="0" tIns="0" rIns="0" bIns="0" rtlCol="0" anchor="ctr"/>
          <a:lstStyle/>
          <a:p>
            <a:pPr marL="0" indent="0">
              <a:buNone/>
            </a:pPr>
            <a:r>
              <a:rPr lang="en-US" sz="1150" b="1" dirty="0">
                <a:solidFill>
                  <a:srgbClr val="101827"/>
                </a:solidFill>
              </a:rPr>
              <a:t>Benchmark global</a:t>
            </a:r>
            <a:endParaRPr lang="en-US" sz="1150" dirty="0"/>
          </a:p>
        </p:txBody>
      </p:sp>
      <p:sp>
        <p:nvSpPr>
          <p:cNvPr id="9" name="Text 7"/>
          <p:cNvSpPr/>
          <p:nvPr/>
        </p:nvSpPr>
        <p:spPr>
          <a:xfrm>
            <a:off x="1188720" y="3154680"/>
            <a:ext cx="1463040" cy="182880"/>
          </a:xfrm>
          <a:prstGeom prst="rect">
            <a:avLst/>
          </a:prstGeom>
          <a:noFill/>
          <a:ln/>
        </p:spPr>
        <p:txBody>
          <a:bodyPr wrap="square" lIns="0" tIns="0" rIns="0" bIns="0" rtlCol="0" anchor="ctr"/>
          <a:lstStyle/>
          <a:p>
            <a:pPr marL="0" indent="0">
              <a:buNone/>
            </a:pPr>
            <a:r>
              <a:rPr lang="en-US" sz="980" dirty="0">
                <a:solidFill>
                  <a:srgbClr val="6B7280"/>
                </a:solidFill>
              </a:rPr>
              <a:t>Méthodes</a:t>
            </a:r>
            <a:endParaRPr lang="en-US" sz="980" dirty="0"/>
          </a:p>
        </p:txBody>
      </p:sp>
      <p:sp>
        <p:nvSpPr>
          <p:cNvPr id="10" name="Shape 8"/>
          <p:cNvSpPr/>
          <p:nvPr/>
        </p:nvSpPr>
        <p:spPr>
          <a:xfrm>
            <a:off x="2834640" y="3172968"/>
            <a:ext cx="887936" cy="201168"/>
          </a:xfrm>
          <a:prstGeom prst="roundRect">
            <a:avLst>
              <a:gd name="adj" fmla="val 22727"/>
            </a:avLst>
          </a:prstGeom>
          <a:solidFill>
            <a:srgbClr val="F97316"/>
          </a:solidFill>
          <a:ln w="12700">
            <a:solidFill>
              <a:srgbClr val="F97316"/>
            </a:solidFill>
            <a:prstDash val="solid"/>
          </a:ln>
        </p:spPr>
      </p:sp>
      <p:sp>
        <p:nvSpPr>
          <p:cNvPr id="11" name="Text 9"/>
          <p:cNvSpPr/>
          <p:nvPr/>
        </p:nvSpPr>
        <p:spPr>
          <a:xfrm>
            <a:off x="3795728" y="3150108"/>
            <a:ext cx="1188720" cy="164592"/>
          </a:xfrm>
          <a:prstGeom prst="rect">
            <a:avLst/>
          </a:prstGeom>
          <a:noFill/>
          <a:ln/>
        </p:spPr>
        <p:txBody>
          <a:bodyPr wrap="square" lIns="0" tIns="0" rIns="0" bIns="0" rtlCol="0" anchor="ctr"/>
          <a:lstStyle/>
          <a:p>
            <a:pPr marL="0" indent="0">
              <a:buNone/>
            </a:pPr>
            <a:r>
              <a:rPr lang="en-US" sz="850" dirty="0">
                <a:solidFill>
                  <a:srgbClr val="101827"/>
                </a:solidFill>
              </a:rPr>
              <a:t>base 100</a:t>
            </a:r>
            <a:endParaRPr lang="en-US" sz="850" dirty="0"/>
          </a:p>
        </p:txBody>
      </p:sp>
      <p:sp>
        <p:nvSpPr>
          <p:cNvPr id="12" name="Text 10"/>
          <p:cNvSpPr/>
          <p:nvPr/>
        </p:nvSpPr>
        <p:spPr>
          <a:xfrm>
            <a:off x="1188720" y="3538728"/>
            <a:ext cx="1463040" cy="182880"/>
          </a:xfrm>
          <a:prstGeom prst="rect">
            <a:avLst/>
          </a:prstGeom>
          <a:noFill/>
          <a:ln/>
        </p:spPr>
        <p:txBody>
          <a:bodyPr wrap="square" lIns="0" tIns="0" rIns="0" bIns="0" rtlCol="0" anchor="ctr"/>
          <a:lstStyle/>
          <a:p>
            <a:pPr marL="0" indent="0">
              <a:buNone/>
            </a:pPr>
            <a:r>
              <a:rPr lang="en-US" sz="980" dirty="0">
                <a:solidFill>
                  <a:srgbClr val="6B7280"/>
                </a:solidFill>
              </a:rPr>
              <a:t>Boucles</a:t>
            </a:r>
            <a:endParaRPr lang="en-US" sz="980" dirty="0"/>
          </a:p>
        </p:txBody>
      </p:sp>
      <p:sp>
        <p:nvSpPr>
          <p:cNvPr id="13" name="Shape 11"/>
          <p:cNvSpPr/>
          <p:nvPr/>
        </p:nvSpPr>
        <p:spPr>
          <a:xfrm>
            <a:off x="2834640" y="3557016"/>
            <a:ext cx="638981" cy="201168"/>
          </a:xfrm>
          <a:prstGeom prst="roundRect">
            <a:avLst>
              <a:gd name="adj" fmla="val 22727"/>
            </a:avLst>
          </a:prstGeom>
          <a:solidFill>
            <a:srgbClr val="101827"/>
          </a:solidFill>
          <a:ln w="12700">
            <a:solidFill>
              <a:srgbClr val="101827"/>
            </a:solidFill>
            <a:prstDash val="solid"/>
          </a:ln>
        </p:spPr>
      </p:sp>
      <p:sp>
        <p:nvSpPr>
          <p:cNvPr id="14" name="Text 12"/>
          <p:cNvSpPr/>
          <p:nvPr/>
        </p:nvSpPr>
        <p:spPr>
          <a:xfrm>
            <a:off x="3546773" y="3534156"/>
            <a:ext cx="1188720" cy="164592"/>
          </a:xfrm>
          <a:prstGeom prst="rect">
            <a:avLst/>
          </a:prstGeom>
          <a:noFill/>
          <a:ln/>
        </p:spPr>
        <p:txBody>
          <a:bodyPr wrap="square" lIns="0" tIns="0" rIns="0" bIns="0" rtlCol="0" anchor="ctr"/>
          <a:lstStyle/>
          <a:p>
            <a:pPr marL="0" indent="0">
              <a:buNone/>
            </a:pPr>
            <a:r>
              <a:rPr lang="en-US" sz="850" dirty="0">
                <a:solidFill>
                  <a:srgbClr val="101827"/>
                </a:solidFill>
              </a:rPr>
              <a:t>≈117</a:t>
            </a:r>
            <a:endParaRPr lang="en-US" sz="850" dirty="0"/>
          </a:p>
        </p:txBody>
      </p:sp>
      <p:sp>
        <p:nvSpPr>
          <p:cNvPr id="15" name="Shape 13"/>
          <p:cNvSpPr/>
          <p:nvPr/>
        </p:nvSpPr>
        <p:spPr>
          <a:xfrm>
            <a:off x="6309360" y="1828800"/>
            <a:ext cx="4983480" cy="3429000"/>
          </a:xfrm>
          <a:prstGeom prst="roundRect">
            <a:avLst>
              <a:gd name="adj" fmla="val 2667"/>
            </a:avLst>
          </a:prstGeom>
          <a:solidFill>
            <a:srgbClr val="101827"/>
          </a:solidFill>
          <a:ln w="12700">
            <a:solidFill>
              <a:srgbClr val="101827"/>
            </a:solidFill>
            <a:prstDash val="solid"/>
          </a:ln>
        </p:spPr>
      </p:sp>
      <p:sp>
        <p:nvSpPr>
          <p:cNvPr id="16" name="Text 14"/>
          <p:cNvSpPr/>
          <p:nvPr/>
        </p:nvSpPr>
        <p:spPr>
          <a:xfrm>
            <a:off x="6675120" y="2148840"/>
            <a:ext cx="1645920" cy="502920"/>
          </a:xfrm>
          <a:prstGeom prst="rect">
            <a:avLst/>
          </a:prstGeom>
          <a:noFill/>
          <a:ln/>
        </p:spPr>
        <p:txBody>
          <a:bodyPr wrap="square" lIns="0" tIns="0" rIns="0" bIns="0" rtlCol="0" anchor="ctr"/>
          <a:lstStyle/>
          <a:p>
            <a:pPr marL="0" indent="0">
              <a:buNone/>
            </a:pPr>
            <a:r>
              <a:rPr lang="en-US" sz="3000" b="1" dirty="0">
                <a:solidFill>
                  <a:srgbClr val="FACC15"/>
                </a:solidFill>
              </a:rPr>
              <a:t>+ fort</a:t>
            </a:r>
            <a:endParaRPr lang="en-US" sz="3000" dirty="0"/>
          </a:p>
        </p:txBody>
      </p:sp>
      <p:sp>
        <p:nvSpPr>
          <p:cNvPr id="17" name="Text 15"/>
          <p:cNvSpPr/>
          <p:nvPr/>
        </p:nvSpPr>
        <p:spPr>
          <a:xfrm>
            <a:off x="8275320" y="2331720"/>
            <a:ext cx="2377440" cy="228600"/>
          </a:xfrm>
          <a:prstGeom prst="rect">
            <a:avLst/>
          </a:prstGeom>
          <a:noFill/>
          <a:ln/>
        </p:spPr>
        <p:txBody>
          <a:bodyPr wrap="square" lIns="0" tIns="0" rIns="0" bIns="0" rtlCol="0" anchor="ctr"/>
          <a:lstStyle/>
          <a:p>
            <a:pPr marL="0" indent="0">
              <a:buNone/>
            </a:pPr>
            <a:r>
              <a:rPr lang="en-US" sz="1220" b="1" dirty="0">
                <a:solidFill>
                  <a:srgbClr val="FFFFFF"/>
                </a:solidFill>
              </a:rPr>
              <a:t>sur les filtres avancés</a:t>
            </a:r>
            <a:endParaRPr lang="en-US" sz="1220" dirty="0"/>
          </a:p>
        </p:txBody>
      </p:sp>
      <p:sp>
        <p:nvSpPr>
          <p:cNvPr id="18" name="Text 16"/>
          <p:cNvSpPr/>
          <p:nvPr/>
        </p:nvSpPr>
        <p:spPr>
          <a:xfrm>
            <a:off x="6675120" y="2898648"/>
            <a:ext cx="4114800" cy="201168"/>
          </a:xfrm>
          <a:prstGeom prst="rect">
            <a:avLst/>
          </a:prstGeom>
          <a:noFill/>
          <a:ln/>
        </p:spPr>
        <p:txBody>
          <a:bodyPr wrap="square" lIns="0" tIns="0" rIns="0" bIns="0" rtlCol="0" anchor="ctr"/>
          <a:lstStyle/>
          <a:p>
            <a:pPr marL="0" indent="0">
              <a:buNone/>
            </a:pPr>
            <a:r>
              <a:rPr lang="en-US" sz="1150" b="1" dirty="0">
                <a:solidFill>
                  <a:srgbClr val="FFFFFF"/>
                </a:solidFill>
              </a:rPr>
              <a:t>Scénarios testés</a:t>
            </a:r>
            <a:endParaRPr lang="en-US" sz="1150" dirty="0"/>
          </a:p>
        </p:txBody>
      </p:sp>
      <p:sp>
        <p:nvSpPr>
          <p:cNvPr id="19" name="Text 17"/>
          <p:cNvSpPr/>
          <p:nvPr/>
        </p:nvSpPr>
        <p:spPr>
          <a:xfrm>
            <a:off x="6675120" y="3154680"/>
            <a:ext cx="1463040" cy="182880"/>
          </a:xfrm>
          <a:prstGeom prst="rect">
            <a:avLst/>
          </a:prstGeom>
          <a:noFill/>
          <a:ln/>
        </p:spPr>
        <p:txBody>
          <a:bodyPr wrap="square" lIns="0" tIns="0" rIns="0" bIns="0" rtlCol="0" anchor="ctr"/>
          <a:lstStyle/>
          <a:p>
            <a:pPr marL="0" indent="0">
              <a:buNone/>
            </a:pPr>
            <a:r>
              <a:rPr lang="en-US" sz="980" dirty="0">
                <a:solidFill>
                  <a:srgbClr val="CBD5E1"/>
                </a:solidFill>
              </a:rPr>
              <a:t>Méthodes</a:t>
            </a:r>
            <a:endParaRPr lang="en-US" sz="980" dirty="0"/>
          </a:p>
        </p:txBody>
      </p:sp>
      <p:sp>
        <p:nvSpPr>
          <p:cNvPr id="20" name="Shape 18"/>
          <p:cNvSpPr/>
          <p:nvPr/>
        </p:nvSpPr>
        <p:spPr>
          <a:xfrm>
            <a:off x="8321040" y="3172968"/>
            <a:ext cx="1698919" cy="201168"/>
          </a:xfrm>
          <a:prstGeom prst="roundRect">
            <a:avLst>
              <a:gd name="adj" fmla="val 22727"/>
            </a:avLst>
          </a:prstGeom>
          <a:solidFill>
            <a:srgbClr val="FACC15"/>
          </a:solidFill>
          <a:ln w="12700">
            <a:solidFill>
              <a:srgbClr val="FACC15"/>
            </a:solidFill>
            <a:prstDash val="solid"/>
          </a:ln>
        </p:spPr>
      </p:sp>
      <p:sp>
        <p:nvSpPr>
          <p:cNvPr id="21" name="Text 19"/>
          <p:cNvSpPr/>
          <p:nvPr/>
        </p:nvSpPr>
        <p:spPr>
          <a:xfrm>
            <a:off x="10083967" y="3150108"/>
            <a:ext cx="1188720" cy="164592"/>
          </a:xfrm>
          <a:prstGeom prst="rect">
            <a:avLst/>
          </a:prstGeom>
          <a:noFill/>
          <a:ln/>
        </p:spPr>
        <p:txBody>
          <a:bodyPr wrap="square" lIns="0" tIns="0" rIns="0" bIns="0" rtlCol="0" anchor="ctr"/>
          <a:lstStyle/>
          <a:p>
            <a:pPr marL="0" indent="0">
              <a:buNone/>
            </a:pPr>
            <a:r>
              <a:rPr lang="en-US" sz="850" dirty="0">
                <a:solidFill>
                  <a:srgbClr val="FFFFFF"/>
                </a:solidFill>
              </a:rPr>
              <a:t>presque égal</a:t>
            </a:r>
            <a:endParaRPr lang="en-US" sz="850" dirty="0"/>
          </a:p>
        </p:txBody>
      </p:sp>
      <p:sp>
        <p:nvSpPr>
          <p:cNvPr id="22" name="Text 20"/>
          <p:cNvSpPr/>
          <p:nvPr/>
        </p:nvSpPr>
        <p:spPr>
          <a:xfrm>
            <a:off x="6675120" y="3538728"/>
            <a:ext cx="1463040" cy="182880"/>
          </a:xfrm>
          <a:prstGeom prst="rect">
            <a:avLst/>
          </a:prstGeom>
          <a:noFill/>
          <a:ln/>
        </p:spPr>
        <p:txBody>
          <a:bodyPr wrap="square" lIns="0" tIns="0" rIns="0" bIns="0" rtlCol="0" anchor="ctr"/>
          <a:lstStyle/>
          <a:p>
            <a:pPr marL="0" indent="0">
              <a:buNone/>
            </a:pPr>
            <a:r>
              <a:rPr lang="en-US" sz="980" dirty="0">
                <a:solidFill>
                  <a:srgbClr val="CBD5E1"/>
                </a:solidFill>
              </a:rPr>
              <a:t>Boucles</a:t>
            </a:r>
            <a:endParaRPr lang="en-US" sz="980" dirty="0"/>
          </a:p>
        </p:txBody>
      </p:sp>
      <p:sp>
        <p:nvSpPr>
          <p:cNvPr id="23" name="Shape 21"/>
          <p:cNvSpPr/>
          <p:nvPr/>
        </p:nvSpPr>
        <p:spPr>
          <a:xfrm>
            <a:off x="8321040" y="3557016"/>
            <a:ext cx="946684" cy="201168"/>
          </a:xfrm>
          <a:prstGeom prst="roundRect">
            <a:avLst>
              <a:gd name="adj" fmla="val 22727"/>
            </a:avLst>
          </a:prstGeom>
          <a:solidFill>
            <a:srgbClr val="FFFFFF"/>
          </a:solidFill>
          <a:ln w="12700">
            <a:solidFill>
              <a:srgbClr val="FFFFFF"/>
            </a:solidFill>
            <a:prstDash val="solid"/>
          </a:ln>
        </p:spPr>
      </p:sp>
      <p:sp>
        <p:nvSpPr>
          <p:cNvPr id="24" name="Text 22"/>
          <p:cNvSpPr/>
          <p:nvPr/>
        </p:nvSpPr>
        <p:spPr>
          <a:xfrm>
            <a:off x="9331732" y="3534156"/>
            <a:ext cx="1188720" cy="164592"/>
          </a:xfrm>
          <a:prstGeom prst="rect">
            <a:avLst/>
          </a:prstGeom>
          <a:noFill/>
          <a:ln/>
        </p:spPr>
        <p:txBody>
          <a:bodyPr wrap="square" lIns="0" tIns="0" rIns="0" bIns="0" rtlCol="0" anchor="ctr"/>
          <a:lstStyle/>
          <a:p>
            <a:pPr marL="0" indent="0">
              <a:buNone/>
            </a:pPr>
            <a:r>
              <a:rPr lang="en-US" sz="850" dirty="0">
                <a:solidFill>
                  <a:srgbClr val="FFFFFF"/>
                </a:solidFill>
              </a:rPr>
              <a:t>boucles devant</a:t>
            </a:r>
            <a:endParaRPr lang="en-US" sz="850" dirty="0"/>
          </a:p>
        </p:txBody>
      </p:sp>
      <p:sp>
        <p:nvSpPr>
          <p:cNvPr id="25" name="Text 23"/>
          <p:cNvSpPr/>
          <p:nvPr/>
        </p:nvSpPr>
        <p:spPr>
          <a:xfrm>
            <a:off x="1051560" y="5650992"/>
            <a:ext cx="10058400" cy="256032"/>
          </a:xfrm>
          <a:prstGeom prst="rect">
            <a:avLst/>
          </a:prstGeom>
          <a:noFill/>
          <a:ln/>
        </p:spPr>
        <p:txBody>
          <a:bodyPr wrap="square" lIns="0" tIns="0" rIns="0" bIns="0" rtlCol="0" anchor="ctr"/>
          <a:lstStyle/>
          <a:p>
            <a:pPr marL="0" indent="0" algn="ctr">
              <a:buNone/>
            </a:pPr>
            <a:r>
              <a:rPr lang="en-US" sz="1300" b="1" dirty="0">
                <a:solidFill>
                  <a:srgbClr val="101827"/>
                </a:solidFill>
              </a:rPr>
              <a:t>Conclusion à dire : les deux versions donnent les mêmes résultats, mais l’Option B avec boucles est la plus performante dans ce protocole.</a:t>
            </a:r>
            <a:endParaRPr lang="en-US" sz="1300" dirty="0"/>
          </a:p>
        </p:txBody>
      </p:sp>
      <p:sp>
        <p:nvSpPr>
          <p:cNvPr id="26" name="Shape 24"/>
          <p:cNvSpPr/>
          <p:nvPr/>
        </p:nvSpPr>
        <p:spPr>
          <a:xfrm>
            <a:off x="640080" y="6291072"/>
            <a:ext cx="10881360" cy="0"/>
          </a:xfrm>
          <a:prstGeom prst="line">
            <a:avLst/>
          </a:prstGeom>
          <a:noFill/>
          <a:ln w="12700">
            <a:solidFill>
              <a:srgbClr val="E5E7EB"/>
            </a:solidFill>
            <a:prstDash val="solid"/>
          </a:ln>
        </p:spPr>
      </p:sp>
      <p:sp>
        <p:nvSpPr>
          <p:cNvPr id="27" name="Text 25"/>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28" name="Text 26"/>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VERSION RETENUE</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Pourquoi elle est meilleure</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Benchmark + exactitude + maîtrise.</a:t>
            </a:r>
            <a:endParaRPr lang="en-US" sz="1260" dirty="0"/>
          </a:p>
        </p:txBody>
      </p:sp>
      <p:sp>
        <p:nvSpPr>
          <p:cNvPr id="5" name="Shape 3"/>
          <p:cNvSpPr/>
          <p:nvPr/>
        </p:nvSpPr>
        <p:spPr>
          <a:xfrm>
            <a:off x="777240" y="1828800"/>
            <a:ext cx="4160520" cy="3657600"/>
          </a:xfrm>
          <a:prstGeom prst="roundRect">
            <a:avLst>
              <a:gd name="adj" fmla="val 2500"/>
            </a:avLst>
          </a:prstGeom>
          <a:solidFill>
            <a:srgbClr val="FFFFFF"/>
          </a:solidFill>
          <a:ln w="12700">
            <a:solidFill>
              <a:srgbClr val="E5E7EB"/>
            </a:solidFill>
            <a:prstDash val="solid"/>
          </a:ln>
        </p:spPr>
      </p:sp>
      <p:sp>
        <p:nvSpPr>
          <p:cNvPr id="6" name="Text 4"/>
          <p:cNvSpPr/>
          <p:nvPr/>
        </p:nvSpPr>
        <p:spPr>
          <a:xfrm>
            <a:off x="1097280" y="2148840"/>
            <a:ext cx="2926080" cy="256032"/>
          </a:xfrm>
          <a:prstGeom prst="rect">
            <a:avLst/>
          </a:prstGeom>
          <a:noFill/>
          <a:ln/>
        </p:spPr>
        <p:txBody>
          <a:bodyPr wrap="square" lIns="0" tIns="0" rIns="0" bIns="0" rtlCol="0" anchor="ctr"/>
          <a:lstStyle/>
          <a:p>
            <a:pPr marL="0" indent="0">
              <a:buNone/>
            </a:pPr>
            <a:r>
              <a:rPr lang="en-US" sz="1700" b="1" dirty="0">
                <a:solidFill>
                  <a:srgbClr val="101827"/>
                </a:solidFill>
              </a:rPr>
              <a:t>Arguments à défendre</a:t>
            </a:r>
            <a:endParaRPr lang="en-US" sz="1700" dirty="0"/>
          </a:p>
        </p:txBody>
      </p:sp>
      <p:sp>
        <p:nvSpPr>
          <p:cNvPr id="7" name="Shape 5"/>
          <p:cNvSpPr/>
          <p:nvPr/>
        </p:nvSpPr>
        <p:spPr>
          <a:xfrm>
            <a:off x="1097280" y="2770632"/>
            <a:ext cx="109728" cy="109728"/>
          </a:xfrm>
          <a:prstGeom prst="ellipse">
            <a:avLst/>
          </a:prstGeom>
          <a:solidFill>
            <a:srgbClr val="F97316"/>
          </a:solidFill>
          <a:ln w="12700">
            <a:solidFill>
              <a:srgbClr val="F97316"/>
            </a:solidFill>
            <a:prstDash val="solid"/>
          </a:ln>
        </p:spPr>
      </p:sp>
      <p:sp>
        <p:nvSpPr>
          <p:cNvPr id="8" name="Text 6"/>
          <p:cNvSpPr/>
          <p:nvPr/>
        </p:nvSpPr>
        <p:spPr>
          <a:xfrm>
            <a:off x="1298448" y="2697480"/>
            <a:ext cx="3182112" cy="219456"/>
          </a:xfrm>
          <a:prstGeom prst="rect">
            <a:avLst/>
          </a:prstGeom>
          <a:noFill/>
          <a:ln/>
        </p:spPr>
        <p:txBody>
          <a:bodyPr wrap="square" lIns="0" tIns="0" rIns="0" bIns="0" rtlCol="0" anchor="ctr">
            <a:normAutofit/>
          </a:bodyPr>
          <a:lstStyle/>
          <a:p>
            <a:pPr marL="0" indent="0">
              <a:buNone/>
            </a:pPr>
            <a:r>
              <a:rPr lang="en-US" sz="1350" dirty="0">
                <a:solidFill>
                  <a:srgbClr val="1F2937"/>
                </a:solidFill>
              </a:rPr>
              <a:t>meilleurs résultats au benchmark</a:t>
            </a:r>
            <a:endParaRPr lang="en-US" sz="1350" dirty="0"/>
          </a:p>
        </p:txBody>
      </p:sp>
      <p:sp>
        <p:nvSpPr>
          <p:cNvPr id="9" name="Shape 7"/>
          <p:cNvSpPr/>
          <p:nvPr/>
        </p:nvSpPr>
        <p:spPr>
          <a:xfrm>
            <a:off x="1097280" y="3209544"/>
            <a:ext cx="109728" cy="109728"/>
          </a:xfrm>
          <a:prstGeom prst="ellipse">
            <a:avLst/>
          </a:prstGeom>
          <a:solidFill>
            <a:srgbClr val="F97316"/>
          </a:solidFill>
          <a:ln w="12700">
            <a:solidFill>
              <a:srgbClr val="F97316"/>
            </a:solidFill>
            <a:prstDash val="solid"/>
          </a:ln>
        </p:spPr>
      </p:sp>
      <p:sp>
        <p:nvSpPr>
          <p:cNvPr id="10" name="Text 8"/>
          <p:cNvSpPr/>
          <p:nvPr/>
        </p:nvSpPr>
        <p:spPr>
          <a:xfrm>
            <a:off x="1298448" y="3136392"/>
            <a:ext cx="3182112" cy="219456"/>
          </a:xfrm>
          <a:prstGeom prst="rect">
            <a:avLst/>
          </a:prstGeom>
          <a:noFill/>
          <a:ln/>
        </p:spPr>
        <p:txBody>
          <a:bodyPr wrap="square" lIns="0" tIns="0" rIns="0" bIns="0" rtlCol="0" anchor="ctr">
            <a:normAutofit/>
          </a:bodyPr>
          <a:lstStyle/>
          <a:p>
            <a:pPr marL="0" indent="0">
              <a:buNone/>
            </a:pPr>
            <a:r>
              <a:rPr lang="en-US" sz="1350" dirty="0">
                <a:solidFill>
                  <a:srgbClr val="1F2937"/>
                </a:solidFill>
              </a:rPr>
              <a:t>sortie anticipée avec break</a:t>
            </a:r>
            <a:endParaRPr lang="en-US" sz="1350" dirty="0"/>
          </a:p>
        </p:txBody>
      </p:sp>
      <p:sp>
        <p:nvSpPr>
          <p:cNvPr id="11" name="Shape 9"/>
          <p:cNvSpPr/>
          <p:nvPr/>
        </p:nvSpPr>
        <p:spPr>
          <a:xfrm>
            <a:off x="1097280" y="3648456"/>
            <a:ext cx="109728" cy="109728"/>
          </a:xfrm>
          <a:prstGeom prst="ellipse">
            <a:avLst/>
          </a:prstGeom>
          <a:solidFill>
            <a:srgbClr val="F97316"/>
          </a:solidFill>
          <a:ln w="12700">
            <a:solidFill>
              <a:srgbClr val="F97316"/>
            </a:solidFill>
            <a:prstDash val="solid"/>
          </a:ln>
        </p:spPr>
      </p:sp>
      <p:sp>
        <p:nvSpPr>
          <p:cNvPr id="12" name="Text 10"/>
          <p:cNvSpPr/>
          <p:nvPr/>
        </p:nvSpPr>
        <p:spPr>
          <a:xfrm>
            <a:off x="1298448" y="3575304"/>
            <a:ext cx="3182112" cy="219456"/>
          </a:xfrm>
          <a:prstGeom prst="rect">
            <a:avLst/>
          </a:prstGeom>
          <a:noFill/>
          <a:ln/>
        </p:spPr>
        <p:txBody>
          <a:bodyPr wrap="square" lIns="0" tIns="0" rIns="0" bIns="0" rtlCol="0" anchor="ctr">
            <a:normAutofit/>
          </a:bodyPr>
          <a:lstStyle/>
          <a:p>
            <a:pPr marL="0" indent="0">
              <a:buNone/>
            </a:pPr>
            <a:r>
              <a:rPr lang="en-US" sz="1350" dirty="0">
                <a:solidFill>
                  <a:srgbClr val="1F2937"/>
                </a:solidFill>
              </a:rPr>
              <a:t>parcours mieux contrôlé</a:t>
            </a:r>
            <a:endParaRPr lang="en-US" sz="1350" dirty="0"/>
          </a:p>
        </p:txBody>
      </p:sp>
      <p:sp>
        <p:nvSpPr>
          <p:cNvPr id="13" name="Shape 11"/>
          <p:cNvSpPr/>
          <p:nvPr/>
        </p:nvSpPr>
        <p:spPr>
          <a:xfrm>
            <a:off x="1097280" y="4087368"/>
            <a:ext cx="109728" cy="109728"/>
          </a:xfrm>
          <a:prstGeom prst="ellipse">
            <a:avLst/>
          </a:prstGeom>
          <a:solidFill>
            <a:srgbClr val="F97316"/>
          </a:solidFill>
          <a:ln w="12700">
            <a:solidFill>
              <a:srgbClr val="F97316"/>
            </a:solidFill>
            <a:prstDash val="solid"/>
          </a:ln>
        </p:spPr>
      </p:sp>
      <p:sp>
        <p:nvSpPr>
          <p:cNvPr id="14" name="Text 12"/>
          <p:cNvSpPr/>
          <p:nvPr/>
        </p:nvSpPr>
        <p:spPr>
          <a:xfrm>
            <a:off x="1298448" y="4014216"/>
            <a:ext cx="3182112" cy="219456"/>
          </a:xfrm>
          <a:prstGeom prst="rect">
            <a:avLst/>
          </a:prstGeom>
          <a:noFill/>
          <a:ln/>
        </p:spPr>
        <p:txBody>
          <a:bodyPr wrap="square" lIns="0" tIns="0" rIns="0" bIns="0" rtlCol="0" anchor="ctr">
            <a:normAutofit/>
          </a:bodyPr>
          <a:lstStyle/>
          <a:p>
            <a:pPr marL="0" indent="0">
              <a:buNone/>
            </a:pPr>
            <a:r>
              <a:rPr lang="en-US" sz="1350" dirty="0">
                <a:solidFill>
                  <a:srgbClr val="1F2937"/>
                </a:solidFill>
              </a:rPr>
              <a:t>résultats identiques vérifiés</a:t>
            </a:r>
            <a:endParaRPr lang="en-US" sz="1350" dirty="0"/>
          </a:p>
        </p:txBody>
      </p:sp>
      <p:sp>
        <p:nvSpPr>
          <p:cNvPr id="15" name="Shape 13"/>
          <p:cNvSpPr/>
          <p:nvPr/>
        </p:nvSpPr>
        <p:spPr>
          <a:xfrm>
            <a:off x="1097280" y="4956048"/>
            <a:ext cx="3200400" cy="310896"/>
          </a:xfrm>
          <a:prstGeom prst="roundRect">
            <a:avLst>
              <a:gd name="adj" fmla="val 17647"/>
            </a:avLst>
          </a:prstGeom>
          <a:solidFill>
            <a:srgbClr val="FFF7ED"/>
          </a:solidFill>
          <a:ln w="12700">
            <a:solidFill>
              <a:srgbClr val="FFF7ED"/>
            </a:solidFill>
            <a:prstDash val="solid"/>
          </a:ln>
        </p:spPr>
      </p:sp>
      <p:sp>
        <p:nvSpPr>
          <p:cNvPr id="16" name="Text 14"/>
          <p:cNvSpPr/>
          <p:nvPr/>
        </p:nvSpPr>
        <p:spPr>
          <a:xfrm>
            <a:off x="1170432" y="5020056"/>
            <a:ext cx="3054096" cy="146304"/>
          </a:xfrm>
          <a:prstGeom prst="rect">
            <a:avLst/>
          </a:prstGeom>
          <a:noFill/>
          <a:ln/>
        </p:spPr>
        <p:txBody>
          <a:bodyPr wrap="square" lIns="0" tIns="0" rIns="0" bIns="0" rtlCol="0" anchor="ctr"/>
          <a:lstStyle/>
          <a:p>
            <a:pPr marL="0" indent="0" algn="ctr">
              <a:buNone/>
            </a:pPr>
            <a:r>
              <a:rPr lang="en-US" sz="850" b="1" dirty="0">
                <a:solidFill>
                  <a:srgbClr val="F97316"/>
                </a:solidFill>
              </a:rPr>
              <a:t>performance + exactitude + maîtrise</a:t>
            </a:r>
            <a:endParaRPr lang="en-US" sz="850" dirty="0"/>
          </a:p>
        </p:txBody>
      </p:sp>
      <p:sp>
        <p:nvSpPr>
          <p:cNvPr id="17" name="Shape 15"/>
          <p:cNvSpPr/>
          <p:nvPr/>
        </p:nvSpPr>
        <p:spPr>
          <a:xfrm>
            <a:off x="5349240" y="1600200"/>
            <a:ext cx="6080760" cy="4343400"/>
          </a:xfrm>
          <a:prstGeom prst="roundRect">
            <a:avLst>
              <a:gd name="adj" fmla="val 2105"/>
            </a:avLst>
          </a:prstGeom>
          <a:solidFill>
            <a:srgbClr val="101827"/>
          </a:solidFill>
          <a:ln w="12700">
            <a:solidFill>
              <a:srgbClr val="101827"/>
            </a:solidFill>
            <a:prstDash val="solid"/>
          </a:ln>
        </p:spPr>
      </p:sp>
      <p:sp>
        <p:nvSpPr>
          <p:cNvPr id="18" name="Text 16"/>
          <p:cNvSpPr/>
          <p:nvPr/>
        </p:nvSpPr>
        <p:spPr>
          <a:xfrm>
            <a:off x="5669280" y="1901952"/>
            <a:ext cx="2103120" cy="210312"/>
          </a:xfrm>
          <a:prstGeom prst="rect">
            <a:avLst/>
          </a:prstGeom>
          <a:noFill/>
          <a:ln/>
        </p:spPr>
        <p:txBody>
          <a:bodyPr wrap="square" lIns="0" tIns="0" rIns="0" bIns="0" rtlCol="0" anchor="ctr"/>
          <a:lstStyle/>
          <a:p>
            <a:pPr marL="0" indent="0">
              <a:buNone/>
            </a:pPr>
            <a:r>
              <a:rPr lang="en-US" sz="1120" b="1" dirty="0">
                <a:solidFill>
                  <a:srgbClr val="FACC15"/>
                </a:solidFill>
              </a:rPr>
              <a:t>mainSearchLoop.js</a:t>
            </a:r>
            <a:endParaRPr lang="en-US" sz="1120" dirty="0"/>
          </a:p>
        </p:txBody>
      </p:sp>
      <p:sp>
        <p:nvSpPr>
          <p:cNvPr id="19" name="Text 17"/>
          <p:cNvSpPr/>
          <p:nvPr/>
        </p:nvSpPr>
        <p:spPr>
          <a:xfrm>
            <a:off x="5669280" y="2286000"/>
            <a:ext cx="5440680" cy="3017520"/>
          </a:xfrm>
          <a:prstGeom prst="rect">
            <a:avLst/>
          </a:prstGeom>
          <a:noFill/>
          <a:ln/>
        </p:spPr>
        <p:txBody>
          <a:bodyPr wrap="square" lIns="1016" tIns="1016" rIns="1016" bIns="1016" rtlCol="0" anchor="ctr">
            <a:normAutofit/>
          </a:bodyPr>
          <a:lstStyle/>
          <a:p>
            <a:pPr marL="0" indent="0">
              <a:buNone/>
            </a:pPr>
            <a:r>
              <a:rPr lang="en-US" sz="1120" dirty="0">
                <a:solidFill>
                  <a:srgbClr val="FFFFFF"/>
                </a:solidFill>
                <a:latin typeface="Aptos Mono" pitchFamily="34" charset="0"/>
                <a:ea typeface="Aptos Mono" pitchFamily="34" charset="-122"/>
                <a:cs typeface="Aptos Mono" pitchFamily="34" charset="-120"/>
              </a:rPr>
              <a:t>for (const recipe of recipes) {</a:t>
            </a:r>
            <a:endParaRPr lang="en-US" sz="1120" dirty="0"/>
          </a:p>
          <a:p>
            <a:pPr marL="0" indent="0">
              <a:buNone/>
            </a:pPr>
            <a:r>
              <a:rPr lang="en-US" sz="1120" dirty="0">
                <a:solidFill>
                  <a:srgbClr val="FFFFFF"/>
                </a:solidFill>
                <a:latin typeface="Aptos Mono" pitchFamily="34" charset="0"/>
                <a:ea typeface="Aptos Mono" pitchFamily="34" charset="-122"/>
                <a:cs typeface="Aptos Mono" pitchFamily="34" charset="-120"/>
              </a:rPr>
              <a:t>  let found = nameMatch(recipe)</a:t>
            </a:r>
            <a:endParaRPr lang="en-US" sz="1120" dirty="0"/>
          </a:p>
          <a:p>
            <a:pPr marL="0" indent="0">
              <a:buNone/>
            </a:pPr>
            <a:r>
              <a:rPr lang="en-US" sz="1120" dirty="0">
                <a:solidFill>
                  <a:srgbClr val="FFFFFF"/>
                </a:solidFill>
                <a:latin typeface="Aptos Mono" pitchFamily="34" charset="0"/>
                <a:ea typeface="Aptos Mono" pitchFamily="34" charset="-122"/>
                <a:cs typeface="Aptos Mono" pitchFamily="34" charset="-120"/>
              </a:rPr>
              <a:t>    || descriptionMatch(recipe);</a:t>
            </a:r>
            <a:endParaRPr lang="en-US" sz="1120" dirty="0"/>
          </a:p>
          <a:p>
            <a:pPr marL="0" indent="0">
              <a:buNone/>
            </a:pPr>
            <a:endParaRPr lang="en-US" sz="1120" dirty="0"/>
          </a:p>
          <a:p>
            <a:pPr marL="0" indent="0">
              <a:buNone/>
            </a:pPr>
            <a:r>
              <a:rPr lang="en-US" sz="1120" dirty="0">
                <a:solidFill>
                  <a:srgbClr val="FFFFFF"/>
                </a:solidFill>
                <a:latin typeface="Aptos Mono" pitchFamily="34" charset="0"/>
                <a:ea typeface="Aptos Mono" pitchFamily="34" charset="-122"/>
                <a:cs typeface="Aptos Mono" pitchFamily="34" charset="-120"/>
              </a:rPr>
              <a:t>  for (let i = 0; !found</a:t>
            </a:r>
            <a:endParaRPr lang="en-US" sz="1120" dirty="0"/>
          </a:p>
          <a:p>
            <a:pPr marL="0" indent="0">
              <a:buNone/>
            </a:pPr>
            <a:r>
              <a:rPr lang="en-US" sz="1120" dirty="0">
                <a:solidFill>
                  <a:srgbClr val="FFFFFF"/>
                </a:solidFill>
                <a:latin typeface="Aptos Mono" pitchFamily="34" charset="0"/>
                <a:ea typeface="Aptos Mono" pitchFamily="34" charset="-122"/>
                <a:cs typeface="Aptos Mono" pitchFamily="34" charset="-120"/>
              </a:rPr>
              <a:t>    &amp;&amp; i &lt; recipe.ingredients.length; i++) {</a:t>
            </a:r>
            <a:endParaRPr lang="en-US" sz="1120" dirty="0"/>
          </a:p>
          <a:p>
            <a:pPr marL="0" indent="0">
              <a:buNone/>
            </a:pPr>
            <a:r>
              <a:rPr lang="en-US" sz="1120" dirty="0">
                <a:solidFill>
                  <a:srgbClr val="FFFFFF"/>
                </a:solidFill>
                <a:latin typeface="Aptos Mono" pitchFamily="34" charset="0"/>
                <a:ea typeface="Aptos Mono" pitchFamily="34" charset="-122"/>
                <a:cs typeface="Aptos Mono" pitchFamily="34" charset="-120"/>
              </a:rPr>
              <a:t>    found = ingredientMatch(recipe.ingredients[i]);</a:t>
            </a:r>
            <a:endParaRPr lang="en-US" sz="1120" dirty="0"/>
          </a:p>
          <a:p>
            <a:pPr marL="0" indent="0">
              <a:buNone/>
            </a:pPr>
            <a:r>
              <a:rPr lang="en-US" sz="1120" dirty="0">
                <a:solidFill>
                  <a:srgbClr val="FFFFFF"/>
                </a:solidFill>
                <a:latin typeface="Aptos Mono" pitchFamily="34" charset="0"/>
                <a:ea typeface="Aptos Mono" pitchFamily="34" charset="-122"/>
                <a:cs typeface="Aptos Mono" pitchFamily="34" charset="-120"/>
              </a:rPr>
              <a:t>  }</a:t>
            </a:r>
            <a:endParaRPr lang="en-US" sz="1120" dirty="0"/>
          </a:p>
          <a:p>
            <a:pPr marL="0" indent="0">
              <a:buNone/>
            </a:pPr>
            <a:endParaRPr lang="en-US" sz="1120" dirty="0"/>
          </a:p>
          <a:p>
            <a:pPr marL="0" indent="0">
              <a:buNone/>
            </a:pPr>
            <a:r>
              <a:rPr lang="en-US" sz="1120" dirty="0">
                <a:solidFill>
                  <a:srgbClr val="FFFFFF"/>
                </a:solidFill>
                <a:latin typeface="Aptos Mono" pitchFamily="34" charset="0"/>
                <a:ea typeface="Aptos Mono" pitchFamily="34" charset="-122"/>
                <a:cs typeface="Aptos Mono" pitchFamily="34" charset="-120"/>
              </a:rPr>
              <a:t>  if (found) results.push(recipe);</a:t>
            </a:r>
            <a:endParaRPr lang="en-US" sz="1120" dirty="0"/>
          </a:p>
          <a:p>
            <a:pPr marL="0" indent="0">
              <a:buNone/>
            </a:pPr>
            <a:r>
              <a:rPr lang="en-US" sz="1120" dirty="0">
                <a:solidFill>
                  <a:srgbClr val="FFFFFF"/>
                </a:solidFill>
                <a:latin typeface="Aptos Mono" pitchFamily="34" charset="0"/>
                <a:ea typeface="Aptos Mono" pitchFamily="34" charset="-122"/>
                <a:cs typeface="Aptos Mono" pitchFamily="34" charset="-120"/>
              </a:rPr>
              <a:t>}</a:t>
            </a:r>
            <a:endParaRPr lang="en-US" sz="1120" dirty="0"/>
          </a:p>
        </p:txBody>
      </p:sp>
      <p:sp>
        <p:nvSpPr>
          <p:cNvPr id="20" name="Shape 18"/>
          <p:cNvSpPr/>
          <p:nvPr/>
        </p:nvSpPr>
        <p:spPr>
          <a:xfrm>
            <a:off x="640080" y="6291072"/>
            <a:ext cx="10881360" cy="0"/>
          </a:xfrm>
          <a:prstGeom prst="line">
            <a:avLst/>
          </a:prstGeom>
          <a:noFill/>
          <a:ln w="12700">
            <a:solidFill>
              <a:srgbClr val="E5E7EB"/>
            </a:solidFill>
            <a:prstDash val="solid"/>
          </a:ln>
        </p:spPr>
      </p:sp>
      <p:sp>
        <p:nvSpPr>
          <p:cNvPr id="21" name="Text 19"/>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22" name="Text 20"/>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DÉMONSTRATION • 10 À 15 MIN</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Scénario de démo live</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Démo courte, guidée, sans se perdre.</a:t>
            </a:r>
            <a:endParaRPr lang="en-US" sz="1260" dirty="0"/>
          </a:p>
        </p:txBody>
      </p:sp>
      <p:sp>
        <p:nvSpPr>
          <p:cNvPr id="5" name="Shape 3"/>
          <p:cNvSpPr/>
          <p:nvPr/>
        </p:nvSpPr>
        <p:spPr>
          <a:xfrm>
            <a:off x="731520" y="1828800"/>
            <a:ext cx="3749040" cy="3977640"/>
          </a:xfrm>
          <a:prstGeom prst="roundRect">
            <a:avLst>
              <a:gd name="adj" fmla="val 2439"/>
            </a:avLst>
          </a:prstGeom>
          <a:solidFill>
            <a:srgbClr val="FFFFFF"/>
          </a:solidFill>
          <a:ln w="12700">
            <a:solidFill>
              <a:srgbClr val="E5E7EB"/>
            </a:solidFill>
            <a:prstDash val="solid"/>
          </a:ln>
        </p:spPr>
      </p:sp>
      <p:sp>
        <p:nvSpPr>
          <p:cNvPr id="6" name="Text 4"/>
          <p:cNvSpPr/>
          <p:nvPr/>
        </p:nvSpPr>
        <p:spPr>
          <a:xfrm>
            <a:off x="1051560" y="2148840"/>
            <a:ext cx="2926080" cy="228600"/>
          </a:xfrm>
          <a:prstGeom prst="rect">
            <a:avLst/>
          </a:prstGeom>
          <a:noFill/>
          <a:ln/>
        </p:spPr>
        <p:txBody>
          <a:bodyPr wrap="square" lIns="0" tIns="0" rIns="0" bIns="0" rtlCol="0" anchor="ctr"/>
          <a:lstStyle/>
          <a:p>
            <a:pPr marL="0" indent="0">
              <a:buNone/>
            </a:pPr>
            <a:r>
              <a:rPr lang="en-US" sz="1620" b="1" dirty="0">
                <a:solidFill>
                  <a:srgbClr val="101827"/>
                </a:solidFill>
              </a:rPr>
              <a:t>À montrer dans l’application</a:t>
            </a:r>
            <a:endParaRPr lang="en-US" sz="1620" dirty="0"/>
          </a:p>
        </p:txBody>
      </p:sp>
      <p:sp>
        <p:nvSpPr>
          <p:cNvPr id="7" name="Shape 5"/>
          <p:cNvSpPr/>
          <p:nvPr/>
        </p:nvSpPr>
        <p:spPr>
          <a:xfrm>
            <a:off x="1051560" y="2697480"/>
            <a:ext cx="420624" cy="420624"/>
          </a:xfrm>
          <a:prstGeom prst="ellipse">
            <a:avLst/>
          </a:prstGeom>
          <a:solidFill>
            <a:srgbClr val="101827"/>
          </a:solidFill>
          <a:ln w="12700">
            <a:solidFill>
              <a:srgbClr val="101827"/>
            </a:solidFill>
            <a:prstDash val="solid"/>
          </a:ln>
        </p:spPr>
      </p:sp>
      <p:sp>
        <p:nvSpPr>
          <p:cNvPr id="8" name="Text 6"/>
          <p:cNvSpPr/>
          <p:nvPr/>
        </p:nvSpPr>
        <p:spPr>
          <a:xfrm>
            <a:off x="1051560" y="2798064"/>
            <a:ext cx="420624" cy="164592"/>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1600200" y="2715768"/>
            <a:ext cx="2286000" cy="228600"/>
          </a:xfrm>
          <a:prstGeom prst="rect">
            <a:avLst/>
          </a:prstGeom>
          <a:noFill/>
          <a:ln/>
        </p:spPr>
        <p:txBody>
          <a:bodyPr wrap="square" lIns="0" tIns="0" rIns="0" bIns="0" rtlCol="0" anchor="ctr"/>
          <a:lstStyle/>
          <a:p>
            <a:pPr marL="0" indent="0">
              <a:buNone/>
            </a:pPr>
            <a:r>
              <a:rPr lang="en-US" sz="1250" b="1" dirty="0">
                <a:solidFill>
                  <a:srgbClr val="101827"/>
                </a:solidFill>
              </a:rPr>
              <a:t>Recherche simple</a:t>
            </a:r>
            <a:endParaRPr lang="en-US" sz="1250" dirty="0"/>
          </a:p>
        </p:txBody>
      </p:sp>
      <p:sp>
        <p:nvSpPr>
          <p:cNvPr id="10" name="Text 8"/>
          <p:cNvSpPr/>
          <p:nvPr/>
        </p:nvSpPr>
        <p:spPr>
          <a:xfrm>
            <a:off x="1600200" y="2990088"/>
            <a:ext cx="2286000" cy="548640"/>
          </a:xfrm>
          <a:prstGeom prst="rect">
            <a:avLst/>
          </a:prstGeom>
          <a:noFill/>
          <a:ln/>
        </p:spPr>
        <p:txBody>
          <a:bodyPr wrap="square" lIns="0" tIns="0" rIns="0" bIns="0" rtlCol="0" anchor="ctr">
            <a:normAutofit/>
          </a:bodyPr>
          <a:lstStyle/>
          <a:p>
            <a:pPr marL="0" indent="0">
              <a:buNone/>
            </a:pPr>
            <a:r>
              <a:rPr lang="en-US" sz="950" dirty="0">
                <a:solidFill>
                  <a:srgbClr val="6B7280"/>
                </a:solidFill>
              </a:rPr>
              <a:t>taper “poulet” ou “coco”</a:t>
            </a:r>
            <a:endParaRPr lang="en-US" sz="950" dirty="0"/>
          </a:p>
        </p:txBody>
      </p:sp>
      <p:sp>
        <p:nvSpPr>
          <p:cNvPr id="11" name="Shape 9"/>
          <p:cNvSpPr/>
          <p:nvPr/>
        </p:nvSpPr>
        <p:spPr>
          <a:xfrm>
            <a:off x="1051560" y="3429000"/>
            <a:ext cx="420624" cy="420624"/>
          </a:xfrm>
          <a:prstGeom prst="ellipse">
            <a:avLst/>
          </a:prstGeom>
          <a:solidFill>
            <a:srgbClr val="101827"/>
          </a:solidFill>
          <a:ln w="12700">
            <a:solidFill>
              <a:srgbClr val="101827"/>
            </a:solidFill>
            <a:prstDash val="solid"/>
          </a:ln>
        </p:spPr>
      </p:sp>
      <p:sp>
        <p:nvSpPr>
          <p:cNvPr id="12" name="Text 10"/>
          <p:cNvSpPr/>
          <p:nvPr/>
        </p:nvSpPr>
        <p:spPr>
          <a:xfrm>
            <a:off x="1051560" y="3529584"/>
            <a:ext cx="420624" cy="164592"/>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3" name="Text 11"/>
          <p:cNvSpPr/>
          <p:nvPr/>
        </p:nvSpPr>
        <p:spPr>
          <a:xfrm>
            <a:off x="1600200" y="3447288"/>
            <a:ext cx="2286000" cy="228600"/>
          </a:xfrm>
          <a:prstGeom prst="rect">
            <a:avLst/>
          </a:prstGeom>
          <a:noFill/>
          <a:ln/>
        </p:spPr>
        <p:txBody>
          <a:bodyPr wrap="square" lIns="0" tIns="0" rIns="0" bIns="0" rtlCol="0" anchor="ctr"/>
          <a:lstStyle/>
          <a:p>
            <a:pPr marL="0" indent="0">
              <a:buNone/>
            </a:pPr>
            <a:r>
              <a:rPr lang="en-US" sz="1250" b="1" dirty="0">
                <a:solidFill>
                  <a:srgbClr val="101827"/>
                </a:solidFill>
              </a:rPr>
              <a:t>Ajout d’un tag</a:t>
            </a:r>
            <a:endParaRPr lang="en-US" sz="1250" dirty="0"/>
          </a:p>
        </p:txBody>
      </p:sp>
      <p:sp>
        <p:nvSpPr>
          <p:cNvPr id="14" name="Text 12"/>
          <p:cNvSpPr/>
          <p:nvPr/>
        </p:nvSpPr>
        <p:spPr>
          <a:xfrm>
            <a:off x="1600200" y="3721608"/>
            <a:ext cx="2286000" cy="548640"/>
          </a:xfrm>
          <a:prstGeom prst="rect">
            <a:avLst/>
          </a:prstGeom>
          <a:noFill/>
          <a:ln/>
        </p:spPr>
        <p:txBody>
          <a:bodyPr wrap="square" lIns="0" tIns="0" rIns="0" bIns="0" rtlCol="0" anchor="ctr">
            <a:normAutofit/>
          </a:bodyPr>
          <a:lstStyle/>
          <a:p>
            <a:pPr marL="0" indent="0">
              <a:buNone/>
            </a:pPr>
            <a:r>
              <a:rPr lang="en-US" sz="950" dirty="0">
                <a:solidFill>
                  <a:srgbClr val="6B7280"/>
                </a:solidFill>
              </a:rPr>
              <a:t>ingrédient puis appareil</a:t>
            </a:r>
            <a:endParaRPr lang="en-US" sz="950" dirty="0"/>
          </a:p>
        </p:txBody>
      </p:sp>
      <p:sp>
        <p:nvSpPr>
          <p:cNvPr id="15" name="Shape 13"/>
          <p:cNvSpPr/>
          <p:nvPr/>
        </p:nvSpPr>
        <p:spPr>
          <a:xfrm>
            <a:off x="1051560" y="4160520"/>
            <a:ext cx="420624" cy="420624"/>
          </a:xfrm>
          <a:prstGeom prst="ellipse">
            <a:avLst/>
          </a:prstGeom>
          <a:solidFill>
            <a:srgbClr val="101827"/>
          </a:solidFill>
          <a:ln w="12700">
            <a:solidFill>
              <a:srgbClr val="101827"/>
            </a:solidFill>
            <a:prstDash val="solid"/>
          </a:ln>
        </p:spPr>
      </p:sp>
      <p:sp>
        <p:nvSpPr>
          <p:cNvPr id="16" name="Text 14"/>
          <p:cNvSpPr/>
          <p:nvPr/>
        </p:nvSpPr>
        <p:spPr>
          <a:xfrm>
            <a:off x="1051560" y="4261104"/>
            <a:ext cx="420624" cy="164592"/>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7" name="Text 15"/>
          <p:cNvSpPr/>
          <p:nvPr/>
        </p:nvSpPr>
        <p:spPr>
          <a:xfrm>
            <a:off x="1600200" y="4178808"/>
            <a:ext cx="2286000" cy="228600"/>
          </a:xfrm>
          <a:prstGeom prst="rect">
            <a:avLst/>
          </a:prstGeom>
          <a:noFill/>
          <a:ln/>
        </p:spPr>
        <p:txBody>
          <a:bodyPr wrap="square" lIns="0" tIns="0" rIns="0" bIns="0" rtlCol="0" anchor="ctr"/>
          <a:lstStyle/>
          <a:p>
            <a:pPr marL="0" indent="0">
              <a:buNone/>
            </a:pPr>
            <a:r>
              <a:rPr lang="en-US" sz="1250" b="1" dirty="0">
                <a:solidFill>
                  <a:srgbClr val="101827"/>
                </a:solidFill>
              </a:rPr>
              <a:t>Retrait du tag</a:t>
            </a:r>
            <a:endParaRPr lang="en-US" sz="1250" dirty="0"/>
          </a:p>
        </p:txBody>
      </p:sp>
      <p:sp>
        <p:nvSpPr>
          <p:cNvPr id="18" name="Text 16"/>
          <p:cNvSpPr/>
          <p:nvPr/>
        </p:nvSpPr>
        <p:spPr>
          <a:xfrm>
            <a:off x="1600200" y="4453128"/>
            <a:ext cx="2286000" cy="548640"/>
          </a:xfrm>
          <a:prstGeom prst="rect">
            <a:avLst/>
          </a:prstGeom>
          <a:noFill/>
          <a:ln/>
        </p:spPr>
        <p:txBody>
          <a:bodyPr wrap="square" lIns="0" tIns="0" rIns="0" bIns="0" rtlCol="0" anchor="ctr">
            <a:normAutofit/>
          </a:bodyPr>
          <a:lstStyle/>
          <a:p>
            <a:pPr marL="0" indent="0">
              <a:buNone/>
            </a:pPr>
            <a:r>
              <a:rPr lang="en-US" sz="950" dirty="0">
                <a:solidFill>
                  <a:srgbClr val="6B7280"/>
                </a:solidFill>
              </a:rPr>
              <a:t>résultats cohérents</a:t>
            </a:r>
            <a:endParaRPr lang="en-US" sz="950" dirty="0"/>
          </a:p>
        </p:txBody>
      </p:sp>
      <p:sp>
        <p:nvSpPr>
          <p:cNvPr id="19" name="Shape 17"/>
          <p:cNvSpPr/>
          <p:nvPr/>
        </p:nvSpPr>
        <p:spPr>
          <a:xfrm>
            <a:off x="1051560" y="4892040"/>
            <a:ext cx="420624" cy="420624"/>
          </a:xfrm>
          <a:prstGeom prst="ellipse">
            <a:avLst/>
          </a:prstGeom>
          <a:solidFill>
            <a:srgbClr val="101827"/>
          </a:solidFill>
          <a:ln w="12700">
            <a:solidFill>
              <a:srgbClr val="101827"/>
            </a:solidFill>
            <a:prstDash val="solid"/>
          </a:ln>
        </p:spPr>
      </p:sp>
      <p:sp>
        <p:nvSpPr>
          <p:cNvPr id="20" name="Text 18"/>
          <p:cNvSpPr/>
          <p:nvPr/>
        </p:nvSpPr>
        <p:spPr>
          <a:xfrm>
            <a:off x="1051560" y="4992624"/>
            <a:ext cx="420624" cy="164592"/>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21" name="Text 19"/>
          <p:cNvSpPr/>
          <p:nvPr/>
        </p:nvSpPr>
        <p:spPr>
          <a:xfrm>
            <a:off x="1600200" y="4910328"/>
            <a:ext cx="2286000" cy="228600"/>
          </a:xfrm>
          <a:prstGeom prst="rect">
            <a:avLst/>
          </a:prstGeom>
          <a:noFill/>
          <a:ln/>
        </p:spPr>
        <p:txBody>
          <a:bodyPr wrap="square" lIns="0" tIns="0" rIns="0" bIns="0" rtlCol="0" anchor="ctr"/>
          <a:lstStyle/>
          <a:p>
            <a:pPr marL="0" indent="0">
              <a:buNone/>
            </a:pPr>
            <a:r>
              <a:rPr lang="en-US" sz="1250" b="1" dirty="0">
                <a:solidFill>
                  <a:srgbClr val="101827"/>
                </a:solidFill>
              </a:rPr>
              <a:t>Retour initial</a:t>
            </a:r>
            <a:endParaRPr lang="en-US" sz="1250" dirty="0"/>
          </a:p>
        </p:txBody>
      </p:sp>
      <p:sp>
        <p:nvSpPr>
          <p:cNvPr id="22" name="Text 20"/>
          <p:cNvSpPr/>
          <p:nvPr/>
        </p:nvSpPr>
        <p:spPr>
          <a:xfrm>
            <a:off x="1600200" y="5184648"/>
            <a:ext cx="2286000" cy="548640"/>
          </a:xfrm>
          <a:prstGeom prst="rect">
            <a:avLst/>
          </a:prstGeom>
          <a:noFill/>
          <a:ln/>
        </p:spPr>
        <p:txBody>
          <a:bodyPr wrap="square" lIns="0" tIns="0" rIns="0" bIns="0" rtlCol="0" anchor="ctr">
            <a:normAutofit/>
          </a:bodyPr>
          <a:lstStyle/>
          <a:p>
            <a:pPr marL="0" indent="0">
              <a:buNone/>
            </a:pPr>
            <a:r>
              <a:rPr lang="en-US" sz="950" dirty="0">
                <a:solidFill>
                  <a:srgbClr val="6B7280"/>
                </a:solidFill>
              </a:rPr>
              <a:t>vider la recherche</a:t>
            </a:r>
            <a:endParaRPr lang="en-US" sz="950" dirty="0"/>
          </a:p>
        </p:txBody>
      </p:sp>
      <p:sp>
        <p:nvSpPr>
          <p:cNvPr id="23" name="Shape 21"/>
          <p:cNvSpPr/>
          <p:nvPr/>
        </p:nvSpPr>
        <p:spPr>
          <a:xfrm>
            <a:off x="5029200" y="1554480"/>
            <a:ext cx="6355080" cy="4498848"/>
          </a:xfrm>
          <a:prstGeom prst="roundRect">
            <a:avLst>
              <a:gd name="adj" fmla="val 2033"/>
            </a:avLst>
          </a:prstGeom>
          <a:solidFill>
            <a:srgbClr val="FFFFFF"/>
          </a:solidFill>
          <a:ln w="12700">
            <a:solidFill>
              <a:srgbClr val="E5E7EB"/>
            </a:solidFill>
            <a:prstDash val="solid"/>
          </a:ln>
        </p:spPr>
      </p:sp>
      <p:pic>
        <p:nvPicPr>
          <p:cNvPr id="24" name="Image 0" descr="/mnt/data/cropped_recipes/Recette10_wide.jpg"/>
          <p:cNvPicPr>
            <a:picLocks noChangeAspect="1"/>
          </p:cNvPicPr>
          <p:nvPr/>
        </p:nvPicPr>
        <p:blipFill>
          <a:blip r:embed="rId3"/>
          <a:srcRect t="28639" b="28639"/>
          <a:stretch/>
        </p:blipFill>
        <p:spPr>
          <a:xfrm>
            <a:off x="5257800" y="1810512"/>
            <a:ext cx="5897880" cy="1417320"/>
          </a:xfrm>
          <a:prstGeom prst="rect">
            <a:avLst/>
          </a:prstGeom>
        </p:spPr>
      </p:pic>
      <p:sp>
        <p:nvSpPr>
          <p:cNvPr id="25" name="Shape 22"/>
          <p:cNvSpPr/>
          <p:nvPr/>
        </p:nvSpPr>
        <p:spPr>
          <a:xfrm>
            <a:off x="5486400" y="2331720"/>
            <a:ext cx="5440680" cy="502920"/>
          </a:xfrm>
          <a:prstGeom prst="roundRect">
            <a:avLst>
              <a:gd name="adj" fmla="val 18182"/>
            </a:avLst>
          </a:prstGeom>
          <a:solidFill>
            <a:srgbClr val="FFFFFF"/>
          </a:solidFill>
          <a:ln w="12700">
            <a:solidFill>
              <a:srgbClr val="FFFFFF"/>
            </a:solidFill>
            <a:prstDash val="solid"/>
          </a:ln>
        </p:spPr>
      </p:sp>
      <p:sp>
        <p:nvSpPr>
          <p:cNvPr id="26" name="Text 23"/>
          <p:cNvSpPr/>
          <p:nvPr/>
        </p:nvSpPr>
        <p:spPr>
          <a:xfrm>
            <a:off x="5806440" y="2514600"/>
            <a:ext cx="3200400" cy="146304"/>
          </a:xfrm>
          <a:prstGeom prst="rect">
            <a:avLst/>
          </a:prstGeom>
          <a:noFill/>
          <a:ln/>
        </p:spPr>
        <p:txBody>
          <a:bodyPr wrap="square" lIns="0" tIns="0" rIns="0" bIns="0" rtlCol="0" anchor="ctr"/>
          <a:lstStyle/>
          <a:p>
            <a:pPr marL="0" indent="0">
              <a:buNone/>
            </a:pPr>
            <a:r>
              <a:rPr lang="en-US" sz="900" dirty="0">
                <a:solidFill>
                  <a:srgbClr val="6B7280"/>
                </a:solidFill>
              </a:rPr>
              <a:t>Rechercher une recette, un ingrédient…</a:t>
            </a:r>
            <a:endParaRPr lang="en-US" sz="900" dirty="0"/>
          </a:p>
        </p:txBody>
      </p:sp>
      <p:sp>
        <p:nvSpPr>
          <p:cNvPr id="27" name="Shape 24"/>
          <p:cNvSpPr/>
          <p:nvPr/>
        </p:nvSpPr>
        <p:spPr>
          <a:xfrm>
            <a:off x="10469880" y="2404872"/>
            <a:ext cx="301752" cy="301752"/>
          </a:xfrm>
          <a:prstGeom prst="ellipse">
            <a:avLst/>
          </a:prstGeom>
          <a:solidFill>
            <a:srgbClr val="101827"/>
          </a:solidFill>
          <a:ln w="12700">
            <a:solidFill>
              <a:srgbClr val="101827"/>
            </a:solidFill>
            <a:prstDash val="solid"/>
          </a:ln>
        </p:spPr>
      </p:sp>
      <p:sp>
        <p:nvSpPr>
          <p:cNvPr id="28" name="Shape 25"/>
          <p:cNvSpPr/>
          <p:nvPr/>
        </p:nvSpPr>
        <p:spPr>
          <a:xfrm>
            <a:off x="5486400" y="3090672"/>
            <a:ext cx="1234440" cy="310896"/>
          </a:xfrm>
          <a:prstGeom prst="roundRect">
            <a:avLst>
              <a:gd name="adj" fmla="val 17647"/>
            </a:avLst>
          </a:prstGeom>
          <a:solidFill>
            <a:srgbClr val="FFF7ED"/>
          </a:solidFill>
          <a:ln w="12700">
            <a:solidFill>
              <a:srgbClr val="FFF7ED"/>
            </a:solidFill>
            <a:prstDash val="solid"/>
          </a:ln>
        </p:spPr>
      </p:sp>
      <p:sp>
        <p:nvSpPr>
          <p:cNvPr id="29" name="Text 26"/>
          <p:cNvSpPr/>
          <p:nvPr/>
        </p:nvSpPr>
        <p:spPr>
          <a:xfrm>
            <a:off x="5559552" y="3154680"/>
            <a:ext cx="1088136" cy="146304"/>
          </a:xfrm>
          <a:prstGeom prst="rect">
            <a:avLst/>
          </a:prstGeom>
          <a:noFill/>
          <a:ln/>
        </p:spPr>
        <p:txBody>
          <a:bodyPr wrap="square" lIns="0" tIns="0" rIns="0" bIns="0" rtlCol="0" anchor="ctr"/>
          <a:lstStyle/>
          <a:p>
            <a:pPr marL="0" indent="0" algn="ctr">
              <a:buNone/>
            </a:pPr>
            <a:r>
              <a:rPr lang="en-US" sz="850" b="1" dirty="0">
                <a:solidFill>
                  <a:srgbClr val="F97316"/>
                </a:solidFill>
              </a:rPr>
              <a:t>Ingrédients</a:t>
            </a:r>
            <a:endParaRPr lang="en-US" sz="850" dirty="0"/>
          </a:p>
        </p:txBody>
      </p:sp>
      <p:sp>
        <p:nvSpPr>
          <p:cNvPr id="30" name="Shape 27"/>
          <p:cNvSpPr/>
          <p:nvPr/>
        </p:nvSpPr>
        <p:spPr>
          <a:xfrm>
            <a:off x="6995160" y="3090672"/>
            <a:ext cx="1234440" cy="310896"/>
          </a:xfrm>
          <a:prstGeom prst="roundRect">
            <a:avLst>
              <a:gd name="adj" fmla="val 17647"/>
            </a:avLst>
          </a:prstGeom>
          <a:solidFill>
            <a:srgbClr val="FFF7ED"/>
          </a:solidFill>
          <a:ln w="12700">
            <a:solidFill>
              <a:srgbClr val="FFF7ED"/>
            </a:solidFill>
            <a:prstDash val="solid"/>
          </a:ln>
        </p:spPr>
      </p:sp>
      <p:sp>
        <p:nvSpPr>
          <p:cNvPr id="31" name="Text 28"/>
          <p:cNvSpPr/>
          <p:nvPr/>
        </p:nvSpPr>
        <p:spPr>
          <a:xfrm>
            <a:off x="7068312" y="3154680"/>
            <a:ext cx="1088136" cy="146304"/>
          </a:xfrm>
          <a:prstGeom prst="rect">
            <a:avLst/>
          </a:prstGeom>
          <a:noFill/>
          <a:ln/>
        </p:spPr>
        <p:txBody>
          <a:bodyPr wrap="square" lIns="0" tIns="0" rIns="0" bIns="0" rtlCol="0" anchor="ctr"/>
          <a:lstStyle/>
          <a:p>
            <a:pPr marL="0" indent="0" algn="ctr">
              <a:buNone/>
            </a:pPr>
            <a:r>
              <a:rPr lang="en-US" sz="850" b="1" dirty="0">
                <a:solidFill>
                  <a:srgbClr val="F97316"/>
                </a:solidFill>
              </a:rPr>
              <a:t>Appareils</a:t>
            </a:r>
            <a:endParaRPr lang="en-US" sz="850" dirty="0"/>
          </a:p>
        </p:txBody>
      </p:sp>
      <p:sp>
        <p:nvSpPr>
          <p:cNvPr id="32" name="Shape 29"/>
          <p:cNvSpPr/>
          <p:nvPr/>
        </p:nvSpPr>
        <p:spPr>
          <a:xfrm>
            <a:off x="8503920" y="3090672"/>
            <a:ext cx="1234440" cy="310896"/>
          </a:xfrm>
          <a:prstGeom prst="roundRect">
            <a:avLst>
              <a:gd name="adj" fmla="val 17647"/>
            </a:avLst>
          </a:prstGeom>
          <a:solidFill>
            <a:srgbClr val="FFF7ED"/>
          </a:solidFill>
          <a:ln w="12700">
            <a:solidFill>
              <a:srgbClr val="FFF7ED"/>
            </a:solidFill>
            <a:prstDash val="solid"/>
          </a:ln>
        </p:spPr>
      </p:sp>
      <p:sp>
        <p:nvSpPr>
          <p:cNvPr id="33" name="Text 30"/>
          <p:cNvSpPr/>
          <p:nvPr/>
        </p:nvSpPr>
        <p:spPr>
          <a:xfrm>
            <a:off x="8577072" y="3154680"/>
            <a:ext cx="1088136" cy="146304"/>
          </a:xfrm>
          <a:prstGeom prst="rect">
            <a:avLst/>
          </a:prstGeom>
          <a:noFill/>
          <a:ln/>
        </p:spPr>
        <p:txBody>
          <a:bodyPr wrap="square" lIns="0" tIns="0" rIns="0" bIns="0" rtlCol="0" anchor="ctr"/>
          <a:lstStyle/>
          <a:p>
            <a:pPr marL="0" indent="0" algn="ctr">
              <a:buNone/>
            </a:pPr>
            <a:r>
              <a:rPr lang="en-US" sz="850" b="1" dirty="0">
                <a:solidFill>
                  <a:srgbClr val="F97316"/>
                </a:solidFill>
              </a:rPr>
              <a:t>Ustensiles</a:t>
            </a:r>
            <a:endParaRPr lang="en-US" sz="850" dirty="0"/>
          </a:p>
        </p:txBody>
      </p:sp>
      <p:sp>
        <p:nvSpPr>
          <p:cNvPr id="34" name="Shape 31"/>
          <p:cNvSpPr/>
          <p:nvPr/>
        </p:nvSpPr>
        <p:spPr>
          <a:xfrm>
            <a:off x="5486400" y="3703320"/>
            <a:ext cx="1463040" cy="1325880"/>
          </a:xfrm>
          <a:prstGeom prst="roundRect">
            <a:avLst>
              <a:gd name="adj" fmla="val 6897"/>
            </a:avLst>
          </a:prstGeom>
          <a:solidFill>
            <a:srgbClr val="F8FAFC"/>
          </a:solidFill>
          <a:ln w="12700">
            <a:solidFill>
              <a:srgbClr val="E5E7EB"/>
            </a:solidFill>
            <a:prstDash val="solid"/>
          </a:ln>
        </p:spPr>
      </p:sp>
      <p:pic>
        <p:nvPicPr>
          <p:cNvPr id="35" name="Image 1" descr="/mnt/data/cropped_recipes/Recette14_card.jpg"/>
          <p:cNvPicPr>
            <a:picLocks noChangeAspect="1"/>
          </p:cNvPicPr>
          <p:nvPr/>
        </p:nvPicPr>
        <p:blipFill>
          <a:blip r:embed="rId4"/>
          <a:srcRect t="16912" b="16912"/>
          <a:stretch/>
        </p:blipFill>
        <p:spPr>
          <a:xfrm>
            <a:off x="5532120" y="3767328"/>
            <a:ext cx="1371600" cy="685800"/>
          </a:xfrm>
          <a:prstGeom prst="rect">
            <a:avLst/>
          </a:prstGeom>
        </p:spPr>
      </p:pic>
      <p:sp>
        <p:nvSpPr>
          <p:cNvPr id="36" name="Text 32"/>
          <p:cNvSpPr/>
          <p:nvPr/>
        </p:nvSpPr>
        <p:spPr>
          <a:xfrm>
            <a:off x="5577840" y="4535424"/>
            <a:ext cx="1280160" cy="164592"/>
          </a:xfrm>
          <a:prstGeom prst="rect">
            <a:avLst/>
          </a:prstGeom>
          <a:noFill/>
          <a:ln/>
        </p:spPr>
        <p:txBody>
          <a:bodyPr wrap="square" lIns="0" tIns="0" rIns="0" bIns="0" rtlCol="0" anchor="ctr"/>
          <a:lstStyle/>
          <a:p>
            <a:pPr marL="0" indent="0">
              <a:buNone/>
            </a:pPr>
            <a:r>
              <a:rPr lang="en-US" sz="750" b="1" dirty="0">
                <a:solidFill>
                  <a:srgbClr val="101827"/>
                </a:solidFill>
              </a:rPr>
              <a:t>Recette filtrée</a:t>
            </a:r>
            <a:endParaRPr lang="en-US" sz="750" dirty="0"/>
          </a:p>
        </p:txBody>
      </p:sp>
      <p:sp>
        <p:nvSpPr>
          <p:cNvPr id="37" name="Text 33"/>
          <p:cNvSpPr/>
          <p:nvPr/>
        </p:nvSpPr>
        <p:spPr>
          <a:xfrm>
            <a:off x="5577840" y="4736592"/>
            <a:ext cx="1280160" cy="128016"/>
          </a:xfrm>
          <a:prstGeom prst="rect">
            <a:avLst/>
          </a:prstGeom>
          <a:noFill/>
          <a:ln/>
        </p:spPr>
        <p:txBody>
          <a:bodyPr wrap="square" lIns="0" tIns="0" rIns="0" bIns="0" rtlCol="0" anchor="ctr"/>
          <a:lstStyle/>
          <a:p>
            <a:pPr marL="0" indent="0">
              <a:buNone/>
            </a:pPr>
            <a:r>
              <a:rPr lang="en-US" sz="680" dirty="0">
                <a:solidFill>
                  <a:srgbClr val="6B7280"/>
                </a:solidFill>
              </a:rPr>
              <a:t>mise à jour</a:t>
            </a:r>
            <a:endParaRPr lang="en-US" sz="680" dirty="0"/>
          </a:p>
        </p:txBody>
      </p:sp>
      <p:sp>
        <p:nvSpPr>
          <p:cNvPr id="38" name="Shape 34"/>
          <p:cNvSpPr/>
          <p:nvPr/>
        </p:nvSpPr>
        <p:spPr>
          <a:xfrm>
            <a:off x="7223760" y="3703320"/>
            <a:ext cx="1463040" cy="1325880"/>
          </a:xfrm>
          <a:prstGeom prst="roundRect">
            <a:avLst>
              <a:gd name="adj" fmla="val 6897"/>
            </a:avLst>
          </a:prstGeom>
          <a:solidFill>
            <a:srgbClr val="F8FAFC"/>
          </a:solidFill>
          <a:ln w="12700">
            <a:solidFill>
              <a:srgbClr val="E5E7EB"/>
            </a:solidFill>
            <a:prstDash val="solid"/>
          </a:ln>
        </p:spPr>
      </p:sp>
      <p:pic>
        <p:nvPicPr>
          <p:cNvPr id="39" name="Image 2" descr="/mnt/data/cropped_recipes/Recette15_card.jpg"/>
          <p:cNvPicPr>
            <a:picLocks noChangeAspect="1"/>
          </p:cNvPicPr>
          <p:nvPr/>
        </p:nvPicPr>
        <p:blipFill>
          <a:blip r:embed="rId5"/>
          <a:srcRect t="16912" b="16912"/>
          <a:stretch/>
        </p:blipFill>
        <p:spPr>
          <a:xfrm>
            <a:off x="7269480" y="3767328"/>
            <a:ext cx="1371600" cy="685800"/>
          </a:xfrm>
          <a:prstGeom prst="rect">
            <a:avLst/>
          </a:prstGeom>
        </p:spPr>
      </p:pic>
      <p:sp>
        <p:nvSpPr>
          <p:cNvPr id="40" name="Text 35"/>
          <p:cNvSpPr/>
          <p:nvPr/>
        </p:nvSpPr>
        <p:spPr>
          <a:xfrm>
            <a:off x="7315200" y="4535424"/>
            <a:ext cx="1280160" cy="164592"/>
          </a:xfrm>
          <a:prstGeom prst="rect">
            <a:avLst/>
          </a:prstGeom>
          <a:noFill/>
          <a:ln/>
        </p:spPr>
        <p:txBody>
          <a:bodyPr wrap="square" lIns="0" tIns="0" rIns="0" bIns="0" rtlCol="0" anchor="ctr"/>
          <a:lstStyle/>
          <a:p>
            <a:pPr marL="0" indent="0">
              <a:buNone/>
            </a:pPr>
            <a:r>
              <a:rPr lang="en-US" sz="750" b="1" dirty="0">
                <a:solidFill>
                  <a:srgbClr val="101827"/>
                </a:solidFill>
              </a:rPr>
              <a:t>Recette filtrée</a:t>
            </a:r>
            <a:endParaRPr lang="en-US" sz="750" dirty="0"/>
          </a:p>
        </p:txBody>
      </p:sp>
      <p:sp>
        <p:nvSpPr>
          <p:cNvPr id="41" name="Text 36"/>
          <p:cNvSpPr/>
          <p:nvPr/>
        </p:nvSpPr>
        <p:spPr>
          <a:xfrm>
            <a:off x="7315200" y="4736592"/>
            <a:ext cx="1280160" cy="128016"/>
          </a:xfrm>
          <a:prstGeom prst="rect">
            <a:avLst/>
          </a:prstGeom>
          <a:noFill/>
          <a:ln/>
        </p:spPr>
        <p:txBody>
          <a:bodyPr wrap="square" lIns="0" tIns="0" rIns="0" bIns="0" rtlCol="0" anchor="ctr"/>
          <a:lstStyle/>
          <a:p>
            <a:pPr marL="0" indent="0">
              <a:buNone/>
            </a:pPr>
            <a:r>
              <a:rPr lang="en-US" sz="680" dirty="0">
                <a:solidFill>
                  <a:srgbClr val="6B7280"/>
                </a:solidFill>
              </a:rPr>
              <a:t>mise à jour</a:t>
            </a:r>
            <a:endParaRPr lang="en-US" sz="680" dirty="0"/>
          </a:p>
        </p:txBody>
      </p:sp>
      <p:sp>
        <p:nvSpPr>
          <p:cNvPr id="42" name="Shape 37"/>
          <p:cNvSpPr/>
          <p:nvPr/>
        </p:nvSpPr>
        <p:spPr>
          <a:xfrm>
            <a:off x="8961120" y="3703320"/>
            <a:ext cx="1463040" cy="1325880"/>
          </a:xfrm>
          <a:prstGeom prst="roundRect">
            <a:avLst>
              <a:gd name="adj" fmla="val 6897"/>
            </a:avLst>
          </a:prstGeom>
          <a:solidFill>
            <a:srgbClr val="F8FAFC"/>
          </a:solidFill>
          <a:ln w="12700">
            <a:solidFill>
              <a:srgbClr val="E5E7EB"/>
            </a:solidFill>
            <a:prstDash val="solid"/>
          </a:ln>
        </p:spPr>
      </p:sp>
      <p:pic>
        <p:nvPicPr>
          <p:cNvPr id="43" name="Image 3" descr="/mnt/data/cropped_recipes/Recette16_card.jpg"/>
          <p:cNvPicPr>
            <a:picLocks noChangeAspect="1"/>
          </p:cNvPicPr>
          <p:nvPr/>
        </p:nvPicPr>
        <p:blipFill>
          <a:blip r:embed="rId6"/>
          <a:srcRect t="16912" b="16912"/>
          <a:stretch/>
        </p:blipFill>
        <p:spPr>
          <a:xfrm>
            <a:off x="9006840" y="3767328"/>
            <a:ext cx="1371600" cy="685800"/>
          </a:xfrm>
          <a:prstGeom prst="rect">
            <a:avLst/>
          </a:prstGeom>
        </p:spPr>
      </p:pic>
      <p:sp>
        <p:nvSpPr>
          <p:cNvPr id="44" name="Text 38"/>
          <p:cNvSpPr/>
          <p:nvPr/>
        </p:nvSpPr>
        <p:spPr>
          <a:xfrm>
            <a:off x="9052560" y="4535424"/>
            <a:ext cx="1280160" cy="164592"/>
          </a:xfrm>
          <a:prstGeom prst="rect">
            <a:avLst/>
          </a:prstGeom>
          <a:noFill/>
          <a:ln/>
        </p:spPr>
        <p:txBody>
          <a:bodyPr wrap="square" lIns="0" tIns="0" rIns="0" bIns="0" rtlCol="0" anchor="ctr"/>
          <a:lstStyle/>
          <a:p>
            <a:pPr marL="0" indent="0">
              <a:buNone/>
            </a:pPr>
            <a:r>
              <a:rPr lang="en-US" sz="750" b="1" dirty="0">
                <a:solidFill>
                  <a:srgbClr val="101827"/>
                </a:solidFill>
              </a:rPr>
              <a:t>Recette filtrée</a:t>
            </a:r>
            <a:endParaRPr lang="en-US" sz="750" dirty="0"/>
          </a:p>
        </p:txBody>
      </p:sp>
      <p:sp>
        <p:nvSpPr>
          <p:cNvPr id="45" name="Text 39"/>
          <p:cNvSpPr/>
          <p:nvPr/>
        </p:nvSpPr>
        <p:spPr>
          <a:xfrm>
            <a:off x="9052560" y="4736592"/>
            <a:ext cx="1280160" cy="128016"/>
          </a:xfrm>
          <a:prstGeom prst="rect">
            <a:avLst/>
          </a:prstGeom>
          <a:noFill/>
          <a:ln/>
        </p:spPr>
        <p:txBody>
          <a:bodyPr wrap="square" lIns="0" tIns="0" rIns="0" bIns="0" rtlCol="0" anchor="ctr"/>
          <a:lstStyle/>
          <a:p>
            <a:pPr marL="0" indent="0">
              <a:buNone/>
            </a:pPr>
            <a:r>
              <a:rPr lang="en-US" sz="680" dirty="0">
                <a:solidFill>
                  <a:srgbClr val="6B7280"/>
                </a:solidFill>
              </a:rPr>
              <a:t>mise à jour</a:t>
            </a:r>
            <a:endParaRPr lang="en-US" sz="680" dirty="0"/>
          </a:p>
        </p:txBody>
      </p:sp>
      <p:sp>
        <p:nvSpPr>
          <p:cNvPr id="46" name="Text 40"/>
          <p:cNvSpPr/>
          <p:nvPr/>
        </p:nvSpPr>
        <p:spPr>
          <a:xfrm>
            <a:off x="5394960" y="5376672"/>
            <a:ext cx="5440680" cy="237744"/>
          </a:xfrm>
          <a:prstGeom prst="rect">
            <a:avLst/>
          </a:prstGeom>
          <a:noFill/>
          <a:ln/>
        </p:spPr>
        <p:txBody>
          <a:bodyPr wrap="square" lIns="0" tIns="0" rIns="0" bIns="0" rtlCol="0" anchor="ctr"/>
          <a:lstStyle/>
          <a:p>
            <a:pPr marL="0" indent="0" algn="ctr">
              <a:buNone/>
            </a:pPr>
            <a:r>
              <a:rPr lang="en-US" sz="1220" b="1" dirty="0">
                <a:solidFill>
                  <a:srgbClr val="F97316"/>
                </a:solidFill>
              </a:rPr>
              <a:t>Phrase clé : “la recherche, les tags et les cartes restent synchronisés.”</a:t>
            </a:r>
            <a:endParaRPr lang="en-US" sz="1220" dirty="0"/>
          </a:p>
        </p:txBody>
      </p:sp>
      <p:sp>
        <p:nvSpPr>
          <p:cNvPr id="47" name="Shape 41"/>
          <p:cNvSpPr/>
          <p:nvPr/>
        </p:nvSpPr>
        <p:spPr>
          <a:xfrm>
            <a:off x="640080" y="6291072"/>
            <a:ext cx="10881360" cy="0"/>
          </a:xfrm>
          <a:prstGeom prst="line">
            <a:avLst/>
          </a:prstGeom>
          <a:noFill/>
          <a:ln w="12700">
            <a:solidFill>
              <a:srgbClr val="E5E7EB"/>
            </a:solidFill>
            <a:prstDash val="solid"/>
          </a:ln>
        </p:spPr>
      </p:sp>
      <p:sp>
        <p:nvSpPr>
          <p:cNvPr id="48" name="Text 42"/>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49" name="Text 43"/>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POINTS À VALORISER</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Ce qui montre la maîtrise du projet</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Ces éléments donnent de la profondeur technique sans allonger la présentation.</a:t>
            </a:r>
            <a:endParaRPr lang="en-US" sz="1260" dirty="0"/>
          </a:p>
        </p:txBody>
      </p:sp>
      <p:sp>
        <p:nvSpPr>
          <p:cNvPr id="5" name="Shape 3"/>
          <p:cNvSpPr/>
          <p:nvPr/>
        </p:nvSpPr>
        <p:spPr>
          <a:xfrm>
            <a:off x="822960" y="2057400"/>
            <a:ext cx="3154680" cy="3063240"/>
          </a:xfrm>
          <a:prstGeom prst="roundRect">
            <a:avLst>
              <a:gd name="adj" fmla="val 2985"/>
            </a:avLst>
          </a:prstGeom>
          <a:solidFill>
            <a:srgbClr val="FFFFFF"/>
          </a:solidFill>
          <a:ln w="12700">
            <a:solidFill>
              <a:srgbClr val="E5E7EB"/>
            </a:solidFill>
            <a:prstDash val="solid"/>
          </a:ln>
        </p:spPr>
      </p:sp>
      <p:sp>
        <p:nvSpPr>
          <p:cNvPr id="6" name="Text 4"/>
          <p:cNvSpPr/>
          <p:nvPr/>
        </p:nvSpPr>
        <p:spPr>
          <a:xfrm>
            <a:off x="1097280" y="2395728"/>
            <a:ext cx="2606040" cy="256032"/>
          </a:xfrm>
          <a:prstGeom prst="rect">
            <a:avLst/>
          </a:prstGeom>
          <a:noFill/>
          <a:ln/>
        </p:spPr>
        <p:txBody>
          <a:bodyPr wrap="square" lIns="0" tIns="0" rIns="0" bIns="0" rtlCol="0" anchor="ctr"/>
          <a:lstStyle/>
          <a:p>
            <a:pPr marL="0" indent="0">
              <a:buNone/>
            </a:pPr>
            <a:r>
              <a:rPr lang="en-US" sz="1650" b="1" dirty="0">
                <a:solidFill>
                  <a:srgbClr val="101827"/>
                </a:solidFill>
              </a:rPr>
              <a:t>Difficulté principale</a:t>
            </a:r>
            <a:endParaRPr lang="en-US" sz="1650" dirty="0"/>
          </a:p>
        </p:txBody>
      </p:sp>
      <p:sp>
        <p:nvSpPr>
          <p:cNvPr id="7" name="Text 5"/>
          <p:cNvSpPr/>
          <p:nvPr/>
        </p:nvSpPr>
        <p:spPr>
          <a:xfrm>
            <a:off x="1097280" y="2880360"/>
            <a:ext cx="2514600" cy="1005840"/>
          </a:xfrm>
          <a:prstGeom prst="rect">
            <a:avLst/>
          </a:prstGeom>
          <a:noFill/>
          <a:ln/>
        </p:spPr>
        <p:txBody>
          <a:bodyPr wrap="square" lIns="0" tIns="0" rIns="0" bIns="0" rtlCol="0" anchor="ctr">
            <a:normAutofit/>
          </a:bodyPr>
          <a:lstStyle/>
          <a:p>
            <a:pPr marL="0" indent="0">
              <a:buNone/>
            </a:pPr>
            <a:r>
              <a:rPr lang="en-US" sz="1220" dirty="0">
                <a:solidFill>
                  <a:srgbClr val="6B7280"/>
                </a:solidFill>
              </a:rPr>
              <a:t>Synchroniser la recherche principale, les tags sélectionnés et les listes disponibles.</a:t>
            </a:r>
            <a:endParaRPr lang="en-US" sz="1220" dirty="0"/>
          </a:p>
        </p:txBody>
      </p:sp>
      <p:sp>
        <p:nvSpPr>
          <p:cNvPr id="8" name="Shape 6"/>
          <p:cNvSpPr/>
          <p:nvPr/>
        </p:nvSpPr>
        <p:spPr>
          <a:xfrm>
            <a:off x="1097280" y="4343400"/>
            <a:ext cx="1325880" cy="310896"/>
          </a:xfrm>
          <a:prstGeom prst="roundRect">
            <a:avLst>
              <a:gd name="adj" fmla="val 17647"/>
            </a:avLst>
          </a:prstGeom>
          <a:solidFill>
            <a:srgbClr val="FFF7ED"/>
          </a:solidFill>
          <a:ln w="12700">
            <a:solidFill>
              <a:srgbClr val="FFF7ED"/>
            </a:solidFill>
            <a:prstDash val="solid"/>
          </a:ln>
        </p:spPr>
      </p:sp>
      <p:sp>
        <p:nvSpPr>
          <p:cNvPr id="9" name="Text 7"/>
          <p:cNvSpPr/>
          <p:nvPr/>
        </p:nvSpPr>
        <p:spPr>
          <a:xfrm>
            <a:off x="1170432" y="4407408"/>
            <a:ext cx="1179576" cy="146304"/>
          </a:xfrm>
          <a:prstGeom prst="rect">
            <a:avLst/>
          </a:prstGeom>
          <a:noFill/>
          <a:ln/>
        </p:spPr>
        <p:txBody>
          <a:bodyPr wrap="square" lIns="0" tIns="0" rIns="0" bIns="0" rtlCol="0" anchor="ctr"/>
          <a:lstStyle/>
          <a:p>
            <a:pPr marL="0" indent="0" algn="ctr">
              <a:buNone/>
            </a:pPr>
            <a:r>
              <a:rPr lang="en-US" sz="850" b="1" dirty="0">
                <a:solidFill>
                  <a:srgbClr val="F97316"/>
                </a:solidFill>
              </a:rPr>
              <a:t>cohérence UX</a:t>
            </a:r>
            <a:endParaRPr lang="en-US" sz="850" dirty="0"/>
          </a:p>
        </p:txBody>
      </p:sp>
      <p:sp>
        <p:nvSpPr>
          <p:cNvPr id="10" name="Shape 8"/>
          <p:cNvSpPr/>
          <p:nvPr/>
        </p:nvSpPr>
        <p:spPr>
          <a:xfrm>
            <a:off x="4572000" y="2057400"/>
            <a:ext cx="3154680" cy="3063240"/>
          </a:xfrm>
          <a:prstGeom prst="roundRect">
            <a:avLst>
              <a:gd name="adj" fmla="val 2985"/>
            </a:avLst>
          </a:prstGeom>
          <a:solidFill>
            <a:srgbClr val="101827"/>
          </a:solidFill>
          <a:ln w="12700">
            <a:solidFill>
              <a:srgbClr val="101827"/>
            </a:solidFill>
            <a:prstDash val="solid"/>
          </a:ln>
        </p:spPr>
      </p:sp>
      <p:sp>
        <p:nvSpPr>
          <p:cNvPr id="11" name="Text 9"/>
          <p:cNvSpPr/>
          <p:nvPr/>
        </p:nvSpPr>
        <p:spPr>
          <a:xfrm>
            <a:off x="4846320" y="2395728"/>
            <a:ext cx="2606040" cy="256032"/>
          </a:xfrm>
          <a:prstGeom prst="rect">
            <a:avLst/>
          </a:prstGeom>
          <a:noFill/>
          <a:ln/>
        </p:spPr>
        <p:txBody>
          <a:bodyPr wrap="square" lIns="0" tIns="0" rIns="0" bIns="0" rtlCol="0" anchor="ctr"/>
          <a:lstStyle/>
          <a:p>
            <a:pPr marL="0" indent="0">
              <a:buNone/>
            </a:pPr>
            <a:r>
              <a:rPr lang="en-US" sz="1650" b="1" dirty="0">
                <a:solidFill>
                  <a:srgbClr val="FFFFFF"/>
                </a:solidFill>
              </a:rPr>
              <a:t>Choix technique</a:t>
            </a:r>
            <a:endParaRPr lang="en-US" sz="1650" dirty="0"/>
          </a:p>
        </p:txBody>
      </p:sp>
      <p:sp>
        <p:nvSpPr>
          <p:cNvPr id="12" name="Text 10"/>
          <p:cNvSpPr/>
          <p:nvPr/>
        </p:nvSpPr>
        <p:spPr>
          <a:xfrm>
            <a:off x="4846320" y="2880360"/>
            <a:ext cx="2514600" cy="1005840"/>
          </a:xfrm>
          <a:prstGeom prst="rect">
            <a:avLst/>
          </a:prstGeom>
          <a:noFill/>
          <a:ln/>
        </p:spPr>
        <p:txBody>
          <a:bodyPr wrap="square" lIns="0" tIns="0" rIns="0" bIns="0" rtlCol="0" anchor="ctr">
            <a:normAutofit/>
          </a:bodyPr>
          <a:lstStyle/>
          <a:p>
            <a:pPr marL="0" indent="0">
              <a:buNone/>
            </a:pPr>
            <a:r>
              <a:rPr lang="en-US" sz="1220" dirty="0">
                <a:solidFill>
                  <a:srgbClr val="CBD5E1"/>
                </a:solidFill>
              </a:rPr>
              <a:t>Séparer les données, la recherche, les tags et l’affichage pour éviter un fichier monolithique.</a:t>
            </a:r>
            <a:endParaRPr lang="en-US" sz="1220" dirty="0"/>
          </a:p>
        </p:txBody>
      </p:sp>
      <p:sp>
        <p:nvSpPr>
          <p:cNvPr id="13" name="Shape 11"/>
          <p:cNvSpPr/>
          <p:nvPr/>
        </p:nvSpPr>
        <p:spPr>
          <a:xfrm>
            <a:off x="4846320" y="4343400"/>
            <a:ext cx="1325880" cy="310896"/>
          </a:xfrm>
          <a:prstGeom prst="roundRect">
            <a:avLst>
              <a:gd name="adj" fmla="val 17647"/>
            </a:avLst>
          </a:prstGeom>
          <a:solidFill>
            <a:srgbClr val="334155"/>
          </a:solidFill>
          <a:ln w="12700">
            <a:solidFill>
              <a:srgbClr val="334155"/>
            </a:solidFill>
            <a:prstDash val="solid"/>
          </a:ln>
        </p:spPr>
      </p:sp>
      <p:sp>
        <p:nvSpPr>
          <p:cNvPr id="14" name="Text 12"/>
          <p:cNvSpPr/>
          <p:nvPr/>
        </p:nvSpPr>
        <p:spPr>
          <a:xfrm>
            <a:off x="4919472" y="4407408"/>
            <a:ext cx="1179576" cy="146304"/>
          </a:xfrm>
          <a:prstGeom prst="rect">
            <a:avLst/>
          </a:prstGeom>
          <a:noFill/>
          <a:ln/>
        </p:spPr>
        <p:txBody>
          <a:bodyPr wrap="square" lIns="0" tIns="0" rIns="0" bIns="0" rtlCol="0" anchor="ctr"/>
          <a:lstStyle/>
          <a:p>
            <a:pPr marL="0" indent="0" algn="ctr">
              <a:buNone/>
            </a:pPr>
            <a:r>
              <a:rPr lang="en-US" sz="850" b="1" dirty="0">
                <a:solidFill>
                  <a:srgbClr val="FFFFFF"/>
                </a:solidFill>
              </a:rPr>
              <a:t>maintenabilité</a:t>
            </a:r>
            <a:endParaRPr lang="en-US" sz="850" dirty="0"/>
          </a:p>
        </p:txBody>
      </p:sp>
      <p:sp>
        <p:nvSpPr>
          <p:cNvPr id="15" name="Shape 13"/>
          <p:cNvSpPr/>
          <p:nvPr/>
        </p:nvSpPr>
        <p:spPr>
          <a:xfrm>
            <a:off x="8321040" y="2057400"/>
            <a:ext cx="3154680" cy="3063240"/>
          </a:xfrm>
          <a:prstGeom prst="roundRect">
            <a:avLst>
              <a:gd name="adj" fmla="val 2985"/>
            </a:avLst>
          </a:prstGeom>
          <a:solidFill>
            <a:srgbClr val="FFFFFF"/>
          </a:solidFill>
          <a:ln w="12700">
            <a:solidFill>
              <a:srgbClr val="E5E7EB"/>
            </a:solidFill>
            <a:prstDash val="solid"/>
          </a:ln>
        </p:spPr>
      </p:sp>
      <p:sp>
        <p:nvSpPr>
          <p:cNvPr id="16" name="Text 14"/>
          <p:cNvSpPr/>
          <p:nvPr/>
        </p:nvSpPr>
        <p:spPr>
          <a:xfrm>
            <a:off x="8595360" y="2395728"/>
            <a:ext cx="2606040" cy="256032"/>
          </a:xfrm>
          <a:prstGeom prst="rect">
            <a:avLst/>
          </a:prstGeom>
          <a:noFill/>
          <a:ln/>
        </p:spPr>
        <p:txBody>
          <a:bodyPr wrap="square" lIns="0" tIns="0" rIns="0" bIns="0" rtlCol="0" anchor="ctr"/>
          <a:lstStyle/>
          <a:p>
            <a:pPr marL="0" indent="0">
              <a:buNone/>
            </a:pPr>
            <a:r>
              <a:rPr lang="en-US" sz="1650" b="1" dirty="0">
                <a:solidFill>
                  <a:srgbClr val="101827"/>
                </a:solidFill>
              </a:rPr>
              <a:t>Améliorations</a:t>
            </a:r>
            <a:endParaRPr lang="en-US" sz="1650" dirty="0"/>
          </a:p>
        </p:txBody>
      </p:sp>
      <p:sp>
        <p:nvSpPr>
          <p:cNvPr id="17" name="Text 15"/>
          <p:cNvSpPr/>
          <p:nvPr/>
        </p:nvSpPr>
        <p:spPr>
          <a:xfrm>
            <a:off x="8595360" y="2880360"/>
            <a:ext cx="2514600" cy="1005840"/>
          </a:xfrm>
          <a:prstGeom prst="rect">
            <a:avLst/>
          </a:prstGeom>
          <a:noFill/>
          <a:ln/>
        </p:spPr>
        <p:txBody>
          <a:bodyPr wrap="square" lIns="0" tIns="0" rIns="0" bIns="0" rtlCol="0" anchor="ctr">
            <a:normAutofit/>
          </a:bodyPr>
          <a:lstStyle/>
          <a:p>
            <a:pPr marL="0" indent="0">
              <a:buNone/>
            </a:pPr>
            <a:r>
              <a:rPr lang="en-US" sz="1220" dirty="0">
                <a:solidFill>
                  <a:srgbClr val="6B7280"/>
                </a:solidFill>
              </a:rPr>
              <a:t>API réelle, indexation, pagination ou lazy loading si le volume de recettes augmente.</a:t>
            </a:r>
            <a:endParaRPr lang="en-US" sz="1220" dirty="0"/>
          </a:p>
        </p:txBody>
      </p:sp>
      <p:sp>
        <p:nvSpPr>
          <p:cNvPr id="18" name="Shape 16"/>
          <p:cNvSpPr/>
          <p:nvPr/>
        </p:nvSpPr>
        <p:spPr>
          <a:xfrm>
            <a:off x="8595360" y="4343400"/>
            <a:ext cx="1325880" cy="310896"/>
          </a:xfrm>
          <a:prstGeom prst="roundRect">
            <a:avLst>
              <a:gd name="adj" fmla="val 17647"/>
            </a:avLst>
          </a:prstGeom>
          <a:solidFill>
            <a:srgbClr val="FFF7ED"/>
          </a:solidFill>
          <a:ln w="12700">
            <a:solidFill>
              <a:srgbClr val="FFF7ED"/>
            </a:solidFill>
            <a:prstDash val="solid"/>
          </a:ln>
        </p:spPr>
      </p:sp>
      <p:sp>
        <p:nvSpPr>
          <p:cNvPr id="19" name="Text 17"/>
          <p:cNvSpPr/>
          <p:nvPr/>
        </p:nvSpPr>
        <p:spPr>
          <a:xfrm>
            <a:off x="8668512" y="4407408"/>
            <a:ext cx="1179576" cy="146304"/>
          </a:xfrm>
          <a:prstGeom prst="rect">
            <a:avLst/>
          </a:prstGeom>
          <a:noFill/>
          <a:ln/>
        </p:spPr>
        <p:txBody>
          <a:bodyPr wrap="square" lIns="0" tIns="0" rIns="0" bIns="0" rtlCol="0" anchor="ctr"/>
          <a:lstStyle/>
          <a:p>
            <a:pPr marL="0" indent="0" algn="ctr">
              <a:buNone/>
            </a:pPr>
            <a:r>
              <a:rPr lang="en-US" sz="850" b="1" dirty="0">
                <a:solidFill>
                  <a:srgbClr val="F97316"/>
                </a:solidFill>
              </a:rPr>
              <a:t>projection</a:t>
            </a:r>
            <a:endParaRPr lang="en-US" sz="850" dirty="0"/>
          </a:p>
        </p:txBody>
      </p:sp>
      <p:sp>
        <p:nvSpPr>
          <p:cNvPr id="20" name="Shape 18"/>
          <p:cNvSpPr/>
          <p:nvPr/>
        </p:nvSpPr>
        <p:spPr>
          <a:xfrm>
            <a:off x="640080" y="6291072"/>
            <a:ext cx="10881360" cy="0"/>
          </a:xfrm>
          <a:prstGeom prst="line">
            <a:avLst/>
          </a:prstGeom>
          <a:noFill/>
          <a:ln w="12700">
            <a:solidFill>
              <a:srgbClr val="E5E7EB"/>
            </a:solidFill>
            <a:prstDash val="solid"/>
          </a:ln>
        </p:spPr>
      </p:sp>
      <p:sp>
        <p:nvSpPr>
          <p:cNvPr id="21" name="Text 19"/>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22" name="Text 20"/>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nt/data/cropped_recipes/Recette06_wide.jpg"/>
          <p:cNvPicPr>
            <a:picLocks noChangeAspect="1"/>
          </p:cNvPicPr>
          <p:nvPr/>
        </p:nvPicPr>
        <p:blipFill>
          <a:blip r:embed="rId3"/>
          <a:srcRect l="1" r="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01827">
              <a:alpha val="85000"/>
            </a:srgbClr>
          </a:solidFill>
          <a:ln w="12700">
            <a:solidFill>
              <a:srgbClr val="333333">
                <a:alpha val="0"/>
              </a:srgbClr>
            </a:solidFill>
            <a:prstDash val="solid"/>
          </a:ln>
        </p:spPr>
      </p:sp>
      <p:sp>
        <p:nvSpPr>
          <p:cNvPr id="4" name="Shape 1"/>
          <p:cNvSpPr/>
          <p:nvPr/>
        </p:nvSpPr>
        <p:spPr>
          <a:xfrm>
            <a:off x="914400" y="1508760"/>
            <a:ext cx="5623560" cy="3886200"/>
          </a:xfrm>
          <a:prstGeom prst="roundRect">
            <a:avLst>
              <a:gd name="adj" fmla="val 2353"/>
            </a:avLst>
          </a:prstGeom>
          <a:solidFill>
            <a:srgbClr val="FFFFFF"/>
          </a:solidFill>
          <a:ln w="12700">
            <a:solidFill>
              <a:srgbClr val="FFFFFF"/>
            </a:solidFill>
            <a:prstDash val="solid"/>
          </a:ln>
        </p:spPr>
      </p:sp>
      <p:sp>
        <p:nvSpPr>
          <p:cNvPr id="5" name="Text 2"/>
          <p:cNvSpPr/>
          <p:nvPr/>
        </p:nvSpPr>
        <p:spPr>
          <a:xfrm>
            <a:off x="1280160" y="1828800"/>
            <a:ext cx="3840480" cy="502920"/>
          </a:xfrm>
          <a:prstGeom prst="rect">
            <a:avLst/>
          </a:prstGeom>
          <a:noFill/>
          <a:ln/>
        </p:spPr>
        <p:txBody>
          <a:bodyPr wrap="square" lIns="0" tIns="0" rIns="0" bIns="0" rtlCol="0" anchor="ctr"/>
          <a:lstStyle/>
          <a:p>
            <a:pPr marL="0" indent="0">
              <a:buNone/>
            </a:pPr>
            <a:r>
              <a:rPr lang="en-US" sz="3000" b="1" dirty="0">
                <a:solidFill>
                  <a:srgbClr val="101827"/>
                </a:solidFill>
                <a:latin typeface="Aptos Display" pitchFamily="34" charset="0"/>
                <a:ea typeface="Aptos Display" pitchFamily="34" charset="-122"/>
                <a:cs typeface="Aptos Display" pitchFamily="34" charset="-120"/>
              </a:rPr>
              <a:t>Conclusion</a:t>
            </a:r>
            <a:endParaRPr lang="en-US" sz="3000" dirty="0"/>
          </a:p>
        </p:txBody>
      </p:sp>
      <p:sp>
        <p:nvSpPr>
          <p:cNvPr id="6" name="Text 3"/>
          <p:cNvSpPr/>
          <p:nvPr/>
        </p:nvSpPr>
        <p:spPr>
          <a:xfrm>
            <a:off x="1280160" y="2487168"/>
            <a:ext cx="3474720" cy="228600"/>
          </a:xfrm>
          <a:prstGeom prst="rect">
            <a:avLst/>
          </a:prstGeom>
          <a:noFill/>
          <a:ln/>
        </p:spPr>
        <p:txBody>
          <a:bodyPr wrap="square" lIns="0" tIns="0" rIns="0" bIns="0" rtlCol="0" anchor="ctr"/>
          <a:lstStyle/>
          <a:p>
            <a:pPr marL="0" indent="0">
              <a:buNone/>
            </a:pPr>
            <a:r>
              <a:rPr lang="en-US" sz="1450" b="1" dirty="0">
                <a:solidFill>
                  <a:srgbClr val="F97316"/>
                </a:solidFill>
              </a:rPr>
              <a:t>Une démarche complète</a:t>
            </a:r>
            <a:endParaRPr lang="en-US" sz="1450" dirty="0"/>
          </a:p>
        </p:txBody>
      </p:sp>
      <p:sp>
        <p:nvSpPr>
          <p:cNvPr id="7" name="Text 4"/>
          <p:cNvSpPr/>
          <p:nvPr/>
        </p:nvSpPr>
        <p:spPr>
          <a:xfrm>
            <a:off x="1280160" y="2971800"/>
            <a:ext cx="4480560" cy="841248"/>
          </a:xfrm>
          <a:prstGeom prst="rect">
            <a:avLst/>
          </a:prstGeom>
          <a:noFill/>
          <a:ln/>
        </p:spPr>
        <p:txBody>
          <a:bodyPr wrap="square" lIns="0" tIns="0" rIns="0" bIns="0" rtlCol="0" anchor="ctr">
            <a:normAutofit/>
          </a:bodyPr>
          <a:lstStyle/>
          <a:p>
            <a:pPr marL="0" indent="0">
              <a:buNone/>
            </a:pPr>
            <a:r>
              <a:rPr lang="en-US" sz="1360" dirty="0">
                <a:solidFill>
                  <a:srgbClr val="6B7280"/>
                </a:solidFill>
              </a:rPr>
              <a:t>Analyser un besoin, décomposer la problématique, comparer deux solutions, mesurer les performances et défendre un choix technique.</a:t>
            </a:r>
            <a:endParaRPr lang="en-US" sz="1360" dirty="0"/>
          </a:p>
        </p:txBody>
      </p:sp>
      <p:sp>
        <p:nvSpPr>
          <p:cNvPr id="8" name="Shape 5"/>
          <p:cNvSpPr/>
          <p:nvPr/>
        </p:nvSpPr>
        <p:spPr>
          <a:xfrm>
            <a:off x="1280160" y="4069080"/>
            <a:ext cx="1325880" cy="310896"/>
          </a:xfrm>
          <a:prstGeom prst="roundRect">
            <a:avLst>
              <a:gd name="adj" fmla="val 17647"/>
            </a:avLst>
          </a:prstGeom>
          <a:solidFill>
            <a:srgbClr val="FFF7ED"/>
          </a:solidFill>
          <a:ln w="12700">
            <a:solidFill>
              <a:srgbClr val="FFF7ED"/>
            </a:solidFill>
            <a:prstDash val="solid"/>
          </a:ln>
        </p:spPr>
      </p:sp>
      <p:sp>
        <p:nvSpPr>
          <p:cNvPr id="9" name="Text 6"/>
          <p:cNvSpPr/>
          <p:nvPr/>
        </p:nvSpPr>
        <p:spPr>
          <a:xfrm>
            <a:off x="1353312" y="4133088"/>
            <a:ext cx="1179576" cy="146304"/>
          </a:xfrm>
          <a:prstGeom prst="rect">
            <a:avLst/>
          </a:prstGeom>
          <a:noFill/>
          <a:ln/>
        </p:spPr>
        <p:txBody>
          <a:bodyPr wrap="square" lIns="0" tIns="0" rIns="0" bIns="0" rtlCol="0" anchor="ctr"/>
          <a:lstStyle/>
          <a:p>
            <a:pPr marL="0" indent="0" algn="ctr">
              <a:buNone/>
            </a:pPr>
            <a:r>
              <a:rPr lang="en-US" sz="850" b="1" dirty="0">
                <a:solidFill>
                  <a:srgbClr val="F97316"/>
                </a:solidFill>
              </a:rPr>
              <a:t>Investigation</a:t>
            </a:r>
            <a:endParaRPr lang="en-US" sz="850" dirty="0"/>
          </a:p>
        </p:txBody>
      </p:sp>
      <p:sp>
        <p:nvSpPr>
          <p:cNvPr id="10" name="Shape 7"/>
          <p:cNvSpPr/>
          <p:nvPr/>
        </p:nvSpPr>
        <p:spPr>
          <a:xfrm>
            <a:off x="2788920" y="4069080"/>
            <a:ext cx="1417320" cy="310896"/>
          </a:xfrm>
          <a:prstGeom prst="roundRect">
            <a:avLst>
              <a:gd name="adj" fmla="val 17647"/>
            </a:avLst>
          </a:prstGeom>
          <a:solidFill>
            <a:srgbClr val="FFF7ED"/>
          </a:solidFill>
          <a:ln w="12700">
            <a:solidFill>
              <a:srgbClr val="FFF7ED"/>
            </a:solidFill>
            <a:prstDash val="solid"/>
          </a:ln>
        </p:spPr>
      </p:sp>
      <p:sp>
        <p:nvSpPr>
          <p:cNvPr id="11" name="Text 8"/>
          <p:cNvSpPr/>
          <p:nvPr/>
        </p:nvSpPr>
        <p:spPr>
          <a:xfrm>
            <a:off x="2862072" y="4133088"/>
            <a:ext cx="1271016" cy="146304"/>
          </a:xfrm>
          <a:prstGeom prst="rect">
            <a:avLst/>
          </a:prstGeom>
          <a:noFill/>
          <a:ln/>
        </p:spPr>
        <p:txBody>
          <a:bodyPr wrap="square" lIns="0" tIns="0" rIns="0" bIns="0" rtlCol="0" anchor="ctr"/>
          <a:lstStyle/>
          <a:p>
            <a:pPr marL="0" indent="0" algn="ctr">
              <a:buNone/>
            </a:pPr>
            <a:r>
              <a:rPr lang="en-US" sz="850" b="1" dirty="0">
                <a:solidFill>
                  <a:srgbClr val="F97316"/>
                </a:solidFill>
              </a:rPr>
              <a:t>Démonstration</a:t>
            </a:r>
            <a:endParaRPr lang="en-US" sz="850" dirty="0"/>
          </a:p>
        </p:txBody>
      </p:sp>
      <p:sp>
        <p:nvSpPr>
          <p:cNvPr id="12" name="Shape 9"/>
          <p:cNvSpPr/>
          <p:nvPr/>
        </p:nvSpPr>
        <p:spPr>
          <a:xfrm>
            <a:off x="4407408" y="4069080"/>
            <a:ext cx="1143000" cy="310896"/>
          </a:xfrm>
          <a:prstGeom prst="roundRect">
            <a:avLst>
              <a:gd name="adj" fmla="val 17647"/>
            </a:avLst>
          </a:prstGeom>
          <a:solidFill>
            <a:srgbClr val="FFF7ED"/>
          </a:solidFill>
          <a:ln w="12700">
            <a:solidFill>
              <a:srgbClr val="FFF7ED"/>
            </a:solidFill>
            <a:prstDash val="solid"/>
          </a:ln>
        </p:spPr>
      </p:sp>
      <p:sp>
        <p:nvSpPr>
          <p:cNvPr id="13" name="Text 10"/>
          <p:cNvSpPr/>
          <p:nvPr/>
        </p:nvSpPr>
        <p:spPr>
          <a:xfrm>
            <a:off x="4480560" y="4133088"/>
            <a:ext cx="996696" cy="146304"/>
          </a:xfrm>
          <a:prstGeom prst="rect">
            <a:avLst/>
          </a:prstGeom>
          <a:noFill/>
          <a:ln/>
        </p:spPr>
        <p:txBody>
          <a:bodyPr wrap="square" lIns="0" tIns="0" rIns="0" bIns="0" rtlCol="0" anchor="ctr"/>
          <a:lstStyle/>
          <a:p>
            <a:pPr marL="0" indent="0" algn="ctr">
              <a:buNone/>
            </a:pPr>
            <a:r>
              <a:rPr lang="en-US" sz="850" b="1" dirty="0">
                <a:solidFill>
                  <a:srgbClr val="F97316"/>
                </a:solidFill>
              </a:rPr>
              <a:t>Benchmark</a:t>
            </a:r>
            <a:endParaRPr lang="en-US" sz="850" dirty="0"/>
          </a:p>
        </p:txBody>
      </p:sp>
      <p:sp>
        <p:nvSpPr>
          <p:cNvPr id="14" name="Text 11"/>
          <p:cNvSpPr/>
          <p:nvPr/>
        </p:nvSpPr>
        <p:spPr>
          <a:xfrm>
            <a:off x="1280160" y="4709160"/>
            <a:ext cx="3291840" cy="256032"/>
          </a:xfrm>
          <a:prstGeom prst="rect">
            <a:avLst/>
          </a:prstGeom>
          <a:noFill/>
          <a:ln/>
        </p:spPr>
        <p:txBody>
          <a:bodyPr wrap="square" lIns="0" tIns="0" rIns="0" bIns="0" rtlCol="0" anchor="ctr"/>
          <a:lstStyle/>
          <a:p>
            <a:pPr marL="0" indent="0">
              <a:buNone/>
            </a:pPr>
            <a:r>
              <a:rPr lang="en-US" sz="1450" b="1" dirty="0">
                <a:solidFill>
                  <a:srgbClr val="101827"/>
                </a:solidFill>
              </a:rPr>
              <a:t>Merci pour votre attention</a:t>
            </a:r>
            <a:endParaRPr lang="en-US" sz="1450" dirty="0"/>
          </a:p>
        </p:txBody>
      </p:sp>
      <p:sp>
        <p:nvSpPr>
          <p:cNvPr id="15" name="Text 12"/>
          <p:cNvSpPr/>
          <p:nvPr/>
        </p:nvSpPr>
        <p:spPr>
          <a:xfrm>
            <a:off x="1280160" y="5010912"/>
            <a:ext cx="2286000" cy="201168"/>
          </a:xfrm>
          <a:prstGeom prst="rect">
            <a:avLst/>
          </a:prstGeom>
          <a:noFill/>
          <a:ln/>
        </p:spPr>
        <p:txBody>
          <a:bodyPr wrap="square" lIns="0" tIns="0" rIns="0" bIns="0" rtlCol="0" anchor="ctr"/>
          <a:lstStyle/>
          <a:p>
            <a:pPr marL="0" indent="0">
              <a:buNone/>
            </a:pPr>
            <a:r>
              <a:rPr lang="en-US" sz="1100" dirty="0">
                <a:solidFill>
                  <a:srgbClr val="6B7280"/>
                </a:solidFill>
              </a:rPr>
              <a:t>Questions / échanges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ANNEXE</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Questions probables du jury</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À garder pour les échanges après la présentation.</a:t>
            </a:r>
            <a:endParaRPr lang="en-US" sz="1260" dirty="0"/>
          </a:p>
        </p:txBody>
      </p:sp>
      <p:sp>
        <p:nvSpPr>
          <p:cNvPr id="5" name="Shape 3"/>
          <p:cNvSpPr/>
          <p:nvPr/>
        </p:nvSpPr>
        <p:spPr>
          <a:xfrm>
            <a:off x="868680" y="1828800"/>
            <a:ext cx="5074920" cy="1417320"/>
          </a:xfrm>
          <a:prstGeom prst="roundRect">
            <a:avLst>
              <a:gd name="adj" fmla="val 6452"/>
            </a:avLst>
          </a:prstGeom>
          <a:solidFill>
            <a:srgbClr val="FFFFFF"/>
          </a:solidFill>
          <a:ln w="12700">
            <a:solidFill>
              <a:srgbClr val="E5E7EB"/>
            </a:solidFill>
            <a:prstDash val="solid"/>
          </a:ln>
        </p:spPr>
      </p:sp>
      <p:sp>
        <p:nvSpPr>
          <p:cNvPr id="6" name="Text 4"/>
          <p:cNvSpPr/>
          <p:nvPr/>
        </p:nvSpPr>
        <p:spPr>
          <a:xfrm>
            <a:off x="1188720" y="2084832"/>
            <a:ext cx="4297680" cy="228600"/>
          </a:xfrm>
          <a:prstGeom prst="rect">
            <a:avLst/>
          </a:prstGeom>
          <a:noFill/>
          <a:ln/>
        </p:spPr>
        <p:txBody>
          <a:bodyPr wrap="square" lIns="0" tIns="0" rIns="0" bIns="0" rtlCol="0" anchor="ctr"/>
          <a:lstStyle/>
          <a:p>
            <a:pPr marL="0" indent="0">
              <a:buNone/>
            </a:pPr>
            <a:r>
              <a:rPr lang="en-US" sz="1550" b="1" dirty="0">
                <a:solidFill>
                  <a:srgbClr val="101827"/>
                </a:solidFill>
              </a:rPr>
              <a:t>Pourquoi cette version ?</a:t>
            </a:r>
            <a:endParaRPr lang="en-US" sz="1550" dirty="0"/>
          </a:p>
        </p:txBody>
      </p:sp>
      <p:sp>
        <p:nvSpPr>
          <p:cNvPr id="7" name="Text 5"/>
          <p:cNvSpPr/>
          <p:nvPr/>
        </p:nvSpPr>
        <p:spPr>
          <a:xfrm>
            <a:off x="1188720" y="2514600"/>
            <a:ext cx="4297680" cy="292608"/>
          </a:xfrm>
          <a:prstGeom prst="rect">
            <a:avLst/>
          </a:prstGeom>
          <a:noFill/>
          <a:ln/>
        </p:spPr>
        <p:txBody>
          <a:bodyPr wrap="square" lIns="0" tIns="0" rIns="0" bIns="0" rtlCol="0" anchor="ctr">
            <a:normAutofit fontScale="92500"/>
          </a:bodyPr>
          <a:lstStyle/>
          <a:p>
            <a:pPr marL="0" indent="0">
              <a:buNone/>
            </a:pPr>
            <a:r>
              <a:rPr lang="en-US" sz="1160" dirty="0">
                <a:solidFill>
                  <a:srgbClr val="6B7280"/>
                </a:solidFill>
              </a:rPr>
              <a:t>Elle obtient de meilleurs résultats au benchmark, surtout sur les filtres avancés.</a:t>
            </a:r>
            <a:endParaRPr lang="en-US" sz="1160" dirty="0"/>
          </a:p>
        </p:txBody>
      </p:sp>
      <p:sp>
        <p:nvSpPr>
          <p:cNvPr id="8" name="Shape 6"/>
          <p:cNvSpPr/>
          <p:nvPr/>
        </p:nvSpPr>
        <p:spPr>
          <a:xfrm>
            <a:off x="6263640" y="1828800"/>
            <a:ext cx="5074920" cy="1417320"/>
          </a:xfrm>
          <a:prstGeom prst="roundRect">
            <a:avLst>
              <a:gd name="adj" fmla="val 6452"/>
            </a:avLst>
          </a:prstGeom>
          <a:solidFill>
            <a:srgbClr val="FFFFFF"/>
          </a:solidFill>
          <a:ln w="12700">
            <a:solidFill>
              <a:srgbClr val="E5E7EB"/>
            </a:solidFill>
            <a:prstDash val="solid"/>
          </a:ln>
        </p:spPr>
      </p:sp>
      <p:sp>
        <p:nvSpPr>
          <p:cNvPr id="9" name="Text 7"/>
          <p:cNvSpPr/>
          <p:nvPr/>
        </p:nvSpPr>
        <p:spPr>
          <a:xfrm>
            <a:off x="6583680" y="2084832"/>
            <a:ext cx="4297680" cy="228600"/>
          </a:xfrm>
          <a:prstGeom prst="rect">
            <a:avLst/>
          </a:prstGeom>
          <a:noFill/>
          <a:ln/>
        </p:spPr>
        <p:txBody>
          <a:bodyPr wrap="square" lIns="0" tIns="0" rIns="0" bIns="0" rtlCol="0" anchor="ctr"/>
          <a:lstStyle/>
          <a:p>
            <a:pPr marL="0" indent="0">
              <a:buNone/>
            </a:pPr>
            <a:r>
              <a:rPr lang="en-US" sz="1550" b="1" dirty="0">
                <a:solidFill>
                  <a:srgbClr val="101827"/>
                </a:solidFill>
              </a:rPr>
              <a:t>Quelle complexité ?</a:t>
            </a:r>
            <a:endParaRPr lang="en-US" sz="1550" dirty="0"/>
          </a:p>
        </p:txBody>
      </p:sp>
      <p:sp>
        <p:nvSpPr>
          <p:cNvPr id="10" name="Text 8"/>
          <p:cNvSpPr/>
          <p:nvPr/>
        </p:nvSpPr>
        <p:spPr>
          <a:xfrm>
            <a:off x="6583680" y="2514600"/>
            <a:ext cx="4297680" cy="292608"/>
          </a:xfrm>
          <a:prstGeom prst="rect">
            <a:avLst/>
          </a:prstGeom>
          <a:noFill/>
          <a:ln/>
        </p:spPr>
        <p:txBody>
          <a:bodyPr wrap="square" lIns="0" tIns="0" rIns="0" bIns="0" rtlCol="0" anchor="ctr">
            <a:normAutofit/>
          </a:bodyPr>
          <a:lstStyle/>
          <a:p>
            <a:pPr marL="0" indent="0">
              <a:buNone/>
            </a:pPr>
            <a:r>
              <a:rPr lang="en-US" sz="1160" dirty="0">
                <a:solidFill>
                  <a:srgbClr val="6B7280"/>
                </a:solidFill>
              </a:rPr>
              <a:t>O(n) sur la recherche principale : chaque recette est parcourue.</a:t>
            </a:r>
            <a:endParaRPr lang="en-US" sz="1160" dirty="0"/>
          </a:p>
        </p:txBody>
      </p:sp>
      <p:sp>
        <p:nvSpPr>
          <p:cNvPr id="11" name="Shape 9"/>
          <p:cNvSpPr/>
          <p:nvPr/>
        </p:nvSpPr>
        <p:spPr>
          <a:xfrm>
            <a:off x="868680" y="3886200"/>
            <a:ext cx="5074920" cy="1417320"/>
          </a:xfrm>
          <a:prstGeom prst="roundRect">
            <a:avLst>
              <a:gd name="adj" fmla="val 6452"/>
            </a:avLst>
          </a:prstGeom>
          <a:solidFill>
            <a:srgbClr val="FFFFFF"/>
          </a:solidFill>
          <a:ln w="12700">
            <a:solidFill>
              <a:srgbClr val="E5E7EB"/>
            </a:solidFill>
            <a:prstDash val="solid"/>
          </a:ln>
        </p:spPr>
      </p:sp>
      <p:sp>
        <p:nvSpPr>
          <p:cNvPr id="12" name="Text 10"/>
          <p:cNvSpPr/>
          <p:nvPr/>
        </p:nvSpPr>
        <p:spPr>
          <a:xfrm>
            <a:off x="1188720" y="4142232"/>
            <a:ext cx="4297680" cy="228600"/>
          </a:xfrm>
          <a:prstGeom prst="rect">
            <a:avLst/>
          </a:prstGeom>
          <a:noFill/>
          <a:ln/>
        </p:spPr>
        <p:txBody>
          <a:bodyPr wrap="square" lIns="0" tIns="0" rIns="0" bIns="0" rtlCol="0" anchor="ctr"/>
          <a:lstStyle/>
          <a:p>
            <a:pPr marL="0" indent="0">
              <a:buNone/>
            </a:pPr>
            <a:r>
              <a:rPr lang="en-US" sz="1550" b="1" dirty="0">
                <a:solidFill>
                  <a:srgbClr val="101827"/>
                </a:solidFill>
              </a:rPr>
              <a:t>Difficulté principale ?</a:t>
            </a:r>
            <a:endParaRPr lang="en-US" sz="1550" dirty="0"/>
          </a:p>
        </p:txBody>
      </p:sp>
      <p:sp>
        <p:nvSpPr>
          <p:cNvPr id="13" name="Text 11"/>
          <p:cNvSpPr/>
          <p:nvPr/>
        </p:nvSpPr>
        <p:spPr>
          <a:xfrm>
            <a:off x="1188720" y="4572000"/>
            <a:ext cx="4297680" cy="292608"/>
          </a:xfrm>
          <a:prstGeom prst="rect">
            <a:avLst/>
          </a:prstGeom>
          <a:noFill/>
          <a:ln/>
        </p:spPr>
        <p:txBody>
          <a:bodyPr wrap="square" lIns="0" tIns="0" rIns="0" bIns="0" rtlCol="0" anchor="ctr">
            <a:normAutofit/>
          </a:bodyPr>
          <a:lstStyle/>
          <a:p>
            <a:pPr marL="0" indent="0">
              <a:buNone/>
            </a:pPr>
            <a:r>
              <a:rPr lang="en-US" sz="1160" dirty="0">
                <a:solidFill>
                  <a:srgbClr val="6B7280"/>
                </a:solidFill>
              </a:rPr>
              <a:t>La synchronisation entre recherche principale, tags et affichage.</a:t>
            </a:r>
            <a:endParaRPr lang="en-US" sz="1160" dirty="0"/>
          </a:p>
        </p:txBody>
      </p:sp>
      <p:sp>
        <p:nvSpPr>
          <p:cNvPr id="14" name="Shape 12"/>
          <p:cNvSpPr/>
          <p:nvPr/>
        </p:nvSpPr>
        <p:spPr>
          <a:xfrm>
            <a:off x="6263640" y="3886200"/>
            <a:ext cx="5074920" cy="1417320"/>
          </a:xfrm>
          <a:prstGeom prst="roundRect">
            <a:avLst>
              <a:gd name="adj" fmla="val 6452"/>
            </a:avLst>
          </a:prstGeom>
          <a:solidFill>
            <a:srgbClr val="FFFFFF"/>
          </a:solidFill>
          <a:ln w="12700">
            <a:solidFill>
              <a:srgbClr val="E5E7EB"/>
            </a:solidFill>
            <a:prstDash val="solid"/>
          </a:ln>
        </p:spPr>
      </p:sp>
      <p:sp>
        <p:nvSpPr>
          <p:cNvPr id="15" name="Text 13"/>
          <p:cNvSpPr/>
          <p:nvPr/>
        </p:nvSpPr>
        <p:spPr>
          <a:xfrm>
            <a:off x="6583680" y="4142232"/>
            <a:ext cx="4297680" cy="228600"/>
          </a:xfrm>
          <a:prstGeom prst="rect">
            <a:avLst/>
          </a:prstGeom>
          <a:noFill/>
          <a:ln/>
        </p:spPr>
        <p:txBody>
          <a:bodyPr wrap="square" lIns="0" tIns="0" rIns="0" bIns="0" rtlCol="0" anchor="ctr"/>
          <a:lstStyle/>
          <a:p>
            <a:pPr marL="0" indent="0">
              <a:buNone/>
            </a:pPr>
            <a:r>
              <a:rPr lang="en-US" sz="1550" b="1" dirty="0">
                <a:solidFill>
                  <a:srgbClr val="101827"/>
                </a:solidFill>
              </a:rPr>
              <a:t>Amélioration future ?</a:t>
            </a:r>
            <a:endParaRPr lang="en-US" sz="1550" dirty="0"/>
          </a:p>
        </p:txBody>
      </p:sp>
      <p:sp>
        <p:nvSpPr>
          <p:cNvPr id="16" name="Text 14"/>
          <p:cNvSpPr/>
          <p:nvPr/>
        </p:nvSpPr>
        <p:spPr>
          <a:xfrm>
            <a:off x="6583680" y="4572000"/>
            <a:ext cx="4297680" cy="292608"/>
          </a:xfrm>
          <a:prstGeom prst="rect">
            <a:avLst/>
          </a:prstGeom>
          <a:noFill/>
          <a:ln/>
        </p:spPr>
        <p:txBody>
          <a:bodyPr wrap="square" lIns="0" tIns="0" rIns="0" bIns="0" rtlCol="0" anchor="ctr">
            <a:normAutofit/>
          </a:bodyPr>
          <a:lstStyle/>
          <a:p>
            <a:pPr marL="0" indent="0">
              <a:buNone/>
            </a:pPr>
            <a:r>
              <a:rPr lang="en-US" sz="1160" dirty="0">
                <a:solidFill>
                  <a:srgbClr val="6B7280"/>
                </a:solidFill>
              </a:rPr>
              <a:t>API, indexation, lazy loading, pagination.</a:t>
            </a:r>
            <a:endParaRPr lang="en-US" sz="1160" dirty="0"/>
          </a:p>
        </p:txBody>
      </p:sp>
      <p:sp>
        <p:nvSpPr>
          <p:cNvPr id="17" name="Text 15"/>
          <p:cNvSpPr/>
          <p:nvPr/>
        </p:nvSpPr>
        <p:spPr>
          <a:xfrm>
            <a:off x="822960" y="5833872"/>
            <a:ext cx="3291840" cy="182880"/>
          </a:xfrm>
          <a:prstGeom prst="rect">
            <a:avLst/>
          </a:prstGeom>
          <a:noFill/>
          <a:ln/>
        </p:spPr>
        <p:txBody>
          <a:bodyPr wrap="square" lIns="0" tIns="0" rIns="0" bIns="0" rtlCol="0" anchor="ctr"/>
          <a:lstStyle/>
          <a:p>
            <a:pPr marL="0" indent="0">
              <a:buNone/>
            </a:pPr>
            <a:r>
              <a:rPr lang="en-US" sz="950" dirty="0">
                <a:solidFill>
                  <a:srgbClr val="6B7280"/>
                </a:solidFill>
              </a:rPr>
              <a:t>Annexe — non obligatoire dans les 15 minutes</a:t>
            </a:r>
            <a:endParaRPr lang="en-US" sz="950" dirty="0"/>
          </a:p>
        </p:txBody>
      </p:sp>
      <p:sp>
        <p:nvSpPr>
          <p:cNvPr id="18" name="Shape 16"/>
          <p:cNvSpPr/>
          <p:nvPr/>
        </p:nvSpPr>
        <p:spPr>
          <a:xfrm>
            <a:off x="640080" y="6291072"/>
            <a:ext cx="10881360" cy="0"/>
          </a:xfrm>
          <a:prstGeom prst="line">
            <a:avLst/>
          </a:prstGeom>
          <a:noFill/>
          <a:ln w="12700">
            <a:solidFill>
              <a:srgbClr val="E5E7EB"/>
            </a:solidFill>
            <a:prstDash val="solid"/>
          </a:ln>
        </p:spPr>
      </p:sp>
      <p:sp>
        <p:nvSpPr>
          <p:cNvPr id="19" name="Text 17"/>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20" name="Text 18"/>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85800" y="457200"/>
            <a:ext cx="5212080" cy="228600"/>
          </a:xfrm>
          <a:prstGeom prst="rect">
            <a:avLst/>
          </a:prstGeom>
          <a:noFill/>
          <a:ln/>
        </p:spPr>
        <p:txBody>
          <a:bodyPr wrap="square" lIns="0" tIns="0" rIns="0" bIns="0" rtlCol="0" anchor="ctr"/>
          <a:lstStyle/>
          <a:p>
            <a:pPr marL="0" indent="0">
              <a:buNone/>
            </a:pPr>
            <a:r>
              <a:rPr lang="en-US" sz="950" b="1" dirty="0">
                <a:solidFill>
                  <a:srgbClr val="F97316"/>
                </a:solidFill>
              </a:rPr>
              <a:t>ANNEXE</a:t>
            </a:r>
            <a:endParaRPr lang="en-US" sz="950" dirty="0"/>
          </a:p>
        </p:txBody>
      </p:sp>
      <p:sp>
        <p:nvSpPr>
          <p:cNvPr id="3" name="Text 1"/>
          <p:cNvSpPr/>
          <p:nvPr/>
        </p:nvSpPr>
        <p:spPr>
          <a:xfrm>
            <a:off x="685800" y="786384"/>
            <a:ext cx="5669280" cy="640080"/>
          </a:xfrm>
          <a:prstGeom prst="rect">
            <a:avLst/>
          </a:prstGeom>
          <a:noFill/>
          <a:ln/>
        </p:spPr>
        <p:txBody>
          <a:bodyPr wrap="square" lIns="0" tIns="0" rIns="0" bIns="0" rtlCol="0" anchor="ctr">
            <a:normAutofit/>
          </a:bodyPr>
          <a:lstStyle/>
          <a:p>
            <a:pPr marL="0" indent="0">
              <a:buNone/>
            </a:pPr>
            <a:r>
              <a:rPr lang="en-US" sz="2700" b="1" dirty="0">
                <a:solidFill>
                  <a:srgbClr val="101827"/>
                </a:solidFill>
                <a:latin typeface="Aptos Display" pitchFamily="34" charset="0"/>
                <a:ea typeface="Aptos Display" pitchFamily="34" charset="-122"/>
                <a:cs typeface="Aptos Display" pitchFamily="34" charset="-120"/>
              </a:rPr>
              <a:t>Timing conseillé</a:t>
            </a:r>
            <a:endParaRPr lang="en-US" sz="2700" dirty="0"/>
          </a:p>
        </p:txBody>
      </p:sp>
      <p:sp>
        <p:nvSpPr>
          <p:cNvPr id="4" name="Text 2"/>
          <p:cNvSpPr/>
          <p:nvPr/>
        </p:nvSpPr>
        <p:spPr>
          <a:xfrm>
            <a:off x="685800" y="1481328"/>
            <a:ext cx="5669280" cy="310896"/>
          </a:xfrm>
          <a:prstGeom prst="rect">
            <a:avLst/>
          </a:prstGeom>
          <a:noFill/>
          <a:ln/>
        </p:spPr>
        <p:txBody>
          <a:bodyPr wrap="square" lIns="0" tIns="0" rIns="0" bIns="0" rtlCol="0" anchor="ctr">
            <a:normAutofit/>
          </a:bodyPr>
          <a:lstStyle/>
          <a:p>
            <a:pPr marL="0" indent="0">
              <a:buNone/>
            </a:pPr>
            <a:r>
              <a:rPr lang="en-US" sz="1260" dirty="0">
                <a:solidFill>
                  <a:srgbClr val="6B7280"/>
                </a:solidFill>
              </a:rPr>
              <a:t>Une structure qui respecte la consigne sans dépasser.</a:t>
            </a:r>
            <a:endParaRPr lang="en-US" sz="1260" dirty="0"/>
          </a:p>
        </p:txBody>
      </p:sp>
      <p:sp>
        <p:nvSpPr>
          <p:cNvPr id="5" name="Shape 3"/>
          <p:cNvSpPr/>
          <p:nvPr/>
        </p:nvSpPr>
        <p:spPr>
          <a:xfrm>
            <a:off x="822960" y="1975104"/>
            <a:ext cx="10652760" cy="530352"/>
          </a:xfrm>
          <a:prstGeom prst="roundRect">
            <a:avLst>
              <a:gd name="adj" fmla="val 17241"/>
            </a:avLst>
          </a:prstGeom>
          <a:solidFill>
            <a:srgbClr val="FFFFFF"/>
          </a:solidFill>
          <a:ln w="12700">
            <a:solidFill>
              <a:srgbClr val="E5E7EB"/>
            </a:solidFill>
            <a:prstDash val="solid"/>
          </a:ln>
        </p:spPr>
      </p:sp>
      <p:sp>
        <p:nvSpPr>
          <p:cNvPr id="6" name="Text 4"/>
          <p:cNvSpPr/>
          <p:nvPr/>
        </p:nvSpPr>
        <p:spPr>
          <a:xfrm>
            <a:off x="1143000" y="2139696"/>
            <a:ext cx="1371600" cy="146304"/>
          </a:xfrm>
          <a:prstGeom prst="rect">
            <a:avLst/>
          </a:prstGeom>
          <a:noFill/>
          <a:ln/>
        </p:spPr>
        <p:txBody>
          <a:bodyPr wrap="square" lIns="0" tIns="0" rIns="0" bIns="0" rtlCol="0" anchor="ctr"/>
          <a:lstStyle/>
          <a:p>
            <a:pPr marL="0" indent="0">
              <a:buNone/>
            </a:pPr>
            <a:r>
              <a:rPr lang="en-US" sz="1050" b="1" dirty="0">
                <a:solidFill>
                  <a:srgbClr val="F97316"/>
                </a:solidFill>
              </a:rPr>
              <a:t>0:00 – 0:45</a:t>
            </a:r>
            <a:endParaRPr lang="en-US" sz="1050" dirty="0"/>
          </a:p>
        </p:txBody>
      </p:sp>
      <p:sp>
        <p:nvSpPr>
          <p:cNvPr id="7" name="Text 5"/>
          <p:cNvSpPr/>
          <p:nvPr/>
        </p:nvSpPr>
        <p:spPr>
          <a:xfrm>
            <a:off x="2834640" y="2121408"/>
            <a:ext cx="2743200" cy="182880"/>
          </a:xfrm>
          <a:prstGeom prst="rect">
            <a:avLst/>
          </a:prstGeom>
          <a:noFill/>
          <a:ln/>
        </p:spPr>
        <p:txBody>
          <a:bodyPr wrap="square" lIns="0" tIns="0" rIns="0" bIns="0" rtlCol="0" anchor="ctr"/>
          <a:lstStyle/>
          <a:p>
            <a:pPr marL="0" indent="0">
              <a:buNone/>
            </a:pPr>
            <a:r>
              <a:rPr lang="en-US" sz="1220" b="1" dirty="0">
                <a:solidFill>
                  <a:srgbClr val="101827"/>
                </a:solidFill>
              </a:rPr>
              <a:t>Introduction</a:t>
            </a:r>
            <a:endParaRPr lang="en-US" sz="1220" dirty="0"/>
          </a:p>
        </p:txBody>
      </p:sp>
      <p:sp>
        <p:nvSpPr>
          <p:cNvPr id="8" name="Text 6"/>
          <p:cNvSpPr/>
          <p:nvPr/>
        </p:nvSpPr>
        <p:spPr>
          <a:xfrm>
            <a:off x="5669280" y="2130552"/>
            <a:ext cx="5029200" cy="164592"/>
          </a:xfrm>
          <a:prstGeom prst="rect">
            <a:avLst/>
          </a:prstGeom>
          <a:noFill/>
          <a:ln/>
        </p:spPr>
        <p:txBody>
          <a:bodyPr wrap="square" lIns="0" tIns="0" rIns="0" bIns="0" rtlCol="0" anchor="ctr"/>
          <a:lstStyle/>
          <a:p>
            <a:pPr marL="0" indent="0">
              <a:buNone/>
            </a:pPr>
            <a:r>
              <a:rPr lang="en-US" sz="1050" dirty="0">
                <a:solidFill>
                  <a:srgbClr val="6B7280"/>
                </a:solidFill>
              </a:rPr>
              <a:t>objectif du projet et consigne</a:t>
            </a:r>
            <a:endParaRPr lang="en-US" sz="1050" dirty="0"/>
          </a:p>
        </p:txBody>
      </p:sp>
      <p:sp>
        <p:nvSpPr>
          <p:cNvPr id="9" name="Shape 7"/>
          <p:cNvSpPr/>
          <p:nvPr/>
        </p:nvSpPr>
        <p:spPr>
          <a:xfrm>
            <a:off x="822960" y="2688336"/>
            <a:ext cx="10652760" cy="530352"/>
          </a:xfrm>
          <a:prstGeom prst="roundRect">
            <a:avLst>
              <a:gd name="adj" fmla="val 17241"/>
            </a:avLst>
          </a:prstGeom>
          <a:solidFill>
            <a:srgbClr val="FFF7ED"/>
          </a:solidFill>
          <a:ln w="12700">
            <a:solidFill>
              <a:srgbClr val="FDBA74"/>
            </a:solidFill>
            <a:prstDash val="solid"/>
          </a:ln>
        </p:spPr>
      </p:sp>
      <p:sp>
        <p:nvSpPr>
          <p:cNvPr id="10" name="Text 8"/>
          <p:cNvSpPr/>
          <p:nvPr/>
        </p:nvSpPr>
        <p:spPr>
          <a:xfrm>
            <a:off x="1143000" y="2852928"/>
            <a:ext cx="1371600" cy="146304"/>
          </a:xfrm>
          <a:prstGeom prst="rect">
            <a:avLst/>
          </a:prstGeom>
          <a:noFill/>
          <a:ln/>
        </p:spPr>
        <p:txBody>
          <a:bodyPr wrap="square" lIns="0" tIns="0" rIns="0" bIns="0" rtlCol="0" anchor="ctr"/>
          <a:lstStyle/>
          <a:p>
            <a:pPr marL="0" indent="0">
              <a:buNone/>
            </a:pPr>
            <a:r>
              <a:rPr lang="en-US" sz="1050" b="1" dirty="0">
                <a:solidFill>
                  <a:srgbClr val="F97316"/>
                </a:solidFill>
              </a:rPr>
              <a:t>0:45 – 5:00</a:t>
            </a:r>
            <a:endParaRPr lang="en-US" sz="1050" dirty="0"/>
          </a:p>
        </p:txBody>
      </p:sp>
      <p:sp>
        <p:nvSpPr>
          <p:cNvPr id="11" name="Text 9"/>
          <p:cNvSpPr/>
          <p:nvPr/>
        </p:nvSpPr>
        <p:spPr>
          <a:xfrm>
            <a:off x="2834640" y="2834640"/>
            <a:ext cx="2743200" cy="182880"/>
          </a:xfrm>
          <a:prstGeom prst="rect">
            <a:avLst/>
          </a:prstGeom>
          <a:noFill/>
          <a:ln/>
        </p:spPr>
        <p:txBody>
          <a:bodyPr wrap="square" lIns="0" tIns="0" rIns="0" bIns="0" rtlCol="0" anchor="ctr"/>
          <a:lstStyle/>
          <a:p>
            <a:pPr marL="0" indent="0">
              <a:buNone/>
            </a:pPr>
            <a:r>
              <a:rPr lang="en-US" sz="1220" b="1" dirty="0">
                <a:solidFill>
                  <a:srgbClr val="101827"/>
                </a:solidFill>
              </a:rPr>
              <a:t>Document d’investigation</a:t>
            </a:r>
            <a:endParaRPr lang="en-US" sz="1220" dirty="0"/>
          </a:p>
        </p:txBody>
      </p:sp>
      <p:sp>
        <p:nvSpPr>
          <p:cNvPr id="12" name="Text 10"/>
          <p:cNvSpPr/>
          <p:nvPr/>
        </p:nvSpPr>
        <p:spPr>
          <a:xfrm>
            <a:off x="5669280" y="2843784"/>
            <a:ext cx="5029200" cy="164592"/>
          </a:xfrm>
          <a:prstGeom prst="rect">
            <a:avLst/>
          </a:prstGeom>
          <a:noFill/>
          <a:ln/>
        </p:spPr>
        <p:txBody>
          <a:bodyPr wrap="square" lIns="0" tIns="0" rIns="0" bIns="0" rtlCol="0" anchor="ctr"/>
          <a:lstStyle/>
          <a:p>
            <a:pPr marL="0" indent="0">
              <a:buNone/>
            </a:pPr>
            <a:r>
              <a:rPr lang="en-US" sz="1050" dirty="0">
                <a:solidFill>
                  <a:srgbClr val="6B7280"/>
                </a:solidFill>
              </a:rPr>
              <a:t>problème, workflow, deux algorithmes</a:t>
            </a:r>
            <a:endParaRPr lang="en-US" sz="1050" dirty="0"/>
          </a:p>
        </p:txBody>
      </p:sp>
      <p:sp>
        <p:nvSpPr>
          <p:cNvPr id="13" name="Shape 11"/>
          <p:cNvSpPr/>
          <p:nvPr/>
        </p:nvSpPr>
        <p:spPr>
          <a:xfrm>
            <a:off x="822960" y="3401568"/>
            <a:ext cx="10652760" cy="530352"/>
          </a:xfrm>
          <a:prstGeom prst="roundRect">
            <a:avLst>
              <a:gd name="adj" fmla="val 17241"/>
            </a:avLst>
          </a:prstGeom>
          <a:solidFill>
            <a:srgbClr val="FFFFFF"/>
          </a:solidFill>
          <a:ln w="12700">
            <a:solidFill>
              <a:srgbClr val="E5E7EB"/>
            </a:solidFill>
            <a:prstDash val="solid"/>
          </a:ln>
        </p:spPr>
      </p:sp>
      <p:sp>
        <p:nvSpPr>
          <p:cNvPr id="14" name="Text 12"/>
          <p:cNvSpPr/>
          <p:nvPr/>
        </p:nvSpPr>
        <p:spPr>
          <a:xfrm>
            <a:off x="1143000" y="3566160"/>
            <a:ext cx="1371600" cy="146304"/>
          </a:xfrm>
          <a:prstGeom prst="rect">
            <a:avLst/>
          </a:prstGeom>
          <a:noFill/>
          <a:ln/>
        </p:spPr>
        <p:txBody>
          <a:bodyPr wrap="square" lIns="0" tIns="0" rIns="0" bIns="0" rtlCol="0" anchor="ctr"/>
          <a:lstStyle/>
          <a:p>
            <a:pPr marL="0" indent="0">
              <a:buNone/>
            </a:pPr>
            <a:r>
              <a:rPr lang="en-US" sz="1050" b="1" dirty="0">
                <a:solidFill>
                  <a:srgbClr val="F97316"/>
                </a:solidFill>
              </a:rPr>
              <a:t>5:00 – 8:00</a:t>
            </a:r>
            <a:endParaRPr lang="en-US" sz="1050" dirty="0"/>
          </a:p>
        </p:txBody>
      </p:sp>
      <p:sp>
        <p:nvSpPr>
          <p:cNvPr id="15" name="Text 13"/>
          <p:cNvSpPr/>
          <p:nvPr/>
        </p:nvSpPr>
        <p:spPr>
          <a:xfrm>
            <a:off x="2834640" y="3547872"/>
            <a:ext cx="2743200" cy="182880"/>
          </a:xfrm>
          <a:prstGeom prst="rect">
            <a:avLst/>
          </a:prstGeom>
          <a:noFill/>
          <a:ln/>
        </p:spPr>
        <p:txBody>
          <a:bodyPr wrap="square" lIns="0" tIns="0" rIns="0" bIns="0" rtlCol="0" anchor="ctr"/>
          <a:lstStyle/>
          <a:p>
            <a:pPr marL="0" indent="0">
              <a:buNone/>
            </a:pPr>
            <a:r>
              <a:rPr lang="en-US" sz="1220" b="1" dirty="0">
                <a:solidFill>
                  <a:srgbClr val="101827"/>
                </a:solidFill>
              </a:rPr>
              <a:t>Démo application</a:t>
            </a:r>
            <a:endParaRPr lang="en-US" sz="1220" dirty="0"/>
          </a:p>
        </p:txBody>
      </p:sp>
      <p:sp>
        <p:nvSpPr>
          <p:cNvPr id="16" name="Text 14"/>
          <p:cNvSpPr/>
          <p:nvPr/>
        </p:nvSpPr>
        <p:spPr>
          <a:xfrm>
            <a:off x="5669280" y="3557016"/>
            <a:ext cx="5029200" cy="164592"/>
          </a:xfrm>
          <a:prstGeom prst="rect">
            <a:avLst/>
          </a:prstGeom>
          <a:noFill/>
          <a:ln/>
        </p:spPr>
        <p:txBody>
          <a:bodyPr wrap="square" lIns="0" tIns="0" rIns="0" bIns="0" rtlCol="0" anchor="ctr"/>
          <a:lstStyle/>
          <a:p>
            <a:pPr marL="0" indent="0">
              <a:buNone/>
            </a:pPr>
            <a:r>
              <a:rPr lang="en-US" sz="1050" dirty="0">
                <a:solidFill>
                  <a:srgbClr val="6B7280"/>
                </a:solidFill>
              </a:rPr>
              <a:t>recherche + tags + retrait filtre</a:t>
            </a:r>
            <a:endParaRPr lang="en-US" sz="1050" dirty="0"/>
          </a:p>
        </p:txBody>
      </p:sp>
      <p:sp>
        <p:nvSpPr>
          <p:cNvPr id="17" name="Shape 15"/>
          <p:cNvSpPr/>
          <p:nvPr/>
        </p:nvSpPr>
        <p:spPr>
          <a:xfrm>
            <a:off x="822960" y="4114800"/>
            <a:ext cx="10652760" cy="530352"/>
          </a:xfrm>
          <a:prstGeom prst="roundRect">
            <a:avLst>
              <a:gd name="adj" fmla="val 17241"/>
            </a:avLst>
          </a:prstGeom>
          <a:solidFill>
            <a:srgbClr val="FFFFFF"/>
          </a:solidFill>
          <a:ln w="12700">
            <a:solidFill>
              <a:srgbClr val="E5E7EB"/>
            </a:solidFill>
            <a:prstDash val="solid"/>
          </a:ln>
        </p:spPr>
      </p:sp>
      <p:sp>
        <p:nvSpPr>
          <p:cNvPr id="18" name="Text 16"/>
          <p:cNvSpPr/>
          <p:nvPr/>
        </p:nvSpPr>
        <p:spPr>
          <a:xfrm>
            <a:off x="1143000" y="4279392"/>
            <a:ext cx="1371600" cy="146304"/>
          </a:xfrm>
          <a:prstGeom prst="rect">
            <a:avLst/>
          </a:prstGeom>
          <a:noFill/>
          <a:ln/>
        </p:spPr>
        <p:txBody>
          <a:bodyPr wrap="square" lIns="0" tIns="0" rIns="0" bIns="0" rtlCol="0" anchor="ctr"/>
          <a:lstStyle/>
          <a:p>
            <a:pPr marL="0" indent="0">
              <a:buNone/>
            </a:pPr>
            <a:r>
              <a:rPr lang="en-US" sz="1050" b="1" dirty="0">
                <a:solidFill>
                  <a:srgbClr val="F97316"/>
                </a:solidFill>
              </a:rPr>
              <a:t>8:00 – 12:00</a:t>
            </a:r>
            <a:endParaRPr lang="en-US" sz="1050" dirty="0"/>
          </a:p>
        </p:txBody>
      </p:sp>
      <p:sp>
        <p:nvSpPr>
          <p:cNvPr id="19" name="Text 17"/>
          <p:cNvSpPr/>
          <p:nvPr/>
        </p:nvSpPr>
        <p:spPr>
          <a:xfrm>
            <a:off x="2834640" y="4261104"/>
            <a:ext cx="2743200" cy="182880"/>
          </a:xfrm>
          <a:prstGeom prst="rect">
            <a:avLst/>
          </a:prstGeom>
          <a:noFill/>
          <a:ln/>
        </p:spPr>
        <p:txBody>
          <a:bodyPr wrap="square" lIns="0" tIns="0" rIns="0" bIns="0" rtlCol="0" anchor="ctr"/>
          <a:lstStyle/>
          <a:p>
            <a:pPr marL="0" indent="0">
              <a:buNone/>
            </a:pPr>
            <a:r>
              <a:rPr lang="en-US" sz="1220" b="1" dirty="0">
                <a:solidFill>
                  <a:srgbClr val="101827"/>
                </a:solidFill>
              </a:rPr>
              <a:t>Code + architecture</a:t>
            </a:r>
            <a:endParaRPr lang="en-US" sz="1220" dirty="0"/>
          </a:p>
        </p:txBody>
      </p:sp>
      <p:sp>
        <p:nvSpPr>
          <p:cNvPr id="20" name="Text 18"/>
          <p:cNvSpPr/>
          <p:nvPr/>
        </p:nvSpPr>
        <p:spPr>
          <a:xfrm>
            <a:off x="5669280" y="4270248"/>
            <a:ext cx="5029200" cy="164592"/>
          </a:xfrm>
          <a:prstGeom prst="rect">
            <a:avLst/>
          </a:prstGeom>
          <a:noFill/>
          <a:ln/>
        </p:spPr>
        <p:txBody>
          <a:bodyPr wrap="square" lIns="0" tIns="0" rIns="0" bIns="0" rtlCol="0" anchor="ctr"/>
          <a:lstStyle/>
          <a:p>
            <a:pPr marL="0" indent="0">
              <a:buNone/>
            </a:pPr>
            <a:r>
              <a:rPr lang="en-US" sz="1050" dirty="0">
                <a:solidFill>
                  <a:srgbClr val="6B7280"/>
                </a:solidFill>
              </a:rPr>
              <a:t>mainSearch, responsabilités, synchronisation</a:t>
            </a:r>
            <a:endParaRPr lang="en-US" sz="1050" dirty="0"/>
          </a:p>
        </p:txBody>
      </p:sp>
      <p:sp>
        <p:nvSpPr>
          <p:cNvPr id="21" name="Shape 19"/>
          <p:cNvSpPr/>
          <p:nvPr/>
        </p:nvSpPr>
        <p:spPr>
          <a:xfrm>
            <a:off x="822960" y="4828032"/>
            <a:ext cx="10652760" cy="530352"/>
          </a:xfrm>
          <a:prstGeom prst="roundRect">
            <a:avLst>
              <a:gd name="adj" fmla="val 17241"/>
            </a:avLst>
          </a:prstGeom>
          <a:solidFill>
            <a:srgbClr val="FFFFFF"/>
          </a:solidFill>
          <a:ln w="12700">
            <a:solidFill>
              <a:srgbClr val="E5E7EB"/>
            </a:solidFill>
            <a:prstDash val="solid"/>
          </a:ln>
        </p:spPr>
      </p:sp>
      <p:sp>
        <p:nvSpPr>
          <p:cNvPr id="22" name="Text 20"/>
          <p:cNvSpPr/>
          <p:nvPr/>
        </p:nvSpPr>
        <p:spPr>
          <a:xfrm>
            <a:off x="1143000" y="4992624"/>
            <a:ext cx="1371600" cy="146304"/>
          </a:xfrm>
          <a:prstGeom prst="rect">
            <a:avLst/>
          </a:prstGeom>
          <a:noFill/>
          <a:ln/>
        </p:spPr>
        <p:txBody>
          <a:bodyPr wrap="square" lIns="0" tIns="0" rIns="0" bIns="0" rtlCol="0" anchor="ctr"/>
          <a:lstStyle/>
          <a:p>
            <a:pPr marL="0" indent="0">
              <a:buNone/>
            </a:pPr>
            <a:r>
              <a:rPr lang="en-US" sz="1050" b="1" dirty="0">
                <a:solidFill>
                  <a:srgbClr val="F97316"/>
                </a:solidFill>
              </a:rPr>
              <a:t>12:00 – 15:00</a:t>
            </a:r>
            <a:endParaRPr lang="en-US" sz="1050" dirty="0"/>
          </a:p>
        </p:txBody>
      </p:sp>
      <p:sp>
        <p:nvSpPr>
          <p:cNvPr id="23" name="Text 21"/>
          <p:cNvSpPr/>
          <p:nvPr/>
        </p:nvSpPr>
        <p:spPr>
          <a:xfrm>
            <a:off x="2834640" y="4974336"/>
            <a:ext cx="2743200" cy="182880"/>
          </a:xfrm>
          <a:prstGeom prst="rect">
            <a:avLst/>
          </a:prstGeom>
          <a:noFill/>
          <a:ln/>
        </p:spPr>
        <p:txBody>
          <a:bodyPr wrap="square" lIns="0" tIns="0" rIns="0" bIns="0" rtlCol="0" anchor="ctr"/>
          <a:lstStyle/>
          <a:p>
            <a:pPr marL="0" indent="0">
              <a:buNone/>
            </a:pPr>
            <a:r>
              <a:rPr lang="en-US" sz="1220" b="1" dirty="0">
                <a:solidFill>
                  <a:srgbClr val="101827"/>
                </a:solidFill>
              </a:rPr>
              <a:t>Benchmark + conclusion</a:t>
            </a:r>
            <a:endParaRPr lang="en-US" sz="1220" dirty="0"/>
          </a:p>
        </p:txBody>
      </p:sp>
      <p:sp>
        <p:nvSpPr>
          <p:cNvPr id="24" name="Text 22"/>
          <p:cNvSpPr/>
          <p:nvPr/>
        </p:nvSpPr>
        <p:spPr>
          <a:xfrm>
            <a:off x="5669280" y="4983480"/>
            <a:ext cx="5029200" cy="164592"/>
          </a:xfrm>
          <a:prstGeom prst="rect">
            <a:avLst/>
          </a:prstGeom>
          <a:noFill/>
          <a:ln/>
        </p:spPr>
        <p:txBody>
          <a:bodyPr wrap="square" lIns="0" tIns="0" rIns="0" bIns="0" rtlCol="0" anchor="ctr"/>
          <a:lstStyle/>
          <a:p>
            <a:pPr marL="0" indent="0">
              <a:buNone/>
            </a:pPr>
            <a:r>
              <a:rPr lang="en-US" sz="1050" dirty="0">
                <a:solidFill>
                  <a:srgbClr val="6B7280"/>
                </a:solidFill>
              </a:rPr>
              <a:t>chiffres, choix retenu, bilan</a:t>
            </a:r>
            <a:endParaRPr lang="en-US" sz="1050" dirty="0"/>
          </a:p>
        </p:txBody>
      </p:sp>
      <p:sp>
        <p:nvSpPr>
          <p:cNvPr id="25" name="Text 23"/>
          <p:cNvSpPr/>
          <p:nvPr/>
        </p:nvSpPr>
        <p:spPr>
          <a:xfrm>
            <a:off x="2468880" y="5742432"/>
            <a:ext cx="7132320" cy="219456"/>
          </a:xfrm>
          <a:prstGeom prst="rect">
            <a:avLst/>
          </a:prstGeom>
          <a:noFill/>
          <a:ln/>
        </p:spPr>
        <p:txBody>
          <a:bodyPr wrap="square" lIns="0" tIns="0" rIns="0" bIns="0" rtlCol="0" anchor="ctr"/>
          <a:lstStyle/>
          <a:p>
            <a:pPr marL="0" indent="0" algn="ctr">
              <a:buNone/>
            </a:pPr>
            <a:r>
              <a:rPr lang="en-US" sz="1220" b="1" dirty="0">
                <a:solidFill>
                  <a:srgbClr val="101827"/>
                </a:solidFill>
              </a:rPr>
              <a:t>Conseil : viser 13–14 minutes pour garder une marge de questions.</a:t>
            </a:r>
            <a:endParaRPr lang="en-US" sz="1220" dirty="0"/>
          </a:p>
        </p:txBody>
      </p:sp>
      <p:sp>
        <p:nvSpPr>
          <p:cNvPr id="26" name="Shape 24"/>
          <p:cNvSpPr/>
          <p:nvPr/>
        </p:nvSpPr>
        <p:spPr>
          <a:xfrm>
            <a:off x="640080" y="6291072"/>
            <a:ext cx="10881360" cy="0"/>
          </a:xfrm>
          <a:prstGeom prst="line">
            <a:avLst/>
          </a:prstGeom>
          <a:noFill/>
          <a:ln w="12700">
            <a:solidFill>
              <a:srgbClr val="E5E7EB"/>
            </a:solidFill>
            <a:prstDash val="solid"/>
          </a:ln>
        </p:spPr>
      </p:sp>
      <p:sp>
        <p:nvSpPr>
          <p:cNvPr id="27" name="Text 25"/>
          <p:cNvSpPr/>
          <p:nvPr/>
        </p:nvSpPr>
        <p:spPr>
          <a:xfrm>
            <a:off x="640080" y="6419088"/>
            <a:ext cx="6858000" cy="182880"/>
          </a:xfrm>
          <a:prstGeom prst="rect">
            <a:avLst/>
          </a:prstGeom>
          <a:noFill/>
          <a:ln/>
        </p:spPr>
        <p:txBody>
          <a:bodyPr wrap="square" lIns="0" tIns="0" rIns="0" bIns="0" rtlCol="0" anchor="ctr"/>
          <a:lstStyle/>
          <a:p>
            <a:pPr marL="0" indent="0">
              <a:buNone/>
            </a:pPr>
            <a:r>
              <a:rPr lang="en-US" sz="850" dirty="0">
                <a:solidFill>
                  <a:srgbClr val="6B7280"/>
                </a:solidFill>
                <a:latin typeface="Aptos" pitchFamily="34" charset="0"/>
                <a:ea typeface="Aptos" pitchFamily="34" charset="-122"/>
                <a:cs typeface="Aptos" pitchFamily="34" charset="-120"/>
              </a:rPr>
              <a:t>OpenClassrooms • Projet 7 • Les Petits Plats</a:t>
            </a:r>
            <a:endParaRPr lang="en-US" sz="850" dirty="0"/>
          </a:p>
        </p:txBody>
      </p:sp>
      <p:sp>
        <p:nvSpPr>
          <p:cNvPr id="28" name="Text 26"/>
          <p:cNvSpPr/>
          <p:nvPr/>
        </p:nvSpPr>
        <p:spPr>
          <a:xfrm>
            <a:off x="11064240" y="6382512"/>
            <a:ext cx="502920" cy="274320"/>
          </a:xfrm>
          <a:prstGeom prst="rect">
            <a:avLst/>
          </a:prstGeom>
          <a:noFill/>
          <a:ln/>
        </p:spPr>
        <p:txBody>
          <a:bodyPr wrap="square" lIns="0" tIns="0" rIns="0" bIns="0" rtlCol="0" anchor="ctr"/>
          <a:lstStyle/>
          <a:p>
            <a:pPr marL="0" indent="0" algn="r">
              <a:buNone/>
            </a:pPr>
            <a:r>
              <a:rPr lang="en-US" sz="1000" b="1" dirty="0">
                <a:solidFill>
                  <a:srgbClr val="101827"/>
                </a:solidFill>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1841</Words>
  <Application>Microsoft Office PowerPoint</Application>
  <PresentationFormat>Grand écran</PresentationFormat>
  <Paragraphs>290</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Aptos</vt:lpstr>
      <vt:lpstr>Aptos Display</vt:lpstr>
      <vt:lpstr>Aptos Mono</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OpenClassrooms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OC - Les Petits Plats - Fusion</dc:title>
  <dc:subject>Projet 7 Les Petits Plats - Soutenance 15 minutes</dc:subject>
  <dc:creator>OpenAI</dc:creator>
  <cp:lastModifiedBy>kevin ocap</cp:lastModifiedBy>
  <cp:revision>3</cp:revision>
  <dcterms:created xsi:type="dcterms:W3CDTF">2026-06-16T01:47:37Z</dcterms:created>
  <dcterms:modified xsi:type="dcterms:W3CDTF">2026-06-16T23:27:27Z</dcterms:modified>
</cp:coreProperties>
</file>